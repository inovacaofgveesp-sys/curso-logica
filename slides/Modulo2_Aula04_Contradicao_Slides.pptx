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8.175" v="11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7.971" v="2" actId="947"/>
        <pc:sldMkLst>
          <pc:docMk/>
          <pc:sldMk cId="842415918" sldId="256"/>
        </pc:sldMkLst>
      </pc:sldChg>
      <pc:sldChg chg="modNotes">
        <pc:chgData name="Gabriela do Couto Fonseca" userId="f73f3f1e-5e1c-47a9-aa2d-ab4ab106ce0b" providerId="ADAL" clId="{36832870-9FEF-437A-81DC-AEE05E3FC80B}" dt="2026-09-23T16:28:38.060" v="5" actId="947"/>
        <pc:sldMkLst>
          <pc:docMk/>
          <pc:sldMk cId="2916503224" sldId="257"/>
        </pc:sldMkLst>
      </pc:sldChg>
      <pc:sldChg chg="modNotes">
        <pc:chgData name="Gabriela do Couto Fonseca" userId="f73f3f1e-5e1c-47a9-aa2d-ab4ab106ce0b" providerId="ADAL" clId="{36832870-9FEF-437A-81DC-AEE05E3FC80B}" dt="2026-09-23T16:28:38.128" v="8" actId="947"/>
        <pc:sldMkLst>
          <pc:docMk/>
          <pc:sldMk cId="1056643947" sldId="258"/>
        </pc:sldMkLst>
      </pc:sldChg>
      <pc:sldChg chg="modNotes">
        <pc:chgData name="Gabriela do Couto Fonseca" userId="f73f3f1e-5e1c-47a9-aa2d-ab4ab106ce0b" providerId="ADAL" clId="{36832870-9FEF-437A-81DC-AEE05E3FC80B}" dt="2026-09-23T16:28:38.175" v="11" actId="947"/>
        <pc:sldMkLst>
          <pc:docMk/>
          <pc:sldMk cId="2328533081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57214-65B4-4797-B93F-9CACECA77D9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4F15D-E518-4043-9C45-C8144249CC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83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Esta é a técnica mais poderosa das quatro, e a mais diferente. Nas outras três você constrói um caminho até a conclusão. Aqui você faz o contrário: supõe que a conclusão é falsa e sai procurando um desastre. Se encontrar, ganhou.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4F15D-E518-4043-9C45-C8144249CC3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029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 mecanismo é o seguinte. Para provar que P implica Q, você assume as duas coisas ao mesmo tempo: que P vale e que Q não vale. E então trabalha até produzir uma contradição — uma afirmação que é simultaneamente verdadeira e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Como uma contradição é impossível num sistema lógico consistente, alguma coisa na sua suposição estava errada. E como P era dado, o culpado só pode ser o não Q. Logo Q é verdadeiro.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que torna essa técnica especial é uma vantagem que as outras três não têm: ela funciona para proposições que não são implicações.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Pensa em raiz de dois é irracional. Onde está o P? Onde está o Q? Não há. É uma afirmação isolada. Prova direta não tem por onde começar, contraposição não tem o que contrapor, indução não se aplica porque não há naturais para percorrer. Já a contradição funciona: assume que raiz de dois é racional e vai atrás do absurdo.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tem um bônus grande aqui, que às vezes passa despercebido. Na prova direta você só tem a hipótese P para trabalhar. Na contradição você tem P e mais não Q. Duas informações em vez de uma. Quando a conclusão negada é algo concreto e manipulável, isso faz muita diferença.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preço é que você não sabe de antemão onde a contradição vai aparecer. Não existe alvo. Você trabalha até bater em alguma coisa impossível — e essa falta de direção é o que torna a técnica difícil de usar quando não há necessidade.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4F15D-E518-4043-9C45-C8144249CC3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208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Esta é a demonstração mais famosa da matemática, e vale conhecer pelo desenho do argumento, não só pelo resultado.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gente quer provar que raiz de dois é irracional. Então supõe o contrário: que ela é racional. Se é racional, pode ser escrita como p sobre q, com p e q inteiros, e a gente pode exigir que a fração já esteja irredutível — que o máximo divisor comum entre p e q seja um. Guarda essa exigência, é ela que vai explodir no final.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Eleva os dois lados ao quadrado: dois é igual a p ao quadrado sobre q ao quadrado. Multiplica cruzado: p ao quadrado é igual a dois q ao quadrado. Então p ao quadrado é par.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aqui tem um passo que merece atenção, porque ele parece automático e não é. De p ao quadrado ser par, a gente conclui que p é par. Por que isso vale? Porque é exatamente a contrapositiva daquele resultado da Aula 05 do Módulo 1: se p fosse ímpar, p ao quadrado seria ímpar. Como p ao quadrado é par, p não pode ser ímpar. Uma prova usando outra prova — é assim que a matemática se acumula.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Segue. Se p é par, escreve p igual a dois k. Substitui: quatro k ao quadrado igual a dois q ao quadrado, ou seja, q ao quadrado igual a dois k ao quadrado. Então q ao quadrado é par, e pelo mesmo argumento q é par.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agora olha o que aconteceu. p é par e q é par. Os dois são divisíveis por dois. Mas a gente tinha começado exigindo que a fração fosse irredutível, que não houvesse fator comum. Contradição.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suposição inicial era a única coisa que a gente escolheu. Logo ela é falsa, e raiz de dois é irracional.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4F15D-E518-4043-9C45-C8144249CC3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110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As duas técnicas se parecem o bastante para confundir, então vale separar com cuidado.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contraposição parte só de não Q e tem um alvo definido: chegar em não P. Ela não usa a hipótese P em momento nenhum.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contradição parte de P e não Q ao mesmo tempo, e não tem alvo. Serve qualquer impossibilidade, envolvendo qualquer coisa — inclusive afirmações que não têm nada a ver com P nem com Q.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diferença de alcance também importa. A contraposição só serve para enunciados na forma se P, então Q. A contradição serve também para proposições isoladas, como a raiz de dois.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agora a regra prática mais útil deste módulo inteiro. Se você fez uma prova por contradição e, relendo, percebe que nunca usou a hipótese P — que todo o argumento saiu de não Q —, então você não fez uma prova por contradição. Você fez uma contraposição, só que embrulhada numa camada extra que não serviu para nada.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Nesse caso, reescreva como contraposição. A prova fica mais curta, mais fácil de conferir, e mais honesta sobre o que realmente aconteceu.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uma observação de gosto que você vai ouvir de professores de matemática. Há um certo exagero no uso da contradição. Ela é sedutora porque dá duas hipóteses de graça e parece que sempre vai funcionar. Mas uma prova direta, quando existe, diz mais: ela mostra por que a coisa é verdadeira, e não apenas que negá-la dá problema. Se as duas estiverem disponíveis, prefira a direta.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4F15D-E518-4043-9C45-C8144249CC3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743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DA5B2-9385-9617-6B5E-4EB8F7D39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399C0-FC3E-E873-172B-6D0CEE326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EC9C7-18DF-6956-D486-39E93053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A055F-31C3-4ED3-CC46-A7E1B45A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202EEA-E1BF-AAD2-E57C-C974E26B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27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53FB5-E691-2D91-C589-D89A986E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A2143D-E848-0665-4876-9E4860F2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34FCB5-A4DE-CCD8-CDD3-5E4E7DA1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0AC88-4074-B626-E5F8-B90C811E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5127C-6EC5-0D7C-6B57-1CA08080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88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E4172-431C-D8AF-E13B-63321B23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302BB0-64F7-DEA8-FB36-9E0F4F62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C0163C-2027-E06E-17D8-63B07210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207236-8C36-00B9-7437-18E597435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A11146-0D3C-11A3-D8D2-EBB5E5CE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1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4F36A-6412-EA5F-BC6A-0E4AB330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80DD0C-6F48-DA79-5722-384E403AA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3C95AC-EA83-0D2C-6EEB-EA1A2957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9216BD-BE11-3FEF-1F0C-05173B9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59A408-A63B-4CE7-EDD5-72048D3E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085127-2571-E604-A67D-E96070C7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82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12FDF-F3CF-B325-06A9-FC603504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A6DC38-3468-F5C6-ED55-79B4DB58A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1924FB-9DD3-BA0F-90C0-4D4D2598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403432-83E8-62AD-011F-0E78E56DE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6F074F-16B6-A026-97C5-D4367BCB9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B819CB3-9188-0D17-962E-072F0C2D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C3465C-CB62-F1C9-2BB5-6F223E9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7D17B1E-9876-9016-1E40-20C9E424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28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F12E4-2374-22EB-0EB0-624833E7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9DC355-B86E-3098-72C0-65EB5153C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65CB255-4023-9538-94D9-F0BCE57F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1FA879-E462-C891-B162-D91B7B9C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49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A5BA26-AA0E-3CC7-2BF4-B604E9A7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1ED7D6-F707-C125-6BF6-B2850439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214337-FC1D-1E04-39C7-9E4BB87E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69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2E696-3DB5-36A4-DBCF-8E1E24D2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2E61B-FD68-D89D-F93A-327C31594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C03A9F-1C4F-CB55-5408-1C8EE6487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D8CD9D-3434-C785-5723-E517CCBC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59F8B7-1701-DAFE-B049-9F029A79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12A9E6-592F-1AAE-7C22-06AB7988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D8706-DCDD-4184-1366-65C0FC85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BBEA41-A9BE-8488-0EEB-B364A86D0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9D7A1D-4A6D-ED22-0657-243418E74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2567A4-8803-D61C-8075-7C14B32CC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8EFC6E-053F-3144-7075-94DB657B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000196-02B4-DAD7-0478-E74F2485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18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3294B-F6B3-CE45-CE08-14D65DF1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74E6B5-8917-FC47-92EB-268AC3132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494E16-9756-DE30-A831-786F9E7D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54BDDD-DA52-09DD-8BA4-D61E8D4F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DCC064-1E20-02D6-99DB-F8EC3532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42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9E1263-0AAF-9DAD-D1C4-7988902DC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95A1F0-F37B-CBD5-EB25-62AD8A960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76960-F2EA-AD31-5386-90343A78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3AB63-7AC1-716D-7F37-1FF0D7E8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844300-0AB3-AF1A-D9F5-ED49B6DC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8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110C5CF-9B6B-1B33-6C9F-D2336B5D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63758E-5263-0146-B9E7-7BA8F6E82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764A5-17F5-A9C3-E132-9A1F8CF04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351CD-7700-4A35-AD95-6AAA17EC262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A350F-4C56-D952-4DF0-9C929B215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A63F2F-9328-EA73-119B-EB7AB6E76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03AB1-8254-4A3E-9F81-63BC419CB4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8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CF8528-A4EB-1699-3D10-CE46860C05B5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5A44DC-21EA-7E0C-2FC3-71B284395F78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Prova por contradição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9BD4AD-9C3F-A3BB-F785-CFEAE7952C1D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176CFF-F4BC-D166-7272-6DFE207C63BA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Assumir o oposto e chegar ao impossível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9567229-3DFE-3905-7700-A8A9E8CEF35E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667A57-65A6-8494-65D5-B3FE0D30419F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FEBD50-33C3-0801-85E6-FC984D53679F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41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E6E277C-6381-8ED1-DCB7-0AB13251F487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PROVA POR CONTRADIÇÃO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784EB5-5801-8514-242B-86D746115342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Estrutura da prova por contradição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328BAB3-BF5D-DDD2-E2D4-A8287413A043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C4C07B3-89AF-E97D-27D5-A0DAC274893A}"/>
              </a:ext>
            </a:extLst>
          </p:cNvPr>
          <p:cNvSpPr/>
          <p:nvPr/>
        </p:nvSpPr>
        <p:spPr>
          <a:xfrm>
            <a:off x="812800" y="2616775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869ACD-A3F5-B428-D2B9-FF87A7B2F334}"/>
              </a:ext>
            </a:extLst>
          </p:cNvPr>
          <p:cNvSpPr txBox="1"/>
          <p:nvPr/>
        </p:nvSpPr>
        <p:spPr>
          <a:xfrm>
            <a:off x="990600" y="2794575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COMO FUNCIONA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C0375B-D551-6279-A570-3AEBFEB2EAD9}"/>
              </a:ext>
            </a:extLst>
          </p:cNvPr>
          <p:cNvSpPr txBox="1"/>
          <p:nvPr/>
        </p:nvSpPr>
        <p:spPr>
          <a:xfrm>
            <a:off x="990600" y="3029669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provar P → Q: assuma P ∧ ¬Q. Derive uma contradição — uma afirmação da forma A ∧ ¬A. Conclua que ¬Q era falso e, portanto, que Q vale.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34CAC1-B3DC-6B8D-28E5-0CB6D1190E34}"/>
              </a:ext>
            </a:extLst>
          </p:cNvPr>
          <p:cNvSpPr txBox="1"/>
          <p:nvPr/>
        </p:nvSpPr>
        <p:spPr>
          <a:xfrm>
            <a:off x="812800" y="3953912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PARA P → Q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1DC3AE1-A8E6-8549-BD0E-4CE24604AB31}"/>
              </a:ext>
            </a:extLst>
          </p:cNvPr>
          <p:cNvCxnSpPr/>
          <p:nvPr/>
        </p:nvCxnSpPr>
        <p:spPr>
          <a:xfrm>
            <a:off x="812800" y="4176306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AA7DC7-594D-C88E-A6B7-54043790318B}"/>
              </a:ext>
            </a:extLst>
          </p:cNvPr>
          <p:cNvSpPr txBox="1"/>
          <p:nvPr/>
        </p:nvSpPr>
        <p:spPr>
          <a:xfrm>
            <a:off x="812800" y="42906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Assume-se P ∧ ¬Q.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6518C4-26DC-10BF-CEDA-47129BFC86D4}"/>
              </a:ext>
            </a:extLst>
          </p:cNvPr>
          <p:cNvSpPr txBox="1"/>
          <p:nvPr/>
        </p:nvSpPr>
        <p:spPr>
          <a:xfrm>
            <a:off x="812800" y="459584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Deriva-se uma contradição.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F17622-6DEC-66A9-00BE-8866B07AA42B}"/>
              </a:ext>
            </a:extLst>
          </p:cNvPr>
          <p:cNvSpPr txBox="1"/>
          <p:nvPr/>
        </p:nvSpPr>
        <p:spPr>
          <a:xfrm>
            <a:off x="812800" y="4901080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Conclui-se Q.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313327-463E-F085-DD08-556AEAC0AA17}"/>
              </a:ext>
            </a:extLst>
          </p:cNvPr>
          <p:cNvSpPr txBox="1"/>
          <p:nvPr/>
        </p:nvSpPr>
        <p:spPr>
          <a:xfrm>
            <a:off x="4279900" y="3953912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PARA UMA PROPOSIÇÃO P ISOLADA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FEDC1EF-9C25-CE9F-512F-5986E945239C}"/>
              </a:ext>
            </a:extLst>
          </p:cNvPr>
          <p:cNvCxnSpPr/>
          <p:nvPr/>
        </p:nvCxnSpPr>
        <p:spPr>
          <a:xfrm>
            <a:off x="4279900" y="4176306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58234C6-584C-CAA7-7E11-65C528063FF3}"/>
              </a:ext>
            </a:extLst>
          </p:cNvPr>
          <p:cNvSpPr txBox="1"/>
          <p:nvPr/>
        </p:nvSpPr>
        <p:spPr>
          <a:xfrm>
            <a:off x="4279900" y="42906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Assume-se ¬P.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587048-8574-4C27-78C8-F2CFD27058C2}"/>
              </a:ext>
            </a:extLst>
          </p:cNvPr>
          <p:cNvSpPr txBox="1"/>
          <p:nvPr/>
        </p:nvSpPr>
        <p:spPr>
          <a:xfrm>
            <a:off x="4279900" y="459584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Deriva-se uma contradição.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DBBC920-8699-35BF-7B4B-F8481BA33A6A}"/>
              </a:ext>
            </a:extLst>
          </p:cNvPr>
          <p:cNvSpPr txBox="1"/>
          <p:nvPr/>
        </p:nvSpPr>
        <p:spPr>
          <a:xfrm>
            <a:off x="4279900" y="4901080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Conclui-se P.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4575EEC6-8F0C-6CB7-2DD5-9FF108969DF4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1E89003-F929-C7DF-20E4-3F9184FC1803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VANTAGEM EXCLUSIVA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1102703-B734-7ABD-EAA5-5E3EC4708452}"/>
              </a:ext>
            </a:extLst>
          </p:cNvPr>
          <p:cNvSpPr txBox="1"/>
          <p:nvPr/>
        </p:nvSpPr>
        <p:spPr>
          <a:xfrm>
            <a:off x="7975600" y="2978869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É a única das quatro que serve para proposições sem forma condicional — como “√2 é irracional” ou “existem infinitos primos”, onde não há um P → Q para atacar.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14E13333-B959-B720-DC03-30B3D802F1DB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6CCDF06-44CC-748B-DDF8-A67996CCF02F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3D5BCE-CAE8-B2DA-7B54-22FEEF52BA90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2916503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9DA36-45D2-563C-99A4-F5184CF35CE4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PROVA POR CONTRADIÇÃO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62E4BE-FEA6-7922-5899-D7851DC07516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Exemplo — √2 é irracional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FFEC0F2-C1AE-E4DC-303C-0BC1611A2AF3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B65C1C1-8C46-A2CE-B809-AED2533D3EC7}"/>
              </a:ext>
            </a:extLst>
          </p:cNvPr>
          <p:cNvSpPr/>
          <p:nvPr/>
        </p:nvSpPr>
        <p:spPr>
          <a:xfrm>
            <a:off x="812800" y="2254231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57840D-09E4-CDF0-DE7C-5D3E626CACA9}"/>
              </a:ext>
            </a:extLst>
          </p:cNvPr>
          <p:cNvSpPr txBox="1"/>
          <p:nvPr/>
        </p:nvSpPr>
        <p:spPr>
          <a:xfrm>
            <a:off x="990600" y="2432031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TEOREMA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C9BEE4-C870-7880-0830-3F89B3D57E4E}"/>
              </a:ext>
            </a:extLst>
          </p:cNvPr>
          <p:cNvSpPr txBox="1"/>
          <p:nvPr/>
        </p:nvSpPr>
        <p:spPr>
          <a:xfrm>
            <a:off x="990600" y="2667124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√2 é irracional: não pode ser escrito como p/q com p, q ∈ ℤ e máximo divisor comum de p e q igual a 1.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DD2FE2B-57BA-6A8E-7982-DC18CA98C637}"/>
              </a:ext>
            </a:extLst>
          </p:cNvPr>
          <p:cNvSpPr/>
          <p:nvPr/>
        </p:nvSpPr>
        <p:spPr>
          <a:xfrm>
            <a:off x="812800" y="3591368"/>
            <a:ext cx="6604000" cy="200357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6CC307-0FFB-18F7-2349-A60EE8770461}"/>
              </a:ext>
            </a:extLst>
          </p:cNvPr>
          <p:cNvSpPr txBox="1"/>
          <p:nvPr/>
        </p:nvSpPr>
        <p:spPr>
          <a:xfrm>
            <a:off x="977900" y="3756468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PROVA (POR CONTRADIÇÃO)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1111CB5-FB2F-AFEF-BC83-DF826337AF5A}"/>
              </a:ext>
            </a:extLst>
          </p:cNvPr>
          <p:cNvSpPr txBox="1"/>
          <p:nvPr/>
        </p:nvSpPr>
        <p:spPr>
          <a:xfrm>
            <a:off x="977900" y="4004261"/>
            <a:ext cx="6273800" cy="1425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Suponha √2 = p/q, com mdc(p, q) = 1.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Então 2 = p²/q², logo p² = 2q².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Isso significa que p² é par, portanto p é par.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Escreva p = 2k.  Então 4k² = 2q², ou seja, q² = 2k².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Logo q² é par, portanto q é par.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Mas então 2 divide p e 2 divide q — contradição com mdc(p, q) = 1.  ∎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8585DCC-815B-7E38-A166-5D2707D807A0}"/>
              </a:ext>
            </a:extLst>
          </p:cNvPr>
          <p:cNvCxnSpPr/>
          <p:nvPr/>
        </p:nvCxnSpPr>
        <p:spPr>
          <a:xfrm>
            <a:off x="7975600" y="2254231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CE1A454-C53C-66BA-F9EE-D7C066E85C19}"/>
              </a:ext>
            </a:extLst>
          </p:cNvPr>
          <p:cNvSpPr txBox="1"/>
          <p:nvPr/>
        </p:nvSpPr>
        <p:spPr>
          <a:xfrm>
            <a:off x="7975600" y="2381231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ONDE A AULA 02 ENTRA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306DA3-1BA0-1C00-D3B0-7EE99BC0689A}"/>
              </a:ext>
            </a:extLst>
          </p:cNvPr>
          <p:cNvSpPr txBox="1"/>
          <p:nvPr/>
        </p:nvSpPr>
        <p:spPr>
          <a:xfrm>
            <a:off x="7975600" y="2616324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O passo “p² é par, portanto p é par” não é óbvio: ele é a contrapositiva de “se p é ímpar, então p² é ímpar”, que provamos no Módulo 1.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791834F-CC59-4736-356D-99E406A2CBBD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DA15D3D-921E-5F2D-2DAC-85BD71BEEEE1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748F08-87B9-047A-154C-ECEF5EDA0E75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05664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6CCC32-5AD1-867D-75B0-5261415D2F29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PROVA POR CONTRADIÇÃO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43FE4B-58D7-BABD-5682-70AE591F24D7}"/>
              </a:ext>
            </a:extLst>
          </p:cNvPr>
          <p:cNvSpPr txBox="1"/>
          <p:nvPr/>
        </p:nvSpPr>
        <p:spPr>
          <a:xfrm>
            <a:off x="812800" y="776188"/>
            <a:ext cx="9144000" cy="8915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Contradição ou contraposição — quando usar cada uma?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E8D1D1-0C7C-AC08-CDC5-250979DB60CC}"/>
              </a:ext>
            </a:extLst>
          </p:cNvPr>
          <p:cNvSpPr/>
          <p:nvPr/>
        </p:nvSpPr>
        <p:spPr>
          <a:xfrm>
            <a:off x="812800" y="1832814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5DF87C6-3325-B60A-CDC3-F3D633C72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808647"/>
              </p:ext>
            </p:extLst>
          </p:nvPr>
        </p:nvGraphicFramePr>
        <p:xfrm>
          <a:off x="812800" y="3077414"/>
          <a:ext cx="6604000" cy="177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83373">
                  <a:extLst>
                    <a:ext uri="{9D8B030D-6E8A-4147-A177-3AD203B41FA5}">
                      <a16:colId xmlns:a16="http://schemas.microsoft.com/office/drawing/2014/main" val="1749164871"/>
                    </a:ext>
                  </a:extLst>
                </a:gridCol>
                <a:gridCol w="2330824">
                  <a:extLst>
                    <a:ext uri="{9D8B030D-6E8A-4147-A177-3AD203B41FA5}">
                      <a16:colId xmlns:a16="http://schemas.microsoft.com/office/drawing/2014/main" val="3034366604"/>
                    </a:ext>
                  </a:extLst>
                </a:gridCol>
                <a:gridCol w="2589804">
                  <a:extLst>
                    <a:ext uri="{9D8B030D-6E8A-4147-A177-3AD203B41FA5}">
                      <a16:colId xmlns:a16="http://schemas.microsoft.com/office/drawing/2014/main" val="77959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/>
                      <a:endParaRPr lang="pt-BR" sz="900" b="1" spc="180">
                        <a:solidFill>
                          <a:srgbClr val="17365E"/>
                        </a:solidFill>
                        <a:latin typeface="Lora" pitchFamily="2" charset="0"/>
                      </a:endParaRP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CONTRAPOSIÇÃO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CONTRADIÇÃO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3617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Ponto de partida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Assume ¬Q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Assume P ∧ ¬Q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1973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Objetivo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Chegar a ¬P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Chegar a A ∧ ¬A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4210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Tipo de enunciado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→ 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→ Q ou proposição isolada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3769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Usa a hipótese P?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Não — apenas ¬Q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Sim — P e ¬Q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5276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Quando usar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Q é difícil de alcançar diretamente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Não há caminho direto nem por contraposição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05856"/>
                  </a:ext>
                </a:extLst>
              </a:tr>
            </a:tbl>
          </a:graphicData>
        </a:graphic>
      </p:graphicFrame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1153742-F382-C7F8-CFF9-C5227256F0C7}"/>
              </a:ext>
            </a:extLst>
          </p:cNvPr>
          <p:cNvCxnSpPr/>
          <p:nvPr/>
        </p:nvCxnSpPr>
        <p:spPr>
          <a:xfrm>
            <a:off x="7975600" y="3077414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B1AF1C8-D5A7-9B78-8536-2D9B06FCB6B7}"/>
              </a:ext>
            </a:extLst>
          </p:cNvPr>
          <p:cNvSpPr txBox="1"/>
          <p:nvPr/>
        </p:nvSpPr>
        <p:spPr>
          <a:xfrm>
            <a:off x="7975600" y="3204414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REGRA PRÁTICA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5CEE7B6-64AD-4C51-1E69-34B70C0D47D4}"/>
              </a:ext>
            </a:extLst>
          </p:cNvPr>
          <p:cNvSpPr txBox="1"/>
          <p:nvPr/>
        </p:nvSpPr>
        <p:spPr>
          <a:xfrm>
            <a:off x="7975600" y="3439508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Se você fez uma prova por contradição e percebeu que nunca usou P — só ¬Q —, você fez uma contraposição sem perceber. Reescreva: fica mais curta e mais clara.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BBC8E43-1653-44D4-26C1-791116F3FD7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B7AAB3-04F0-6C8D-AE9C-D73AEE8F28CB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61BF74-AF7F-3520-159A-14351EE4EF31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2328533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Microsoft Office PowerPoint</Application>
  <PresentationFormat>Widescreen</PresentationFormat>
  <Paragraphs>101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2026-09-23T16:28:10Z</dcterms:created>
  <dcterms:modified xsi:type="dcterms:W3CDTF">2026-09-23T16:28:38Z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2026-09-23T16:28:10Z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047e54dd-fb07-4083-af0c-92dc1a46f5e9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