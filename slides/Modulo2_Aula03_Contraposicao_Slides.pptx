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a do Couto Fonseca" userId="f73f3f1e-5e1c-47a9-aa2d-ab4ab106ce0b" providerId="ADAL" clId="{36832870-9FEF-437A-81DC-AEE05E3FC80B}"/>
    <pc:docChg chg="custSel modSld">
      <pc:chgData name="Gabriela do Couto Fonseca" userId="f73f3f1e-5e1c-47a9-aa2d-ab4ab106ce0b" providerId="ADAL" clId="{36832870-9FEF-437A-81DC-AEE05E3FC80B}" dt="2026-09-23T16:28:36.790" v="8" actId="947"/>
      <pc:docMkLst>
        <pc:docMk/>
      </pc:docMkLst>
      <pc:sldChg chg="modNotes">
        <pc:chgData name="Gabriela do Couto Fonseca" userId="f73f3f1e-5e1c-47a9-aa2d-ab4ab106ce0b" providerId="ADAL" clId="{36832870-9FEF-437A-81DC-AEE05E3FC80B}" dt="2026-09-23T16:28:36.479" v="2" actId="947"/>
        <pc:sldMkLst>
          <pc:docMk/>
          <pc:sldMk cId="2851655906" sldId="256"/>
        </pc:sldMkLst>
      </pc:sldChg>
      <pc:sldChg chg="modNotes">
        <pc:chgData name="Gabriela do Couto Fonseca" userId="f73f3f1e-5e1c-47a9-aa2d-ab4ab106ce0b" providerId="ADAL" clId="{36832870-9FEF-437A-81DC-AEE05E3FC80B}" dt="2026-09-23T16:28:36.623" v="5" actId="947"/>
        <pc:sldMkLst>
          <pc:docMk/>
          <pc:sldMk cId="2469025186" sldId="257"/>
        </pc:sldMkLst>
      </pc:sldChg>
      <pc:sldChg chg="modNotes">
        <pc:chgData name="Gabriela do Couto Fonseca" userId="f73f3f1e-5e1c-47a9-aa2d-ab4ab106ce0b" providerId="ADAL" clId="{36832870-9FEF-437A-81DC-AEE05E3FC80B}" dt="2026-09-23T16:28:36.790" v="8" actId="947"/>
        <pc:sldMkLst>
          <pc:docMk/>
          <pc:sldMk cId="1868259913" sldId="25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189CE9-777A-4E39-BC90-6586DFAB34FB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365E62-1D11-4792-AA7E-7191C7F0CB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146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Esta técnica você já conhece pela metade. No Módulo 1 a gente provou que P implica Q é equivalente a não Q implica não P. Agora a gente transforma essa equivalência em ferramenta de trabalho.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65E62-1D11-4792-AA7E-7191C7F0CBA2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576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A justificativa é puramente lógica e a gente já a tem: P implica Q e não Q implica não P têm exatamente a mesma tabela verdade. São a mesma afirmação escrita de dois jeitos. Então você pode provar a que for mais conveniente.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importante é entender que a prova por contraposição não é uma técnica nova de raciocínio. É uma prova direta — só que de outra implicação. Você escreve a contrapositiva, esquece completamente o enunciado original, e faz uma prova direta normal.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 estrutura é essa: prova por contraposição, suponha não Q, argumento, portanto não P. E aí você acrescenta uma linha dizendo que, pela equivalência, o teorema original está demonstrado.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Quando tentar? Três sinais.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primeiro, e o mais confiável: a conclusão tem uma negação dentro dela. Se o teorema termina em algo como então x não é racional, ou então os conjuntos são disjuntos, a contrapositiva vai começar assumindo uma afirmação positiva — e afirmação positiva dá para manipular. Negação, em geral, não.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segundo: você olha para não Q e ele parece mais concreto que Q. Um exemplo típico é conclusão com desigualdade estrita; negar transforma em igualdade ou em desigualdade no outro sentido, e às vezes isso destrava.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O terceiro é mais honesto que os outros dois: você tentou direto, olhou para a hipótese P por um tempo e não apareceu nenhum primeiro passo. Antes de desistir, escreva a contrapositiva. Custa trinta segundos.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65E62-1D11-4792-AA7E-7191C7F0CBA2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52623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>
                <a:latin typeface="Georgia" panose="02040502050405020303" pitchFamily="18" charset="0"/>
              </a:rPr>
              <a:t>O teorema: se x ao quadrado menos seis x mais cinco é diferente de zero, então x é diferente de um e x é diferente de cinco.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Tenta direto e veja o que acontece. Você começa sabendo que uma expressão quadrática não é zero. E daí? Não tem o que fazer com uma informação negativa sobre uma expressão. Você não consegue isolar x, não consegue fatorar nada útil. Travou.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Agora escreve a contrapositiva. E aqui tem um detalhe que vale ouro: para negar a conclusão, você precisa de De Morgan. A conclusão é x diferente de um e x diferente de cinco — uma conjunção. A negação de uma conjunção é a disjunção das negações. Então não Q é x igual a um ou x igual a cinco.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Repara como o enunciado mudou de natureza. Em vez de uma expressão que não é zero, você agora tem dois valores concretos. A contrapositiva fica: se x é igual a um ou x é igual a cinco, então x ao quadrado menos seis x mais cinco é igual a zero.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E essa é trivial. Caso x igual a um: um menos seis mais cinco é zero. Caso x igual a cinco: vinte e cinco menos trinta mais cinco é zero. Nos dois casos deu zero, que era o que a gente queria. Fim.</a:t>
            </a:r>
          </a:p>
          <a:p>
            <a:endParaRPr lang="pt-BR">
              <a:latin typeface="Georgia" panose="02040502050405020303" pitchFamily="18" charset="0"/>
            </a:endParaRPr>
          </a:p>
          <a:p>
            <a:r>
              <a:rPr lang="pt-BR">
                <a:latin typeface="Georgia" panose="02040502050405020303" pitchFamily="18" charset="0"/>
              </a:rPr>
              <a:t>Duas coisas para levar daqui. A primeira: a contraposição transformou um problema sem primeiro passo em duas contas de cabeça. A segunda, e talvez mais importante: foi De Morgan que fez o trabalho pesado. Sem saber negar uma conjunção direito, você escreveria a contrapositiva errada e provaria outro teorema. As Leis de De Morgan não são curiosidade do Módulo 1 — elas são infraestrutura.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365E62-1D11-4792-AA7E-7191C7F0CBA2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9882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3BC78-1418-09DC-6D30-F1CA5DE82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DF07D1-7020-C184-F491-A50EEE2C4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B82E1B-41D7-546E-D724-C4D24D9AC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FE658B-7326-6F5C-91A5-641CFFE9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334B02-8A91-9269-EA8E-C47F5B779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727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4D3AC-ACAE-468B-377F-80D63317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C7B03F-217A-EB3A-A1FD-9E5EB733B2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778EED-448A-53E0-BFE8-ED37C56F7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F0B392-D0F1-820C-0E2E-D2373754F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57FBAB-D621-33D5-C98E-7162C13F8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966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68DE05-80E6-A543-047B-7600ABC6A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AD0ACB3-65AC-61B6-566F-461FEADCA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6DF69F-688B-906D-EC4E-B8B0BA227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CC50EA-10DE-7C94-4233-8A3E5321B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A99994-5D99-93EB-8E36-5FCBEEF9B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5816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C4BD7F-992D-58D1-A309-257E59720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E113E52-F9D0-CE55-8245-98980C0C5A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7D745A0-62D2-1F92-9CB1-98DDAC3F5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C8F0BAA-C344-9AC4-FD1B-2EEFD1F20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7F4481-9478-10CD-16CC-7D6547B9B0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CAEB47-79CD-76C2-0645-8F1B1A429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022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D7BC2D-BA8A-51DC-71A4-5FD237401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F0A8CE-18D2-E121-349F-32E076D19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90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A2D05C-1D8A-4F12-5BCB-A91EE301F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90" y="2505077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05A931-8CC8-6CBC-0F35-48747C96DC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8A271E-FE0B-1AC6-8D57-CE3E3929F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7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DF2ACAC-AB6D-9BA6-243C-C9F91EA8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BA14921-94AF-C74E-9A87-47D0E6634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6A9DF90-7EC8-6B36-270C-90C66341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320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EFD71-2D17-B4E5-A7DC-26FBB1271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32AE0A-2F04-87FB-033D-18BAE574A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228A363-4989-3710-4D35-64967FE03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30F882-DC70-60B9-2A2B-64D0F9D66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93588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EF5DA9-104D-198D-8FF2-56C58726A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E41253B-4E7C-2839-082D-F5481022B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E091435-231F-4036-CBDB-70DCE3B18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4780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09885D-7C92-A32F-B8EB-1277C5672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17BD97-62E6-CCB0-A064-582DA3011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642B4BA-B0DC-6869-0DD3-A9841E12F7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49591AA-2EF5-CD15-CF9A-3483189C7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06E9F56-EF80-88CA-1B5F-E09620F65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09FC60-57F5-57A6-7655-F22D3EDFA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74101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36AC8-14BB-DD2F-F792-9649E7745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50C8FBB-1D38-0107-47FB-98B323660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8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FDCD9E-4EF4-8F60-47C6-AD99DB21DE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5EC477-9536-3086-203C-E7394229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EFF4B28-BF14-3E2E-47F4-0B043A8B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848E95-35C7-9DA1-1C4D-EF066E030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7054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951FA9-6362-C78E-FA7A-CB6A38C68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193C552-FE10-DE38-77A1-C76B9BF52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F0962D1-EA9D-97F6-3688-6C30A1F52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A76CF8-FA4B-FA94-01E0-72665B6D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2E3D3B-9ED9-E842-0234-203A6A6BA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094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3BA7449-95E1-DD77-E414-15D2CB4A7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7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8E4763-655C-AEBA-43A6-9FF07173B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7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5F6659-9E77-9AC4-5EDF-B1ECBFA31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ABAA19-BBFA-2098-7D80-8F8A066CA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0CE6E-191D-22F7-5DC4-161E0BDF4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7689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414815E-0B84-F881-FA68-333D99DF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2F471EE-5347-DEF2-BB64-FD3D0D574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D05518-6D18-B7CD-C3A5-DC45C471A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37D21E-5D0C-44BD-AEAB-508E334467E9}" type="datetimeFigureOut">
              <a:rPr lang="pt-BR" smtClean="0"/>
              <a:t>23/09/2026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CE4318-0655-2F7C-96B8-D32B4534F2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3C6C0C-5670-91E3-3259-B1A4D756EB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343F6-ADC3-4256-8C9C-7CB2D4E0BF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762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784F967-1036-EA3B-7C7D-35EF745CC4C7}"/>
              </a:ext>
            </a:extLst>
          </p:cNvPr>
          <p:cNvSpPr txBox="1"/>
          <p:nvPr/>
        </p:nvSpPr>
        <p:spPr>
          <a:xfrm>
            <a:off x="812800" y="2362200"/>
            <a:ext cx="762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200" b="1" spc="300">
                <a:solidFill>
                  <a:srgbClr val="E3B505"/>
                </a:solidFill>
                <a:latin typeface="Lora" pitchFamily="2" charset="0"/>
              </a:rPr>
              <a:t>AULA 03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C04B4A3-7D3A-F5E3-5856-7748786DDD96}"/>
              </a:ext>
            </a:extLst>
          </p:cNvPr>
          <p:cNvSpPr txBox="1"/>
          <p:nvPr/>
        </p:nvSpPr>
        <p:spPr>
          <a:xfrm>
            <a:off x="812800" y="2717800"/>
            <a:ext cx="8382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5000"/>
              </a:lnSpc>
            </a:pPr>
            <a:r>
              <a:rPr lang="pt-BR" sz="4200">
                <a:solidFill>
                  <a:srgbClr val="FFFFFF"/>
                </a:solidFill>
                <a:latin typeface="Lora" pitchFamily="2" charset="0"/>
              </a:rPr>
              <a:t>Prova por contraposição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A9B750B-3B0A-F476-C9C5-516811F2AF3C}"/>
              </a:ext>
            </a:extLst>
          </p:cNvPr>
          <p:cNvSpPr/>
          <p:nvPr/>
        </p:nvSpPr>
        <p:spPr>
          <a:xfrm>
            <a:off x="812800" y="3592731"/>
            <a:ext cx="914400" cy="381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BE5BE7-6356-CE6E-D14C-E127FD315929}"/>
              </a:ext>
            </a:extLst>
          </p:cNvPr>
          <p:cNvSpPr txBox="1"/>
          <p:nvPr/>
        </p:nvSpPr>
        <p:spPr>
          <a:xfrm>
            <a:off x="812800" y="3846731"/>
            <a:ext cx="7874000" cy="25583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25000"/>
              </a:lnSpc>
            </a:pPr>
            <a:r>
              <a:rPr lang="pt-BR" sz="1400">
                <a:solidFill>
                  <a:srgbClr val="B9C6D8"/>
                </a:solidFill>
                <a:latin typeface="Spectral" pitchFamily="2" charset="0"/>
              </a:rPr>
              <a:t>Provar ¬Q → ¬P em vez de P → Q</a:t>
            </a:r>
          </a:p>
        </p:txBody>
      </p:sp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4CF8833-38C5-2AD4-6034-5B048651730D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2A4A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F7ADBF4-4488-6694-9A57-BD21314F223F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7F94B4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E205F55-3491-0FA3-73F1-7CF60C295D39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endParaRPr lang="pt-BR" sz="800" spc="160">
              <a:solidFill>
                <a:srgbClr val="7F94B4"/>
              </a:solidFill>
              <a:latin typeface="Lor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1655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824B48C-1012-5A80-64E9-1F728E5B8A61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03  ·  PROVA POR CONTRAPOSIÇÃO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B6C8160-982F-A9F8-5B72-E635F8E364EF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Por que funciona?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DB438A43-B800-EB6C-A950-CFA42250C5E4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3A3D6F39-0748-38BE-8B96-39E7FD36E8A1}"/>
              </a:ext>
            </a:extLst>
          </p:cNvPr>
          <p:cNvCxnSpPr/>
          <p:nvPr/>
        </p:nvCxnSpPr>
        <p:spPr>
          <a:xfrm>
            <a:off x="812800" y="2302521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id="{ED7AA1C7-9B8A-8D44-7AE9-DA174964068D}"/>
              </a:ext>
            </a:extLst>
          </p:cNvPr>
          <p:cNvSpPr txBox="1"/>
          <p:nvPr/>
        </p:nvSpPr>
        <p:spPr>
          <a:xfrm>
            <a:off x="812800" y="2467621"/>
            <a:ext cx="6604000" cy="30085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700">
                <a:solidFill>
                  <a:srgbClr val="17365E"/>
                </a:solidFill>
                <a:latin typeface="Spectral" pitchFamily="2" charset="0"/>
              </a:rPr>
              <a:t>P → Q     ≡     ¬Q → ¬P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B6D4E49F-0239-D20C-F70B-CC2B7432F089}"/>
              </a:ext>
            </a:extLst>
          </p:cNvPr>
          <p:cNvCxnSpPr/>
          <p:nvPr/>
        </p:nvCxnSpPr>
        <p:spPr>
          <a:xfrm>
            <a:off x="812800" y="2933573"/>
            <a:ext cx="66040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C50FD203-81E9-A569-B853-4E0AA2C7E536}"/>
              </a:ext>
            </a:extLst>
          </p:cNvPr>
          <p:cNvSpPr txBox="1"/>
          <p:nvPr/>
        </p:nvSpPr>
        <p:spPr>
          <a:xfrm>
            <a:off x="812800" y="3187573"/>
            <a:ext cx="6604000" cy="51264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Como é uma equivalência lógica — provada no Módulo 1 —, demonstrar uma das formas é exatamente demonstrar a outra.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87DB3822-79D4-2186-9BC2-2B55C71DC986}"/>
              </a:ext>
            </a:extLst>
          </p:cNvPr>
          <p:cNvSpPr/>
          <p:nvPr/>
        </p:nvSpPr>
        <p:spPr>
          <a:xfrm>
            <a:off x="812800" y="3954214"/>
            <a:ext cx="6604000" cy="1592439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774B87F-EE41-6621-E15B-0FFEF31D08CA}"/>
              </a:ext>
            </a:extLst>
          </p:cNvPr>
          <p:cNvSpPr txBox="1"/>
          <p:nvPr/>
        </p:nvSpPr>
        <p:spPr>
          <a:xfrm>
            <a:off x="977900" y="4119314"/>
            <a:ext cx="6273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ESTRUTURA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73EE24C-016A-C910-6357-03777DB4A6A9}"/>
              </a:ext>
            </a:extLst>
          </p:cNvPr>
          <p:cNvSpPr txBox="1"/>
          <p:nvPr/>
        </p:nvSpPr>
        <p:spPr>
          <a:xfrm>
            <a:off x="977900" y="4367108"/>
            <a:ext cx="6273800" cy="101444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Prova (por contraposição).  Suponha ¬Q.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⋯  (argumento) ⋯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Portanto ¬P.  ∎</a:t>
            </a:r>
          </a:p>
          <a:p>
            <a:pPr>
              <a:lnSpc>
                <a:spcPct val="134000"/>
              </a:lnSpc>
            </a:pPr>
            <a:endParaRPr lang="pt-BR" sz="1000">
              <a:solidFill>
                <a:srgbClr val="101A2C"/>
              </a:solidFill>
              <a:latin typeface="JetBrains Mono" panose="02000009000000000000" pitchFamily="49" charset="0"/>
            </a:endParaRP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Daí se conclui que P → Q está provado.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FC8D2C4-4528-19B0-25FB-4179E5B88656}"/>
              </a:ext>
            </a:extLst>
          </p:cNvPr>
          <p:cNvSpPr txBox="1"/>
          <p:nvPr/>
        </p:nvSpPr>
        <p:spPr>
          <a:xfrm>
            <a:off x="7975600" y="2302521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SINAIS DE QUE VALE TENTAR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4867E5F1-CFAA-EEEB-A467-2CE5632A1823}"/>
              </a:ext>
            </a:extLst>
          </p:cNvPr>
          <p:cNvSpPr/>
          <p:nvPr/>
        </p:nvSpPr>
        <p:spPr>
          <a:xfrm>
            <a:off x="7975600" y="2632865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79C1C04-924D-3EF5-11F6-EEE8099E332F}"/>
              </a:ext>
            </a:extLst>
          </p:cNvPr>
          <p:cNvSpPr txBox="1"/>
          <p:nvPr/>
        </p:nvSpPr>
        <p:spPr>
          <a:xfrm>
            <a:off x="8153400" y="2563015"/>
            <a:ext cx="3225800" cy="24141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A conclusão Q contém uma negação.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46108038-296A-9499-22CD-FFB0B82B2718}"/>
              </a:ext>
            </a:extLst>
          </p:cNvPr>
          <p:cNvSpPr/>
          <p:nvPr/>
        </p:nvSpPr>
        <p:spPr>
          <a:xfrm>
            <a:off x="7975600" y="2988578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EBD4FCB-870A-B99B-592C-E6010D19BF90}"/>
              </a:ext>
            </a:extLst>
          </p:cNvPr>
          <p:cNvSpPr txBox="1"/>
          <p:nvPr/>
        </p:nvSpPr>
        <p:spPr>
          <a:xfrm>
            <a:off x="8153400" y="2918728"/>
            <a:ext cx="3225800" cy="4991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¬Q é mais simples ou mais “positivo” de trabalhar do que Q.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83543220-D758-2AAB-F6C1-83C783A8A7E9}"/>
              </a:ext>
            </a:extLst>
          </p:cNvPr>
          <p:cNvSpPr/>
          <p:nvPr/>
        </p:nvSpPr>
        <p:spPr>
          <a:xfrm>
            <a:off x="7975600" y="3602055"/>
            <a:ext cx="50800" cy="5080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4B4FFBF-0C58-651B-39EB-2D0F378C52C4}"/>
              </a:ext>
            </a:extLst>
          </p:cNvPr>
          <p:cNvSpPr txBox="1"/>
          <p:nvPr/>
        </p:nvSpPr>
        <p:spPr>
          <a:xfrm>
            <a:off x="8153400" y="3532205"/>
            <a:ext cx="3225800" cy="4991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Partir de P não sugere nenhum primeiro passo.</a:t>
            </a:r>
          </a:p>
        </p:txBody>
      </p: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034A3695-357C-7686-2388-BC9028B57F40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CF35C52-4E81-8AE9-69A5-43E751C01543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23C85E3-10B7-3D05-F95F-07BF144F991C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2469025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E0D6201-4170-C465-65E6-8540F3A679F1}"/>
              </a:ext>
            </a:extLst>
          </p:cNvPr>
          <p:cNvSpPr txBox="1"/>
          <p:nvPr/>
        </p:nvSpPr>
        <p:spPr>
          <a:xfrm>
            <a:off x="812800" y="533400"/>
            <a:ext cx="8890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1000" b="1" spc="240">
                <a:solidFill>
                  <a:srgbClr val="8A6A00"/>
                </a:solidFill>
                <a:latin typeface="Lora" pitchFamily="2" charset="0"/>
              </a:rPr>
              <a:t>AULA 03  ·  PROVA POR CONTRAPOSIÇÃO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E285EC4-37B6-5E5B-E1E3-03CF027509C1}"/>
              </a:ext>
            </a:extLst>
          </p:cNvPr>
          <p:cNvSpPr txBox="1"/>
          <p:nvPr/>
        </p:nvSpPr>
        <p:spPr>
          <a:xfrm>
            <a:off x="812800" y="776188"/>
            <a:ext cx="9144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6000"/>
              </a:lnSpc>
            </a:pPr>
            <a:r>
              <a:rPr lang="pt-BR" sz="2800">
                <a:solidFill>
                  <a:srgbClr val="17365E"/>
                </a:solidFill>
                <a:latin typeface="Lora" pitchFamily="2" charset="0"/>
              </a:rPr>
              <a:t>Exemplo — prova por contraposição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5846101D-487E-1BDA-7176-2988789CEA7A}"/>
              </a:ext>
            </a:extLst>
          </p:cNvPr>
          <p:cNvSpPr/>
          <p:nvPr/>
        </p:nvSpPr>
        <p:spPr>
          <a:xfrm>
            <a:off x="812800" y="1372175"/>
            <a:ext cx="914400" cy="31750"/>
          </a:xfrm>
          <a:prstGeom prst="rect">
            <a:avLst/>
          </a:prstGeom>
          <a:solidFill>
            <a:srgbClr val="E3B50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171371E-1D41-2546-EE0D-BE386952DD62}"/>
              </a:ext>
            </a:extLst>
          </p:cNvPr>
          <p:cNvSpPr/>
          <p:nvPr/>
        </p:nvSpPr>
        <p:spPr>
          <a:xfrm>
            <a:off x="812800" y="2130597"/>
            <a:ext cx="6604000" cy="829221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3442D66-9407-EF44-F145-05C5D804EFE5}"/>
              </a:ext>
            </a:extLst>
          </p:cNvPr>
          <p:cNvSpPr txBox="1"/>
          <p:nvPr/>
        </p:nvSpPr>
        <p:spPr>
          <a:xfrm>
            <a:off x="990600" y="2308397"/>
            <a:ext cx="62484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TEOREMA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24FB915-0A2A-B783-69CC-415D708A3AF5}"/>
              </a:ext>
            </a:extLst>
          </p:cNvPr>
          <p:cNvSpPr txBox="1"/>
          <p:nvPr/>
        </p:nvSpPr>
        <p:spPr>
          <a:xfrm>
            <a:off x="990600" y="2543490"/>
            <a:ext cx="62484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2000"/>
              </a:lnSpc>
            </a:pPr>
            <a:r>
              <a:rPr lang="pt-BR" sz="1250">
                <a:solidFill>
                  <a:srgbClr val="101A2C"/>
                </a:solidFill>
                <a:latin typeface="Spectral" pitchFamily="2" charset="0"/>
              </a:rPr>
              <a:t>Se x² − 6x + 5 ≠ 0, então x ≠ 1 e x ≠ 5.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CE93FC-BD30-0F9B-A4AC-9433DD641F9F}"/>
              </a:ext>
            </a:extLst>
          </p:cNvPr>
          <p:cNvSpPr txBox="1"/>
          <p:nvPr/>
        </p:nvSpPr>
        <p:spPr>
          <a:xfrm>
            <a:off x="812800" y="3213818"/>
            <a:ext cx="6604000" cy="24718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50">
                <a:solidFill>
                  <a:srgbClr val="3A4152"/>
                </a:solidFill>
                <a:latin typeface="Spectral" pitchFamily="2" charset="0"/>
              </a:rPr>
              <a:t>A contrapositiva é: “se x = 1 ou x = 5, então x² − 6x + 5 = 0”.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C2B808B8-13A4-429C-C627-CD0F9D31268D}"/>
              </a:ext>
            </a:extLst>
          </p:cNvPr>
          <p:cNvSpPr/>
          <p:nvPr/>
        </p:nvSpPr>
        <p:spPr>
          <a:xfrm>
            <a:off x="812800" y="3715002"/>
            <a:ext cx="6604000" cy="2003577"/>
          </a:xfrm>
          <a:prstGeom prst="rect">
            <a:avLst/>
          </a:prstGeom>
          <a:solidFill>
            <a:srgbClr val="F4F2E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9663F4E-306B-95AB-8A12-9E67AB08A14A}"/>
              </a:ext>
            </a:extLst>
          </p:cNvPr>
          <p:cNvSpPr txBox="1"/>
          <p:nvPr/>
        </p:nvSpPr>
        <p:spPr>
          <a:xfrm>
            <a:off x="977900" y="3880102"/>
            <a:ext cx="62738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PROVA (POR CONTRAPOSIÇÃO)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05ED1A4-4464-43E4-89B0-495970A2C242}"/>
              </a:ext>
            </a:extLst>
          </p:cNvPr>
          <p:cNvSpPr txBox="1"/>
          <p:nvPr/>
        </p:nvSpPr>
        <p:spPr>
          <a:xfrm>
            <a:off x="977900" y="4127896"/>
            <a:ext cx="6273800" cy="1425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Suponha x = 1 ou x = 5.</a:t>
            </a:r>
          </a:p>
          <a:p>
            <a:pPr>
              <a:lnSpc>
                <a:spcPct val="134000"/>
              </a:lnSpc>
            </a:pPr>
            <a:endParaRPr lang="pt-BR" sz="1000">
              <a:solidFill>
                <a:srgbClr val="101A2C"/>
              </a:solidFill>
              <a:latin typeface="JetBrains Mono" panose="02000009000000000000" pitchFamily="49" charset="0"/>
            </a:endParaRP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Caso x = 1:   1² − 6(1) + 5 = 1 − 6 + 5 = 0.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Caso x = 5:   5² − 6(5) + 5 = 25 − 30 + 5 = 0.</a:t>
            </a:r>
          </a:p>
          <a:p>
            <a:pPr>
              <a:lnSpc>
                <a:spcPct val="134000"/>
              </a:lnSpc>
            </a:pPr>
            <a:endParaRPr lang="pt-BR" sz="1000">
              <a:solidFill>
                <a:srgbClr val="101A2C"/>
              </a:solidFill>
              <a:latin typeface="JetBrains Mono" panose="02000009000000000000" pitchFamily="49" charset="0"/>
            </a:endParaRP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Em ambos os casos, x² − 6x + 5 = 0.</a:t>
            </a:r>
          </a:p>
          <a:p>
            <a:pPr>
              <a:lnSpc>
                <a:spcPct val="134000"/>
              </a:lnSpc>
            </a:pPr>
            <a:r>
              <a:rPr lang="pt-BR" sz="1000">
                <a:solidFill>
                  <a:srgbClr val="101A2C"/>
                </a:solidFill>
                <a:latin typeface="JetBrains Mono" panose="02000009000000000000" pitchFamily="49" charset="0"/>
              </a:rPr>
              <a:t>Portanto, pela contraposição, o teorema está provado.  ∎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A4DDEC80-9A92-5F39-C0E8-ED96B4DC8087}"/>
              </a:ext>
            </a:extLst>
          </p:cNvPr>
          <p:cNvCxnSpPr/>
          <p:nvPr/>
        </p:nvCxnSpPr>
        <p:spPr>
          <a:xfrm>
            <a:off x="7975600" y="2130597"/>
            <a:ext cx="3403600" cy="0"/>
          </a:xfrm>
          <a:prstGeom prst="line">
            <a:avLst/>
          </a:prstGeom>
          <a:ln w="15875">
            <a:solidFill>
              <a:srgbClr val="1736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FE8BE43-D2A4-D1BE-D1B9-745B9BCF8E3F}"/>
              </a:ext>
            </a:extLst>
          </p:cNvPr>
          <p:cNvSpPr txBox="1"/>
          <p:nvPr/>
        </p:nvSpPr>
        <p:spPr>
          <a:xfrm>
            <a:off x="7975600" y="2257597"/>
            <a:ext cx="34036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950" b="1" spc="220">
                <a:solidFill>
                  <a:srgbClr val="8A6A00"/>
                </a:solidFill>
                <a:latin typeface="Lora" pitchFamily="2" charset="0"/>
              </a:rPr>
              <a:t>REPARE NA NEGAÇÃO DA CONCLUSÃO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9354684-7EF2-871F-67E9-DF5845069E77}"/>
              </a:ext>
            </a:extLst>
          </p:cNvPr>
          <p:cNvSpPr txBox="1"/>
          <p:nvPr/>
        </p:nvSpPr>
        <p:spPr>
          <a:xfrm>
            <a:off x="7975600" y="2492690"/>
            <a:ext cx="3403600" cy="7469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38000"/>
              </a:lnSpc>
            </a:pPr>
            <a:r>
              <a:rPr lang="pt-BR" sz="1200">
                <a:solidFill>
                  <a:srgbClr val="3A4152"/>
                </a:solidFill>
                <a:latin typeface="Spectral" pitchFamily="2" charset="0"/>
              </a:rPr>
              <a:t>Negar “x ≠ 1 e x ≠ 5” usa De Morgan: a negação de uma conjunção é a disjunção das negações. Por isso a contrapositiva começa com “x = 1 ou x = 5”.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FCD95184-BD83-9C0B-F94A-BE223B882444}"/>
              </a:ext>
            </a:extLst>
          </p:cNvPr>
          <p:cNvCxnSpPr/>
          <p:nvPr/>
        </p:nvCxnSpPr>
        <p:spPr>
          <a:xfrm>
            <a:off x="812800" y="6324600"/>
            <a:ext cx="10566400" cy="0"/>
          </a:xfrm>
          <a:prstGeom prst="line">
            <a:avLst/>
          </a:prstGeom>
          <a:ln w="9525">
            <a:solidFill>
              <a:srgbClr val="E4E2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BF8ACBB-76D9-7B63-D99D-131F1A4E80B4}"/>
              </a:ext>
            </a:extLst>
          </p:cNvPr>
          <p:cNvSpPr txBox="1"/>
          <p:nvPr/>
        </p:nvSpPr>
        <p:spPr>
          <a:xfrm>
            <a:off x="812800" y="6426200"/>
            <a:ext cx="8128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ESCOLA DE ECONOMIA DE SÃO PAULO · MÓDULO 2 · TÉCNICAS DE DEMONSTRAÇÃO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ED7B1C35-88AC-3300-4C28-C6E354D5DAB3}"/>
              </a:ext>
            </a:extLst>
          </p:cNvPr>
          <p:cNvSpPr txBox="1"/>
          <p:nvPr/>
        </p:nvSpPr>
        <p:spPr>
          <a:xfrm>
            <a:off x="9855200" y="6426200"/>
            <a:ext cx="1524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pt-BR" sz="800" spc="160">
                <a:solidFill>
                  <a:srgbClr val="9A988F"/>
                </a:solidFill>
                <a:latin typeface="Lora" pitchFamily="2" charset="0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18682599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989</Words>
  <Application>Microsoft Office PowerPoint</Application>
  <PresentationFormat>Widescreen</PresentationFormat>
  <Paragraphs>65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Georgia</vt:lpstr>
      <vt:lpstr>JetBrains Mono</vt:lpstr>
      <vt:lpstr>Lora</vt:lpstr>
      <vt:lpstr>Spectral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Gabriela do Couto Fonseca</dc:creator>
  <cp:lastModifiedBy>Gabriela do Couto Fonseca</cp:lastModifiedBy>
  <cp:revision>1</cp:revision>
  <dcterms:created xsi:type="dcterms:W3CDTF">2026-09-23T16:28:04Z</dcterms:created>
  <dcterms:modified xsi:type="dcterms:W3CDTF">2026-09-23T16:28:36Z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4f7750d-9cdf-4ba7-80aa-2c6ffdc35229_Enabled">
    <vt:lpwstr>true</vt:lpwstr>
  </property>
  <property fmtid="{D5CDD505-2E9C-101B-9397-08002B2CF9AE}" pid="3" name="MSIP_Label_84f7750d-9cdf-4ba7-80aa-2c6ffdc35229_SetDate">
    <vt:lpwstr>2026-09-23T16:28:04Z</vt:lpwstr>
  </property>
  <property fmtid="{D5CDD505-2E9C-101B-9397-08002B2CF9AE}" pid="4" name="MSIP_Label_84f7750d-9cdf-4ba7-80aa-2c6ffdc35229_Method">
    <vt:lpwstr>Standard</vt:lpwstr>
  </property>
  <property fmtid="{D5CDD505-2E9C-101B-9397-08002B2CF9AE}" pid="5" name="MSIP_Label_84f7750d-9cdf-4ba7-80aa-2c6ffdc35229_Name">
    <vt:lpwstr>Nível - 1</vt:lpwstr>
  </property>
  <property fmtid="{D5CDD505-2E9C-101B-9397-08002B2CF9AE}" pid="6" name="MSIP_Label_84f7750d-9cdf-4ba7-80aa-2c6ffdc35229_SiteId">
    <vt:lpwstr>79f6b639-ab12-4280-8077-bdbeef869b33</vt:lpwstr>
  </property>
  <property fmtid="{D5CDD505-2E9C-101B-9397-08002B2CF9AE}" pid="7" name="MSIP_Label_84f7750d-9cdf-4ba7-80aa-2c6ffdc35229_ActionId">
    <vt:lpwstr>9e7ec80a-0e72-46b5-953b-014f0f0af772</vt:lpwstr>
  </property>
  <property fmtid="{D5CDD505-2E9C-101B-9397-08002B2CF9AE}" pid="8" name="MSIP_Label_84f7750d-9cdf-4ba7-80aa-2c6ffdc35229_ContentBits">
    <vt:lpwstr>0</vt:lpwstr>
  </property>
  <property fmtid="{D5CDD505-2E9C-101B-9397-08002B2CF9AE}" pid="9" name="MSIP_Label_84f7750d-9cdf-4ba7-80aa-2c6ffdc35229_Tag">
    <vt:lpwstr>10, 3, 0, 1</vt:lpwstr>
  </property>
</Properties>
</file>