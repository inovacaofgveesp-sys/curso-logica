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do Couto Fonseca" userId="f73f3f1e-5e1c-47a9-aa2d-ab4ab106ce0b" providerId="ADAL" clId="{36832870-9FEF-437A-81DC-AEE05E3FC80B}"/>
    <pc:docChg chg="custSel modSld">
      <pc:chgData name="Gabriela do Couto Fonseca" userId="f73f3f1e-5e1c-47a9-aa2d-ab4ab106ce0b" providerId="ADAL" clId="{36832870-9FEF-437A-81DC-AEE05E3FC80B}" dt="2026-09-23T16:28:35.598" v="8" actId="947"/>
      <pc:docMkLst>
        <pc:docMk/>
      </pc:docMkLst>
      <pc:sldChg chg="modNotes">
        <pc:chgData name="Gabriela do Couto Fonseca" userId="f73f3f1e-5e1c-47a9-aa2d-ab4ab106ce0b" providerId="ADAL" clId="{36832870-9FEF-437A-81DC-AEE05E3FC80B}" dt="2026-09-23T16:28:35.490" v="2" actId="947"/>
        <pc:sldMkLst>
          <pc:docMk/>
          <pc:sldMk cId="1733012694" sldId="256"/>
        </pc:sldMkLst>
      </pc:sldChg>
      <pc:sldChg chg="modNotes">
        <pc:chgData name="Gabriela do Couto Fonseca" userId="f73f3f1e-5e1c-47a9-aa2d-ab4ab106ce0b" providerId="ADAL" clId="{36832870-9FEF-437A-81DC-AEE05E3FC80B}" dt="2026-09-23T16:28:35.536" v="5" actId="947"/>
        <pc:sldMkLst>
          <pc:docMk/>
          <pc:sldMk cId="1349468550" sldId="257"/>
        </pc:sldMkLst>
      </pc:sldChg>
      <pc:sldChg chg="modNotes">
        <pc:chgData name="Gabriela do Couto Fonseca" userId="f73f3f1e-5e1c-47a9-aa2d-ab4ab106ce0b" providerId="ADAL" clId="{36832870-9FEF-437A-81DC-AEE05E3FC80B}" dt="2026-09-23T16:28:35.598" v="8" actId="947"/>
        <pc:sldMkLst>
          <pc:docMk/>
          <pc:sldMk cId="3591881739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63BB5-1A46-49CC-8A9B-84E99304AEB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02A6F-505B-4775-A275-B81A9538FE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4176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Começamos pela mais simples, que também é a mais usada. Simples não quer dizer fácil: a ideia é imediata, mas a execução exige uma disciplina que leva tempo para virar hábito.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02A6F-505B-4775-A275-B81A9538FE3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0456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A prova direta segue sempre o mesmo esqueleto. Assume P. Aplica o que você já tem — definições, axiomas, teoremas anteriores. Chega em Q.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 modelo escrito também é padronizado, e vale adotar desde já. Começa com prova, suponha que P seja verdadeiro. Desenvolve o argumento. Termina com portanto Q é verdadeiro, seguido do símbolo de fim de prova.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Aquele quadradinho no final parece detalhe estético e não é. Ele marca com precisão onde o argumento acaba. Sem ele, o leitor não sabe se o parágrafo seguinte ainda faz parte da demonstração ou já é comentário. Em texto matemático, essa ambiguidade custa caro.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Agora a parte que ninguém avisa. A disciplina da prova direta está em dois lugares.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 primeiro: cada passo precisa ser justificável se alguém perguntar. Não precisa escrever a justificativa de tudo, mas precisa existir. Se você não consegue dizer por que uma linha segue da anterior, aquela linha é um palpite.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 segundo, e mais sutil: a prova só tem valor se funcionar para qualquer objeto que satisfaça P, não para o exemplo que você tinha em mente. Quando você escreve seja n um número par, esse n não é o seis. É um número par genérico, sobre o qual você não pode supor mais nada. Toda vez que uma prova quebra, geralmente é porque em algum ponto o autor usou uma informação que só valia para o caso particular que ele estava imaginando.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02A6F-505B-4775-A275-B81A9538FE3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5463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Dois exemplos, e o primeiro tem uma lição escondida.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desigualdade das médias afirma que, para a e b não negativos, a média aritmética é maior ou igual à média geométrica.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Repara na hipótese: não negativos. Isso não é preciosismo. Se você admitir números negativos, a raiz de a vezes b pode nem ser um número real. E mesmo quando é, o resultado quebra — com a e b ambos iguais a menos um, a média aritmética é menos um e a média geométrica é um. Menos um não é maior que um. A afirmação é falsa. Então essa hipótese não está ali para enfeitar: sem ela, não há teorema.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prova é curta e começa de um lugar que parece não ter relação com nada. Qualquer quadrado real é maior ou igual a zero. Em particular, a raiz de a menos a raiz de b, tudo ao quadrado, é maior ou igual a zero. Expande: a, menos duas vezes a raiz de a vezes b, mais b, é maior ou igual a zero. Passa o termo do meio para o outro lado: a mais b é maior ou igual a duas vezes a raiz de a vezes b. Divide tudo por dois e está feito.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repara no movimento: a prova não começou de a mais b sobre dois. Começou de uma desigualdade elementar e chegou lá. Isso é normal em prova direta — o ponto de partida raramente é o que você tem, e sim o que você conhece.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 segundo exemplo é mais direto. Se n é par, então n ao quadrado é múltiplo de quatro. Se n é par, escreve n igual a dois k. Eleva ao quadrado: quatro k ao quadrado. É múltiplo de quatro. Acabou.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Esse padrão de traduzir a hipótese numa forma algébrica — par vira dois k, ímpar vira dois k mais um, múltiplo de sete vira sete k — é o primeiro movimento de quase toda prova direta sobre números inteiros.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02A6F-505B-4775-A275-B81A9538FE3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6068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CE230A-98AB-4933-890B-818FD366A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B5B181-90D5-1C3A-411D-ED5BA6E8F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641D3C-26B9-7F55-AA7E-1DF5417D8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285EE-8044-4800-87CA-FB617EF28A3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70EC05-1392-F357-5484-142C4342A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4FE507-809B-FE37-3FA8-6A6DDFA54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8201-0DFC-44B0-98F9-46AEE042E3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411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F180D-5068-FB8A-7BC5-F970A07C0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902FD2-29E4-A4C8-E007-DBAD5D1AC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96ECD7-513E-CC11-D7CF-179691315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285EE-8044-4800-87CA-FB617EF28A3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9B03EA-6A14-0DF6-5DB7-3644B91D4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0E43E2-22E1-1ACE-3BB2-F6EE6FEB2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8201-0DFC-44B0-98F9-46AEE042E3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1092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16A81E-39F6-EA33-1EC5-9EB38B31F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6EB708-FD15-93B6-FBB3-81A93022F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6A5C59-E405-FC1F-BCF4-EA7F08914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285EE-8044-4800-87CA-FB617EF28A3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D0794E-31BA-A1F9-B520-38EF8C23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A4774-8469-6CFF-B1E3-5677C165E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8201-0DFC-44B0-98F9-46AEE042E3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61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EC998-1DBD-CB9F-AF8C-EA5C1FD5D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41B48C-F3E8-776E-B472-8516EAA17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DF35C2-E102-7C49-A7AA-309A25B2B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654CE6D-9220-3E24-3ADF-294F33460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285EE-8044-4800-87CA-FB617EF28A3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C4FDBA-DDE8-D5F2-8617-3C3D2A73C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FBA30FD-C13D-0B55-CADD-1DB345D65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8201-0DFC-44B0-98F9-46AEE042E3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658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E82C5-658E-1145-D643-56594AD00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0D59E2-2AB5-5C82-CCF5-948723DE8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F814ED-8D8F-0641-C559-A35C56D99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7FAE809-B393-9DF7-0518-29D9EE06ED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C631F73-8015-48F1-1BA7-7FADB5A02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C9F6543-3774-27EA-0F2B-8EADA898F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285EE-8044-4800-87CA-FB617EF28A3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A5BD85A-1F46-2057-AAB1-30CC6789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14C3088-EC7D-050F-3D29-4A3AFC7F3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8201-0DFC-44B0-98F9-46AEE042E3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882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65A1F-88EE-24CB-D057-4F43AFAFA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1A442E0-22AA-E246-6C06-101F9E2B0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285EE-8044-4800-87CA-FB617EF28A3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B9F4CD2-5CE8-13D5-A8E6-AAC012828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75D58D-3359-99B9-23F0-E6241B2F4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8201-0DFC-44B0-98F9-46AEE042E3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6788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431F060-F1E1-58B6-C1D3-6A60BADF5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285EE-8044-4800-87CA-FB617EF28A3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ECFC37F-1FAC-B5AC-5AAB-25AB2052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ABA058-00AD-EA91-4C7C-F257B6DFA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8201-0DFC-44B0-98F9-46AEE042E3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2618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641DF-422D-537E-A228-9C8794702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670B9C-25FF-7CF6-30A6-2E4FD62A5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6AF4302-2839-0F85-C719-8378C773D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6F149F-6E9C-8DDA-CA03-FA0AD0A9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285EE-8044-4800-87CA-FB617EF28A3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662513-F3E6-0FD1-311C-716A74ECC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701CE3-675A-EA0C-C05C-0FD1F1F6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8201-0DFC-44B0-98F9-46AEE042E3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7420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2E48CD-421F-4176-5460-B178E4E03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758F75B-01FC-D02A-7071-D3FA662845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EB6C817-D9DD-BB3F-F3BF-0D56B16B4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338798-7E1F-7D72-6C30-218CB6015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285EE-8044-4800-87CA-FB617EF28A3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67B44B-EC24-944D-6674-3BAF6FA2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DEC6D5-F6B2-220B-68D4-C49A83CEE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8201-0DFC-44B0-98F9-46AEE042E3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1585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390FC4-CAE8-379E-345B-9A5369CDE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EDB20-4318-8088-A296-1FA2C724D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C20A20-2B0B-72C7-D8F3-AFDD1D7A4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285EE-8044-4800-87CA-FB617EF28A3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FB7E41-EE91-5C96-7E8A-5311F70AD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0BB7DC-5E59-156A-BF71-673E25612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8201-0DFC-44B0-98F9-46AEE042E3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677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8E98C72-2408-75F4-4958-3ED0A2F0EF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9DEF19-264F-6A6E-FA33-8DD9C845C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50720D-A978-0AF3-3B11-9F48676C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285EE-8044-4800-87CA-FB617EF28A3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75746F-C000-41B4-AD75-3BBC15CCA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4D1D5B-238E-3C18-2C42-CB5390744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8201-0DFC-44B0-98F9-46AEE042E3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5768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64BC304-BFE9-FF80-8EBE-D21B40FAA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B4EBA6-E856-1582-EA85-BD067857A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6FB293-E5B5-D48F-AFBF-59916B3C64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1285EE-8044-4800-87CA-FB617EF28A3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00C366-36C9-4C64-3AC9-29F7CE106E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27A441-0D8D-0513-E06F-1B2186C47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188201-0DFC-44B0-98F9-46AEE042E3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527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AF02AF5-C33F-DEBC-B4B9-C473A586A36E}"/>
              </a:ext>
            </a:extLst>
          </p:cNvPr>
          <p:cNvSpPr txBox="1"/>
          <p:nvPr/>
        </p:nvSpPr>
        <p:spPr>
          <a:xfrm>
            <a:off x="812800" y="23622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 spc="300">
                <a:solidFill>
                  <a:srgbClr val="E3B505"/>
                </a:solidFill>
                <a:latin typeface="Lora" pitchFamily="2" charset="0"/>
              </a:rPr>
              <a:t>AULA 02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A4A3887-376E-261B-2049-D209555EA00D}"/>
              </a:ext>
            </a:extLst>
          </p:cNvPr>
          <p:cNvSpPr txBox="1"/>
          <p:nvPr/>
        </p:nvSpPr>
        <p:spPr>
          <a:xfrm>
            <a:off x="812800" y="2717800"/>
            <a:ext cx="838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4200">
                <a:solidFill>
                  <a:srgbClr val="FFFFFF"/>
                </a:solidFill>
                <a:latin typeface="Lora" pitchFamily="2" charset="0"/>
              </a:rPr>
              <a:t>Prova direta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9AB03B8-5B97-0700-EB2D-EB7CC4DA2CAB}"/>
              </a:ext>
            </a:extLst>
          </p:cNvPr>
          <p:cNvSpPr/>
          <p:nvPr/>
        </p:nvSpPr>
        <p:spPr>
          <a:xfrm>
            <a:off x="812800" y="3592731"/>
            <a:ext cx="914400" cy="381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86A2827-3D76-14B3-80DD-14274FD5C53C}"/>
              </a:ext>
            </a:extLst>
          </p:cNvPr>
          <p:cNvSpPr txBox="1"/>
          <p:nvPr/>
        </p:nvSpPr>
        <p:spPr>
          <a:xfrm>
            <a:off x="812800" y="3846731"/>
            <a:ext cx="7874000" cy="2558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pt-BR" sz="1400">
                <a:solidFill>
                  <a:srgbClr val="B9C6D8"/>
                </a:solidFill>
                <a:latin typeface="Spectral" pitchFamily="2" charset="0"/>
              </a:rPr>
              <a:t>Assumir P e deduzir Q — a estratégia mais natural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E694416-4DF9-DAA1-5182-3AC66F1843D2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2A4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6E085CF-5239-B2A3-AB66-17EB24898F8E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7F94B4"/>
                </a:solidFill>
                <a:latin typeface="Lora" pitchFamily="2" charset="0"/>
              </a:rPr>
              <a:t>ESCOLA DE ECONOMIA DE SÃO PAULO · MÓDULO 2 · TÉCNICAS DE DEMONSTRAÇÃO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AC5F81F-6B7C-759C-CFF8-B0CA80C15183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endParaRPr lang="pt-BR" sz="800" spc="160">
              <a:solidFill>
                <a:srgbClr val="7F94B4"/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012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844491A-FE16-3F52-D962-3218AECA3589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02  ·  PROVA DIRETA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CF8AB93-02D7-A837-9609-3B75D26CD83B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Estrutura da prova direta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03C1ED0-6648-9067-48CE-9B37C593BEED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72A1160-8EEC-36ED-0898-A2E0E486BC43}"/>
              </a:ext>
            </a:extLst>
          </p:cNvPr>
          <p:cNvSpPr txBox="1"/>
          <p:nvPr/>
        </p:nvSpPr>
        <p:spPr>
          <a:xfrm>
            <a:off x="812800" y="2601553"/>
            <a:ext cx="6604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PARA PROVAR P → Q POR PROVA DIRETA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CBF6870-A53A-EB5B-0946-6C7B64D07C77}"/>
              </a:ext>
            </a:extLst>
          </p:cNvPr>
          <p:cNvSpPr/>
          <p:nvPr/>
        </p:nvSpPr>
        <p:spPr>
          <a:xfrm>
            <a:off x="812800" y="2931897"/>
            <a:ext cx="50800" cy="508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53C9EFE-8477-C446-87C0-FEE812A3BB5C}"/>
              </a:ext>
            </a:extLst>
          </p:cNvPr>
          <p:cNvSpPr txBox="1"/>
          <p:nvPr/>
        </p:nvSpPr>
        <p:spPr>
          <a:xfrm>
            <a:off x="990600" y="2862047"/>
            <a:ext cx="6426200" cy="2414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1. Assuma P como verdadeiro.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7915380-56DF-9455-5535-9E7E00CB7DB9}"/>
              </a:ext>
            </a:extLst>
          </p:cNvPr>
          <p:cNvSpPr/>
          <p:nvPr/>
        </p:nvSpPr>
        <p:spPr>
          <a:xfrm>
            <a:off x="812800" y="3287610"/>
            <a:ext cx="50800" cy="508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B3034D6-60B6-D7D7-2DF8-7DD215A147E1}"/>
              </a:ext>
            </a:extLst>
          </p:cNvPr>
          <p:cNvSpPr txBox="1"/>
          <p:nvPr/>
        </p:nvSpPr>
        <p:spPr>
          <a:xfrm>
            <a:off x="990600" y="3217760"/>
            <a:ext cx="6426200" cy="2414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2. Aplique definições, axiomas e teoremas já provados.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5C83B4C-1415-E712-8707-A0EAE8962AB4}"/>
              </a:ext>
            </a:extLst>
          </p:cNvPr>
          <p:cNvSpPr/>
          <p:nvPr/>
        </p:nvSpPr>
        <p:spPr>
          <a:xfrm>
            <a:off x="812800" y="3643323"/>
            <a:ext cx="50800" cy="508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9E97D3F-4FAF-48DC-804A-0DC0421559FB}"/>
              </a:ext>
            </a:extLst>
          </p:cNvPr>
          <p:cNvSpPr txBox="1"/>
          <p:nvPr/>
        </p:nvSpPr>
        <p:spPr>
          <a:xfrm>
            <a:off x="990600" y="3573473"/>
            <a:ext cx="6426200" cy="2414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3. Conclua que Q é verdadeiro.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F35652E-5512-2639-0FF4-0068DE498C6A}"/>
              </a:ext>
            </a:extLst>
          </p:cNvPr>
          <p:cNvSpPr/>
          <p:nvPr/>
        </p:nvSpPr>
        <p:spPr>
          <a:xfrm>
            <a:off x="812800" y="4068886"/>
            <a:ext cx="6604000" cy="1178736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453CDC0-0E72-4F04-1ABE-4B21F4165577}"/>
              </a:ext>
            </a:extLst>
          </p:cNvPr>
          <p:cNvSpPr txBox="1"/>
          <p:nvPr/>
        </p:nvSpPr>
        <p:spPr>
          <a:xfrm>
            <a:off x="977900" y="4233986"/>
            <a:ext cx="6273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MODELO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61954E7-F396-2A5D-F63C-62D96BFCB50F}"/>
              </a:ext>
            </a:extLst>
          </p:cNvPr>
          <p:cNvSpPr txBox="1"/>
          <p:nvPr/>
        </p:nvSpPr>
        <p:spPr>
          <a:xfrm>
            <a:off x="977900" y="4481780"/>
            <a:ext cx="6273800" cy="60074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Prova.  Suponha que P seja verdadeiro.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⋯  (argumento lógico)  ⋯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Portanto, Q é verdadeiro.  ∎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69A6E8DE-7641-4A05-7D34-13870F885100}"/>
              </a:ext>
            </a:extLst>
          </p:cNvPr>
          <p:cNvCxnSpPr/>
          <p:nvPr/>
        </p:nvCxnSpPr>
        <p:spPr>
          <a:xfrm>
            <a:off x="7975600" y="2601553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FD60FE4-0F13-96CF-09A3-6C913054F1C0}"/>
              </a:ext>
            </a:extLst>
          </p:cNvPr>
          <p:cNvSpPr txBox="1"/>
          <p:nvPr/>
        </p:nvSpPr>
        <p:spPr>
          <a:xfrm>
            <a:off x="7975600" y="2728553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O SÍMBOLO DE ENCERRAMENTO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4609ECF-E250-B55E-BEDE-88DE71019768}"/>
              </a:ext>
            </a:extLst>
          </p:cNvPr>
          <p:cNvSpPr txBox="1"/>
          <p:nvPr/>
        </p:nvSpPr>
        <p:spPr>
          <a:xfrm>
            <a:off x="7975600" y="2963647"/>
            <a:ext cx="3403600" cy="12565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O quadrado no fim (∎, ou a sigla latina para “o que se queria demonstrar”) marca onde o argumento termina. Não é enfeite: ele diz ao leitor que a partir dali você não está mais provando nada.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74F3F281-2BDA-A03F-F199-39824AC6F339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6221747-0738-E851-A622-0876910247A7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2 · TÉCNICAS DE DEMONSTRAÇÃO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867E41B-F092-E929-5FCB-22EAA9A95701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1 / 2</a:t>
            </a:r>
          </a:p>
        </p:txBody>
      </p:sp>
    </p:spTree>
    <p:extLst>
      <p:ext uri="{BB962C8B-B14F-4D97-AF65-F5344CB8AC3E}">
        <p14:creationId xmlns:p14="http://schemas.microsoft.com/office/powerpoint/2010/main" val="1349468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DB20962-A7BE-6761-A542-4971AD6EE6AD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02  ·  PROVA DIRETA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99E8B7-0FA4-8AC3-3E4D-6374323EDF67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Exemplos de prova direta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1BA679D-EC19-7ABB-CA1A-0388C338FD10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445FE26-5F30-8217-154B-EF5109D64E8E}"/>
              </a:ext>
            </a:extLst>
          </p:cNvPr>
          <p:cNvSpPr/>
          <p:nvPr/>
        </p:nvSpPr>
        <p:spPr>
          <a:xfrm>
            <a:off x="812800" y="2228584"/>
            <a:ext cx="6604000" cy="1797367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2B76807-54FD-A2D0-873A-9180CB568767}"/>
              </a:ext>
            </a:extLst>
          </p:cNvPr>
          <p:cNvSpPr txBox="1"/>
          <p:nvPr/>
        </p:nvSpPr>
        <p:spPr>
          <a:xfrm>
            <a:off x="977900" y="2393684"/>
            <a:ext cx="6273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DESIGUALDADE DAS MÉDIAS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2E2BCB9-46C7-998F-F4DB-75B89D2E88E7}"/>
              </a:ext>
            </a:extLst>
          </p:cNvPr>
          <p:cNvSpPr txBox="1"/>
          <p:nvPr/>
        </p:nvSpPr>
        <p:spPr>
          <a:xfrm>
            <a:off x="977900" y="2641478"/>
            <a:ext cx="6273800" cy="12193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Teorema: para a, b ∈ ℝ com a ≥ 0 e b ≥ 0,   (a + b)/2 ≥ √(ab)</a:t>
            </a:r>
          </a:p>
          <a:p>
            <a:pPr>
              <a:lnSpc>
                <a:spcPct val="134000"/>
              </a:lnSpc>
            </a:pPr>
            <a:endParaRPr lang="pt-BR" sz="1000">
              <a:solidFill>
                <a:srgbClr val="101A2C"/>
              </a:solidFill>
              <a:latin typeface="JetBrains Mono" panose="02000009000000000000" pitchFamily="49" charset="0"/>
            </a:endParaRP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Prova.  Note que (√a − √b)² ≥ 0.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Expandindo:  a − 2√(ab) + b ≥ 0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Logo:  a + b ≥ 2√(ab)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Dividindo por 2:  (a + b)/2 ≥ √(ab).  ∎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D20B3A9-976C-B8C8-1AB5-99BCC0A30F8B}"/>
              </a:ext>
            </a:extLst>
          </p:cNvPr>
          <p:cNvSpPr/>
          <p:nvPr/>
        </p:nvSpPr>
        <p:spPr>
          <a:xfrm>
            <a:off x="7975600" y="2228584"/>
            <a:ext cx="3403600" cy="2003577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B05E818-F260-F5C9-E366-4E3D562DCF41}"/>
              </a:ext>
            </a:extLst>
          </p:cNvPr>
          <p:cNvSpPr txBox="1"/>
          <p:nvPr/>
        </p:nvSpPr>
        <p:spPr>
          <a:xfrm>
            <a:off x="8140700" y="2393684"/>
            <a:ext cx="3073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DIVISIBILIDADE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2361CAB-729A-6F67-BE2C-A87A2F890D32}"/>
              </a:ext>
            </a:extLst>
          </p:cNvPr>
          <p:cNvSpPr txBox="1"/>
          <p:nvPr/>
        </p:nvSpPr>
        <p:spPr>
          <a:xfrm>
            <a:off x="8140700" y="2641478"/>
            <a:ext cx="3073400" cy="1425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Teorema: se n é par, então n² é múltiplo de 4.</a:t>
            </a:r>
          </a:p>
          <a:p>
            <a:pPr>
              <a:lnSpc>
                <a:spcPct val="134000"/>
              </a:lnSpc>
            </a:pPr>
            <a:endParaRPr lang="pt-BR" sz="1000">
              <a:solidFill>
                <a:srgbClr val="101A2C"/>
              </a:solidFill>
              <a:latin typeface="JetBrains Mono" panose="02000009000000000000" pitchFamily="49" charset="0"/>
            </a:endParaRP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Prova.  Se n é par, então n = 2k para algum k ∈ ℤ.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Logo n² = (2k)² = 4k².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Portanto n² é múltiplo de 4.  ∎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1E2C4FC2-B1DF-7823-10E1-535B597FC6D1}"/>
              </a:ext>
            </a:extLst>
          </p:cNvPr>
          <p:cNvCxnSpPr/>
          <p:nvPr/>
        </p:nvCxnSpPr>
        <p:spPr>
          <a:xfrm>
            <a:off x="7975600" y="4511561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56C9F23-A203-F973-2C30-566D0DE6632C}"/>
              </a:ext>
            </a:extLst>
          </p:cNvPr>
          <p:cNvSpPr txBox="1"/>
          <p:nvPr/>
        </p:nvSpPr>
        <p:spPr>
          <a:xfrm>
            <a:off x="7975600" y="4638561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ATENÇÃO À HIPÓTESE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BF03DF8-58D4-D951-8998-97088E946323}"/>
              </a:ext>
            </a:extLst>
          </p:cNvPr>
          <p:cNvSpPr txBox="1"/>
          <p:nvPr/>
        </p:nvSpPr>
        <p:spPr>
          <a:xfrm>
            <a:off x="7975600" y="4873655"/>
            <a:ext cx="3403600" cy="7469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A desigualdade das médias exige a e b não negativos. Sem isso, √(ab) pode nem ser real — e com a = b = −1 a desigualdade é falsa.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32587570-1474-99BC-16DF-DE66DF192E76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270F56F-B466-7CEB-AFF9-882D3879870B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2 · TÉCNICAS DE DEMONSTRAÇÃO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85437D7-8FA5-644B-7E8E-CAFB6B66EF59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2 / 2</a:t>
            </a:r>
          </a:p>
        </p:txBody>
      </p:sp>
    </p:spTree>
    <p:extLst>
      <p:ext uri="{BB962C8B-B14F-4D97-AF65-F5344CB8AC3E}">
        <p14:creationId xmlns:p14="http://schemas.microsoft.com/office/powerpoint/2010/main" val="35918817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1049</Words>
  <Application>Microsoft Office PowerPoint</Application>
  <PresentationFormat>Widescreen</PresentationFormat>
  <Paragraphs>65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Georgia</vt:lpstr>
      <vt:lpstr>JetBrains Mono</vt:lpstr>
      <vt:lpstr>Lora</vt:lpstr>
      <vt:lpstr>Spectral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 do Couto Fonseca</dc:creator>
  <cp:lastModifiedBy>Gabriela do Couto Fonseca</cp:lastModifiedBy>
  <cp:revision>1</cp:revision>
  <dcterms:created xsi:type="dcterms:W3CDTF">2026-09-23T16:28:01Z</dcterms:created>
  <dcterms:modified xsi:type="dcterms:W3CDTF">2026-09-23T16:28:35Z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f7750d-9cdf-4ba7-80aa-2c6ffdc35229_Enabled">
    <vt:lpwstr>true</vt:lpwstr>
  </property>
  <property fmtid="{D5CDD505-2E9C-101B-9397-08002B2CF9AE}" pid="3" name="MSIP_Label_84f7750d-9cdf-4ba7-80aa-2c6ffdc35229_SetDate">
    <vt:lpwstr>2026-09-23T16:28:01Z</vt:lpwstr>
  </property>
  <property fmtid="{D5CDD505-2E9C-101B-9397-08002B2CF9AE}" pid="4" name="MSIP_Label_84f7750d-9cdf-4ba7-80aa-2c6ffdc35229_Method">
    <vt:lpwstr>Standard</vt:lpwstr>
  </property>
  <property fmtid="{D5CDD505-2E9C-101B-9397-08002B2CF9AE}" pid="5" name="MSIP_Label_84f7750d-9cdf-4ba7-80aa-2c6ffdc35229_Name">
    <vt:lpwstr>Nível - 1</vt:lpwstr>
  </property>
  <property fmtid="{D5CDD505-2E9C-101B-9397-08002B2CF9AE}" pid="6" name="MSIP_Label_84f7750d-9cdf-4ba7-80aa-2c6ffdc35229_SiteId">
    <vt:lpwstr>79f6b639-ab12-4280-8077-bdbeef869b33</vt:lpwstr>
  </property>
  <property fmtid="{D5CDD505-2E9C-101B-9397-08002B2CF9AE}" pid="7" name="MSIP_Label_84f7750d-9cdf-4ba7-80aa-2c6ffdc35229_ActionId">
    <vt:lpwstr>0f52f84e-8317-4a86-8609-b59d5047fe5a</vt:lpwstr>
  </property>
  <property fmtid="{D5CDD505-2E9C-101B-9397-08002B2CF9AE}" pid="8" name="MSIP_Label_84f7750d-9cdf-4ba7-80aa-2c6ffdc35229_ContentBits">
    <vt:lpwstr>0</vt:lpwstr>
  </property>
  <property fmtid="{D5CDD505-2E9C-101B-9397-08002B2CF9AE}" pid="9" name="MSIP_Label_84f7750d-9cdf-4ba7-80aa-2c6ffdc35229_Tag">
    <vt:lpwstr>10, 3, 0, 1</vt:lpwstr>
  </property>
</Properties>
</file>