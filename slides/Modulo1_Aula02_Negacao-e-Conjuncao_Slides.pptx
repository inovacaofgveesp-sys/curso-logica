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a do Couto Fonseca" userId="f73f3f1e-5e1c-47a9-aa2d-ab4ab106ce0b" providerId="ADAL" clId="{36832870-9FEF-437A-81DC-AEE05E3FC80B}"/>
    <pc:docChg chg="custSel modSld">
      <pc:chgData name="Gabriela do Couto Fonseca" userId="f73f3f1e-5e1c-47a9-aa2d-ab4ab106ce0b" providerId="ADAL" clId="{36832870-9FEF-437A-81DC-AEE05E3FC80B}" dt="2026-09-23T16:28:24.697" v="11" actId="947"/>
      <pc:docMkLst>
        <pc:docMk/>
      </pc:docMkLst>
      <pc:sldChg chg="modNotes">
        <pc:chgData name="Gabriela do Couto Fonseca" userId="f73f3f1e-5e1c-47a9-aa2d-ab4ab106ce0b" providerId="ADAL" clId="{36832870-9FEF-437A-81DC-AEE05E3FC80B}" dt="2026-09-23T16:28:24.499" v="2" actId="947"/>
        <pc:sldMkLst>
          <pc:docMk/>
          <pc:sldMk cId="1861844286" sldId="256"/>
        </pc:sldMkLst>
      </pc:sldChg>
      <pc:sldChg chg="modNotes">
        <pc:chgData name="Gabriela do Couto Fonseca" userId="f73f3f1e-5e1c-47a9-aa2d-ab4ab106ce0b" providerId="ADAL" clId="{36832870-9FEF-437A-81DC-AEE05E3FC80B}" dt="2026-09-23T16:28:24.554" v="5" actId="947"/>
        <pc:sldMkLst>
          <pc:docMk/>
          <pc:sldMk cId="645701377" sldId="257"/>
        </pc:sldMkLst>
      </pc:sldChg>
      <pc:sldChg chg="modNotes">
        <pc:chgData name="Gabriela do Couto Fonseca" userId="f73f3f1e-5e1c-47a9-aa2d-ab4ab106ce0b" providerId="ADAL" clId="{36832870-9FEF-437A-81DC-AEE05E3FC80B}" dt="2026-09-23T16:28:24.627" v="8" actId="947"/>
        <pc:sldMkLst>
          <pc:docMk/>
          <pc:sldMk cId="1993375808" sldId="258"/>
        </pc:sldMkLst>
      </pc:sldChg>
      <pc:sldChg chg="modNotes">
        <pc:chgData name="Gabriela do Couto Fonseca" userId="f73f3f1e-5e1c-47a9-aa2d-ab4ab106ce0b" providerId="ADAL" clId="{36832870-9FEF-437A-81DC-AEE05E3FC80B}" dt="2026-09-23T16:28:24.697" v="11" actId="947"/>
        <pc:sldMkLst>
          <pc:docMk/>
          <pc:sldMk cId="2138213398" sldId="2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135BAA-131B-4CB7-8720-D0019DB0C216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5EB7D-A1EE-4612-BF52-C6A46A993D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233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Até aqui a gente só olhou proposições isoladas. Isso é pouco: praticamente nenhuma afirmação interessante vem sozinha. Nesta aula começam os conectivos — as peças que grudam proposições umas nas outras. Duas, para começar: a negação, que mexe numa proposição só, e a conjunção, o nosso 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E5EB7D-A1EE-4612-BF52-C6A46A993DCC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9103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A negação é o conectivo mais simples que existe. Não P inverte o valor de P: se P é verdadeiro, não P é falso; se P é falso, não P é verdadeiro. A tabela tem duas linhas e acabou.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Parece bobo, mas negar direito é uma das habilidades mais subestimadas do curso — porque em português a negação se disfarça. Repara nos três exemplos.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No primeiro, tudo bem: a inflação subiu vira a inflação não subiu. Direto.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No segundo já muda de cara. Se P é x maior ou igual a zero, a negação não é x menor ou igual a zero. É x menor que zero, estritamente. O sinal de igual mudou de lado. Esse erro aparece o tempo todo em prova.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O terceiro é o mais importante, e é uma prévia da Aula 06. Se P diz que para todo x a função é positiva, a negação não é que para todo x a função é negativa. É muito mais fraco que isso: basta existir um único x onde a função não é positiva. Negar um para todo produz um existe.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 uma coisa que vale guardar: negar duas vezes volta ao ponto de partida. Não é verdade que a inflação não subiu é o mesmo que dizer que a inflação subiu. Em português isso soa esquisito; em lógica é exato.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Um aviso prático de leitura: palavras como irreparável, inviável, ilíquido já carregam uma negação embutida. Quando for formalizar uma frase, procure essas negações escondidas antes de escrever qualquer símbolo.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E5EB7D-A1EE-4612-BF52-C6A46A993DC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670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A conjunção é o nosso e. P e Q só é verdadeira quando as duas partes são verdadeiras. Basta uma falhar para a afirmação inteira cair.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Na tabela, das quatro combinações possíveis, só a primeira linha dá verdadeiro. Nas outras três, pelo menos uma das proposições é falsa, e a conjunção é falsa junto.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O exemplo econômico é direto. Se P é a inflação caiu e Q é o desemprego caiu, então P e Q afirma que as duas coisas boas aconteceram. Se a inflação caiu mas o desemprego subiu, a afirmação é falsa. Não é meio verdadeira, não é parcialmente verdadeira. É falsa.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 aqui vale uma observação que vai te poupar tempo mais para a frente. É exatamente assim que funcionam as hipóteses de um teorema, e também as hipóteses de um modelo. Quando um resultado exige que a função seja contínua e derivável, isso é uma conjunção: as duas condições precisam valer. Se uma falha, o teorema simplesmente não se aplica — e a conclusão pode até ser verdadeira por outro motivo, mas não por causa daquele teorema.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Último detalhe, de leitura. Em português a conjunção se esconde atrás de palavras que parecem oposição. A inflação caiu, mas o desemprego permaneceu alto é, do ponto de vista lógico, uma conjunção pura. O mas carrega uma informação sobre expectativa, sobre surpresa — só que a lógica não enxerga isso. Para ela, é 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E5EB7D-A1EE-4612-BF52-C6A46A993DCC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35672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Antes de fechar a aula, quero adiantar uma relação que vai reaparecer várias vezes, porque ela é útil e porque quase todo mundo erra na primeira tentativa.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pergunta é: como se nega uma conjunção? Se eu afirmo que a inflação caiu e o desemprego caiu, e alguém me diz que isso é falso, o que exatamente foi negado?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tentação é responder: então a inflação não caiu e o desemprego não caiu. Mas isso é forte demais. Para derrubar a afirmação original bastava que uma das duas falhasse. Talvez a inflação tenha caído e o desemprego não. Talvez o contrário. Talvez nenhum dos dois. Todos esses casos derrubam a conjunção.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Então a negação correta é: ou a inflação não caiu, ou o desemprego não caiu — pelo menos um dos dois. Negar um e produz um ou.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Isso é a Primeira Lei de De Morgan, e é uma equivalência, não uma aproximação: as duas expressões têm exatamente a mesma tabela verdade. Por ora, registre. A prova completa vem na Aula 07, quando a gente conectar lógica com conjuntos e ficar visualmente óbvio por que funciona.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E5EB7D-A1EE-4612-BF52-C6A46A993DCC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5870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937DE2-16BF-04A5-9986-F95965B1B0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3F9194-A6CB-A3AF-FEA8-CB97D61FF4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3034AA-3E1A-6CFE-4BA2-FE12DFD6C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64CC6-4AA9-4AE8-A9CB-1E6F21DD898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CDEEC0-64EF-1BD8-D134-9FDBF83E4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CE45A-1C78-64C9-621F-98896D0D7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146D7-1561-47D3-8C90-FC4585EC57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0079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330115-C0C5-3744-E641-0841736A1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F4B08C-6D19-A252-4B21-B964F4C4F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FBCAAE-94FD-8DB2-5E9D-D17470864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64CC6-4AA9-4AE8-A9CB-1E6F21DD898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ABB391-448A-7437-DD29-320B59FFB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ADA167-37A1-5898-D60F-92E988731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146D7-1561-47D3-8C90-FC4585EC57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2879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DB7C21-20A1-9CEB-9365-F4DB392D1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ED34E9-BAA6-FD37-4E0D-25923BE22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15A463-F597-141D-3CEB-44D0ACB9F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64CC6-4AA9-4AE8-A9CB-1E6F21DD898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70FD5A1-94E3-60DD-0C96-9477C9173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5CD493-5E22-3BF1-D1DC-DC9E1DF0D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146D7-1561-47D3-8C90-FC4585EC57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7785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66E1B5-DA66-063A-62F7-A286EA5D2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2F1997-17A1-6184-06C4-006D92A3CB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26DC0D3-D83F-1162-688C-A2F987454E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C4F5D2E-06DF-9E14-EDFE-1D7143969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64CC6-4AA9-4AE8-A9CB-1E6F21DD898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A8F095D-347F-C208-1711-9121346FC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49363C-1CE8-29F3-DEDD-434523EA1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146D7-1561-47D3-8C90-FC4585EC57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3807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F9FC61-2AC7-719C-E207-14727C778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101CA74-D807-737D-AEDB-F44B5652E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94B0D02-60F0-74D2-FB7D-9CA50BB83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7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D328447-526A-CB3D-FE84-86AB69A9F5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1EAEDFF-7E58-6434-F124-EBA563146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7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51B33F9-5BA0-2529-F07E-3BEAC4DBB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64CC6-4AA9-4AE8-A9CB-1E6F21DD898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D12D30B-E150-0BDA-87BC-D5CC5727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5EA9C00-59A5-A425-461C-B4DD61C19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146D7-1561-47D3-8C90-FC4585EC57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537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01C0AF-0C8E-93D9-65C3-5E187D2D4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7727273-67C9-95AF-2E6D-4852876C4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64CC6-4AA9-4AE8-A9CB-1E6F21DD898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BC437A9-8804-DFDC-3D12-6F28060E4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7975965-FBF4-7A42-16F7-CA093B01B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146D7-1561-47D3-8C90-FC4585EC57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6752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9B58BD-E559-7D8B-DF52-322BD744F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64CC6-4AA9-4AE8-A9CB-1E6F21DD898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92EE3C0-1DE4-E077-BE77-57165ED5F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549B7E-D734-773F-0F40-D16955AC0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146D7-1561-47D3-8C90-FC4585EC57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5276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8691EA-016B-16E0-0CCE-2222F578E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F11E8-DE0E-01F8-63BF-DAA8D977B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4A6F33-21B8-202F-A6E2-E8C1C77275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5A3358-3688-D117-1F1F-7A4F5F357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64CC6-4AA9-4AE8-A9CB-1E6F21DD898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66256A0-0389-DD36-2527-B911F3AD6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32631CF-3AD1-51E8-D0C8-99665DEB1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146D7-1561-47D3-8C90-FC4585EC57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8823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F7C315-0725-6EDE-2CBD-6985C55C9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77B0174-18B7-43C0-2A8C-D2ACBA22F0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E142090-1646-BFBE-3566-009E15174E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3590A08-9B3B-8BE7-7536-DEDB46818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64CC6-4AA9-4AE8-A9CB-1E6F21DD898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78BDE02-C52B-A161-F415-3514458B5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9392F7B-37A7-CE22-F85C-A89363F73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146D7-1561-47D3-8C90-FC4585EC57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6290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CEFFF-9E8F-DE12-248B-5A8FF5904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7804EF2-96A9-5350-5446-63D6FFDAD7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117404-4A24-1C7F-07F3-E8A985056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64CC6-4AA9-4AE8-A9CB-1E6F21DD898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6A6913-E8AB-A5FA-603E-48A8F7CBC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6B7F99-DC1A-2E83-4E1A-59C7A585A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146D7-1561-47D3-8C90-FC4585EC57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8002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A6C30ED-7CD2-CE85-3C7C-2013E506A7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CDE8E25-A886-5A12-2351-7AB4D642D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7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2240B7-DEE3-40CB-E6DC-E78FE0CC1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64CC6-4AA9-4AE8-A9CB-1E6F21DD898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3FD8ED-942B-1F5A-0625-951C9B307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85DE63-5567-89BB-42C7-C4A6835AA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146D7-1561-47D3-8C90-FC4585EC57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3281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8E1190C-5AB3-4CB7-AF3E-15CBF2DEF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630B436-44B2-1C46-B685-356218365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6F22B4-E6B9-847A-EE56-DC2BB6A30E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E64CC6-4AA9-4AE8-A9CB-1E6F21DD8988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171654-2AF6-508F-E260-48D8A03D55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85EE91-12D1-66AE-9DB9-18A6BA3486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1146D7-1561-47D3-8C90-FC4585EC57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6548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E761D02-D963-9C54-79EE-DEB3493055A4}"/>
              </a:ext>
            </a:extLst>
          </p:cNvPr>
          <p:cNvSpPr txBox="1"/>
          <p:nvPr/>
        </p:nvSpPr>
        <p:spPr>
          <a:xfrm>
            <a:off x="812800" y="23622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 spc="300">
                <a:solidFill>
                  <a:srgbClr val="E3B505"/>
                </a:solidFill>
                <a:latin typeface="Lora" pitchFamily="2" charset="0"/>
              </a:rPr>
              <a:t>AULA 02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831990F-0B12-BF49-551C-03CBDC60C4EA}"/>
              </a:ext>
            </a:extLst>
          </p:cNvPr>
          <p:cNvSpPr txBox="1"/>
          <p:nvPr/>
        </p:nvSpPr>
        <p:spPr>
          <a:xfrm>
            <a:off x="812800" y="2717800"/>
            <a:ext cx="8382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pt-BR" sz="4200">
                <a:solidFill>
                  <a:srgbClr val="FFFFFF"/>
                </a:solidFill>
                <a:latin typeface="Lora" pitchFamily="2" charset="0"/>
              </a:rPr>
              <a:t>Negação e conjunção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E52B722-B161-BD1B-94F8-00255C13D154}"/>
              </a:ext>
            </a:extLst>
          </p:cNvPr>
          <p:cNvSpPr/>
          <p:nvPr/>
        </p:nvSpPr>
        <p:spPr>
          <a:xfrm>
            <a:off x="812800" y="3592731"/>
            <a:ext cx="914400" cy="3810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10A649E-046A-D780-47C9-9A655855B2B7}"/>
              </a:ext>
            </a:extLst>
          </p:cNvPr>
          <p:cNvSpPr txBox="1"/>
          <p:nvPr/>
        </p:nvSpPr>
        <p:spPr>
          <a:xfrm>
            <a:off x="812800" y="3846731"/>
            <a:ext cx="7874000" cy="25583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pt-BR" sz="1400">
                <a:solidFill>
                  <a:srgbClr val="B9C6D8"/>
                </a:solidFill>
                <a:latin typeface="Spectral" pitchFamily="2" charset="0"/>
              </a:rPr>
              <a:t>Os conectivos ¬ e ∧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9EC3766-813A-ECF4-7AFA-717715361155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2A4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2A1049FB-5997-678B-CC16-93FE483B6BE6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7F94B4"/>
                </a:solidFill>
                <a:latin typeface="Lora" pitchFamily="2" charset="0"/>
              </a:rPr>
              <a:t>ESCOLA DE ECONOMIA DE SÃO PAULO · MÓDULO 1 · LÓGICA E LINGUAGEM MATEMÁTICA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D513064-3980-1188-B545-878E2D33E67E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endParaRPr lang="pt-BR" sz="800" spc="160">
              <a:solidFill>
                <a:srgbClr val="7F94B4"/>
              </a:solidFill>
              <a:latin typeface="L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844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F688679-9128-5724-DDB2-2731B7A22542}"/>
              </a:ext>
            </a:extLst>
          </p:cNvPr>
          <p:cNvSpPr txBox="1"/>
          <p:nvPr/>
        </p:nvSpPr>
        <p:spPr>
          <a:xfrm>
            <a:off x="812800" y="5334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 spc="240">
                <a:solidFill>
                  <a:srgbClr val="8A6A00"/>
                </a:solidFill>
                <a:latin typeface="Lora" pitchFamily="2" charset="0"/>
              </a:rPr>
              <a:t>AULA 02  ·  NEGAÇÃO E CONJUNÇÃO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D3BC077-3945-2627-EEA0-F76802544736}"/>
              </a:ext>
            </a:extLst>
          </p:cNvPr>
          <p:cNvSpPr txBox="1"/>
          <p:nvPr/>
        </p:nvSpPr>
        <p:spPr>
          <a:xfrm>
            <a:off x="812800" y="776188"/>
            <a:ext cx="914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6000"/>
              </a:lnSpc>
            </a:pPr>
            <a:r>
              <a:rPr lang="pt-BR" sz="2800">
                <a:solidFill>
                  <a:srgbClr val="17365E"/>
                </a:solidFill>
                <a:latin typeface="Lora" pitchFamily="2" charset="0"/>
              </a:rPr>
              <a:t>Negação — ¬P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C17B257-533F-59D7-B833-27B8B5F5260A}"/>
              </a:ext>
            </a:extLst>
          </p:cNvPr>
          <p:cNvSpPr/>
          <p:nvPr/>
        </p:nvSpPr>
        <p:spPr>
          <a:xfrm>
            <a:off x="812800" y="1372175"/>
            <a:ext cx="914400" cy="3175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7BD194F-09A9-7C0E-90DC-44675D7065C0}"/>
              </a:ext>
            </a:extLst>
          </p:cNvPr>
          <p:cNvSpPr/>
          <p:nvPr/>
        </p:nvSpPr>
        <p:spPr>
          <a:xfrm>
            <a:off x="812800" y="2616775"/>
            <a:ext cx="6604000" cy="829221"/>
          </a:xfrm>
          <a:prstGeom prst="rect">
            <a:avLst/>
          </a:prstGeom>
          <a:solidFill>
            <a:srgbClr val="F4F2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0261FD1-25BE-C1BB-274D-E0A158C084E8}"/>
              </a:ext>
            </a:extLst>
          </p:cNvPr>
          <p:cNvSpPr txBox="1"/>
          <p:nvPr/>
        </p:nvSpPr>
        <p:spPr>
          <a:xfrm>
            <a:off x="990600" y="2794575"/>
            <a:ext cx="62484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NEGAÇÃO  ¬P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AE62493-572D-5305-E340-CD7C1CF1F18D}"/>
              </a:ext>
            </a:extLst>
          </p:cNvPr>
          <p:cNvSpPr txBox="1"/>
          <p:nvPr/>
        </p:nvSpPr>
        <p:spPr>
          <a:xfrm>
            <a:off x="990600" y="3029669"/>
            <a:ext cx="62484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50">
                <a:solidFill>
                  <a:srgbClr val="101A2C"/>
                </a:solidFill>
                <a:latin typeface="Spectral" pitchFamily="2" charset="0"/>
              </a:rPr>
              <a:t>¬P (“não P”) inverte o valor de verdade de P. Notações equivalentes: ¬P, ~P, “não P”.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E0BEC0FE-7CA5-D8A7-13C6-515E907DA3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10148"/>
              </p:ext>
            </p:extLst>
          </p:nvPr>
        </p:nvGraphicFramePr>
        <p:xfrm>
          <a:off x="812800" y="3699996"/>
          <a:ext cx="6604000" cy="863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02000">
                  <a:extLst>
                    <a:ext uri="{9D8B030D-6E8A-4147-A177-3AD203B41FA5}">
                      <a16:colId xmlns:a16="http://schemas.microsoft.com/office/drawing/2014/main" val="2024226144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3369188331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ctr"/>
                      <a:r>
                        <a:rPr lang="pt-BR" sz="900" b="1" spc="180">
                          <a:solidFill>
                            <a:srgbClr val="17365E"/>
                          </a:solidFill>
                          <a:latin typeface="Lora" pitchFamily="2" charset="0"/>
                        </a:rPr>
                        <a:t>P</a:t>
                      </a: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spc="180">
                          <a:solidFill>
                            <a:srgbClr val="17365E"/>
                          </a:solidFill>
                          <a:latin typeface="Lora" pitchFamily="2" charset="0"/>
                        </a:rPr>
                        <a:t>¬P</a:t>
                      </a: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067179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074528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689572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5745F0F9-7DBA-DE9D-7164-A4E8DD98F49A}"/>
              </a:ext>
            </a:extLst>
          </p:cNvPr>
          <p:cNvSpPr txBox="1"/>
          <p:nvPr/>
        </p:nvSpPr>
        <p:spPr>
          <a:xfrm>
            <a:off x="7975600" y="2616775"/>
            <a:ext cx="3403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A NEGAÇÃO NEM SEMPRE É ÓBVIA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6692C13-D7C4-26AB-1AF7-F63AC07A1177}"/>
              </a:ext>
            </a:extLst>
          </p:cNvPr>
          <p:cNvSpPr/>
          <p:nvPr/>
        </p:nvSpPr>
        <p:spPr>
          <a:xfrm>
            <a:off x="7975600" y="2947119"/>
            <a:ext cx="50800" cy="5080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7E8C1E3-A178-D01D-58FB-66C0BE103440}"/>
              </a:ext>
            </a:extLst>
          </p:cNvPr>
          <p:cNvSpPr txBox="1"/>
          <p:nvPr/>
        </p:nvSpPr>
        <p:spPr>
          <a:xfrm>
            <a:off x="8153400" y="2877269"/>
            <a:ext cx="3225800" cy="4991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4000"/>
              </a:lnSpc>
            </a:pPr>
            <a:r>
              <a:rPr lang="pt-BR" sz="1250">
                <a:solidFill>
                  <a:srgbClr val="3A4152"/>
                </a:solidFill>
                <a:latin typeface="Spectral" pitchFamily="2" charset="0"/>
              </a:rPr>
              <a:t>P: “a inflação subiu”  →  ¬P: “a inflação não subiu”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345E2F9-4051-7191-BCA5-80D9D6E76C35}"/>
              </a:ext>
            </a:extLst>
          </p:cNvPr>
          <p:cNvSpPr/>
          <p:nvPr/>
        </p:nvSpPr>
        <p:spPr>
          <a:xfrm>
            <a:off x="7975600" y="3560595"/>
            <a:ext cx="50800" cy="5080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9C24151-764F-B6C6-2447-DCD5E0E3C277}"/>
              </a:ext>
            </a:extLst>
          </p:cNvPr>
          <p:cNvSpPr txBox="1"/>
          <p:nvPr/>
        </p:nvSpPr>
        <p:spPr>
          <a:xfrm>
            <a:off x="8153400" y="3490745"/>
            <a:ext cx="3225800" cy="2414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4000"/>
              </a:lnSpc>
            </a:pPr>
            <a:r>
              <a:rPr lang="pt-BR" sz="1250">
                <a:solidFill>
                  <a:srgbClr val="3A4152"/>
                </a:solidFill>
                <a:latin typeface="Spectral" pitchFamily="2" charset="0"/>
              </a:rPr>
              <a:t>P: “x ≥ 0”  →  ¬P: “x &lt; 0”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E6A6E63-45D8-E410-D321-F4BAD0400657}"/>
              </a:ext>
            </a:extLst>
          </p:cNvPr>
          <p:cNvSpPr/>
          <p:nvPr/>
        </p:nvSpPr>
        <p:spPr>
          <a:xfrm>
            <a:off x="7975600" y="3916308"/>
            <a:ext cx="50800" cy="5080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5F169E4-E5A9-460B-0ED8-B533ACACE50A}"/>
              </a:ext>
            </a:extLst>
          </p:cNvPr>
          <p:cNvSpPr txBox="1"/>
          <p:nvPr/>
        </p:nvSpPr>
        <p:spPr>
          <a:xfrm>
            <a:off x="8153400" y="3846458"/>
            <a:ext cx="3225800" cy="2414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4000"/>
              </a:lnSpc>
            </a:pPr>
            <a:r>
              <a:rPr lang="pt-BR" sz="1250">
                <a:solidFill>
                  <a:srgbClr val="3A4152"/>
                </a:solidFill>
                <a:latin typeface="Spectral" pitchFamily="2" charset="0"/>
              </a:rPr>
              <a:t>P: “∀x, f(x) &gt; 0”  →  ¬P: “∃x, f(x) ≤ 0”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56B62E9-3B1B-E60A-178D-C620E84B19C9}"/>
              </a:ext>
            </a:extLst>
          </p:cNvPr>
          <p:cNvSpPr txBox="1"/>
          <p:nvPr/>
        </p:nvSpPr>
        <p:spPr>
          <a:xfrm>
            <a:off x="7975600" y="4367271"/>
            <a:ext cx="3403600" cy="24718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50">
                <a:solidFill>
                  <a:srgbClr val="3A4152"/>
                </a:solidFill>
                <a:latin typeface="Spectral" pitchFamily="2" charset="0"/>
              </a:rPr>
              <a:t>Negar duas vezes volta ao início: ¬¬P ≡ P.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85B7753B-5150-616A-40A5-A868A2324A0D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D55A011-DA39-A0CA-726F-CEA3EA6F29B5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1 · LÓGICA E LINGUAGEM MATEMÁTICA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E39E31C-3AE7-6467-5D5C-921385E9ACD4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1 / 3</a:t>
            </a:r>
          </a:p>
        </p:txBody>
      </p:sp>
    </p:spTree>
    <p:extLst>
      <p:ext uri="{BB962C8B-B14F-4D97-AF65-F5344CB8AC3E}">
        <p14:creationId xmlns:p14="http://schemas.microsoft.com/office/powerpoint/2010/main" val="645701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CC1EAE5-CB55-F29C-C7BD-BF1FEDA71C00}"/>
              </a:ext>
            </a:extLst>
          </p:cNvPr>
          <p:cNvSpPr txBox="1"/>
          <p:nvPr/>
        </p:nvSpPr>
        <p:spPr>
          <a:xfrm>
            <a:off x="812800" y="5334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 spc="240">
                <a:solidFill>
                  <a:srgbClr val="8A6A00"/>
                </a:solidFill>
                <a:latin typeface="Lora" pitchFamily="2" charset="0"/>
              </a:rPr>
              <a:t>AULA 02  ·  NEGAÇÃO E CONJUNÇÃO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2EFE83C-799E-819B-E714-3FE464A87F9F}"/>
              </a:ext>
            </a:extLst>
          </p:cNvPr>
          <p:cNvSpPr txBox="1"/>
          <p:nvPr/>
        </p:nvSpPr>
        <p:spPr>
          <a:xfrm>
            <a:off x="812800" y="776188"/>
            <a:ext cx="914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6000"/>
              </a:lnSpc>
            </a:pPr>
            <a:r>
              <a:rPr lang="pt-BR" sz="2800">
                <a:solidFill>
                  <a:srgbClr val="17365E"/>
                </a:solidFill>
                <a:latin typeface="Lora" pitchFamily="2" charset="0"/>
              </a:rPr>
              <a:t>Conjunção — P ∧ Q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25A3B50-FDA0-23F8-B4E3-C6C9DF8F2758}"/>
              </a:ext>
            </a:extLst>
          </p:cNvPr>
          <p:cNvSpPr/>
          <p:nvPr/>
        </p:nvSpPr>
        <p:spPr>
          <a:xfrm>
            <a:off x="812800" y="1372175"/>
            <a:ext cx="914400" cy="3175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AD1D03E-8F25-E637-DE2D-B5D56548FAF5}"/>
              </a:ext>
            </a:extLst>
          </p:cNvPr>
          <p:cNvSpPr/>
          <p:nvPr/>
        </p:nvSpPr>
        <p:spPr>
          <a:xfrm>
            <a:off x="812800" y="2519419"/>
            <a:ext cx="6604000" cy="1083137"/>
          </a:xfrm>
          <a:prstGeom prst="rect">
            <a:avLst/>
          </a:prstGeom>
          <a:solidFill>
            <a:srgbClr val="F4F2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E806C1C-7338-4EE5-4498-707618F3CA05}"/>
              </a:ext>
            </a:extLst>
          </p:cNvPr>
          <p:cNvSpPr txBox="1"/>
          <p:nvPr/>
        </p:nvSpPr>
        <p:spPr>
          <a:xfrm>
            <a:off x="990600" y="2697219"/>
            <a:ext cx="62484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CONJUNÇÃO  P ∧ Q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3E03B76-A19B-19BB-C0CA-EB6CB212F6B1}"/>
              </a:ext>
            </a:extLst>
          </p:cNvPr>
          <p:cNvSpPr txBox="1"/>
          <p:nvPr/>
        </p:nvSpPr>
        <p:spPr>
          <a:xfrm>
            <a:off x="990600" y="2932313"/>
            <a:ext cx="6248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50">
                <a:solidFill>
                  <a:srgbClr val="101A2C"/>
                </a:solidFill>
                <a:latin typeface="Spectral" pitchFamily="2" charset="0"/>
              </a:rPr>
              <a:t>P ∧ Q (“P e Q”) é verdadeira somente quando ambas são verdadeiras. Basta uma ser falsa para derrubar tudo.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C9E872C6-0298-F403-4FFE-85C9F49F14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242467"/>
              </p:ext>
            </p:extLst>
          </p:nvPr>
        </p:nvGraphicFramePr>
        <p:xfrm>
          <a:off x="812800" y="3856556"/>
          <a:ext cx="6604001" cy="147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26167">
                  <a:extLst>
                    <a:ext uri="{9D8B030D-6E8A-4147-A177-3AD203B41FA5}">
                      <a16:colId xmlns:a16="http://schemas.microsoft.com/office/drawing/2014/main" val="2516112135"/>
                    </a:ext>
                  </a:extLst>
                </a:gridCol>
                <a:gridCol w="1926167">
                  <a:extLst>
                    <a:ext uri="{9D8B030D-6E8A-4147-A177-3AD203B41FA5}">
                      <a16:colId xmlns:a16="http://schemas.microsoft.com/office/drawing/2014/main" val="4152080061"/>
                    </a:ext>
                  </a:extLst>
                </a:gridCol>
                <a:gridCol w="2751667">
                  <a:extLst>
                    <a:ext uri="{9D8B030D-6E8A-4147-A177-3AD203B41FA5}">
                      <a16:colId xmlns:a16="http://schemas.microsoft.com/office/drawing/2014/main" val="3124248231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ctr"/>
                      <a:r>
                        <a:rPr lang="pt-BR" sz="900" b="1" spc="180">
                          <a:solidFill>
                            <a:srgbClr val="17365E"/>
                          </a:solidFill>
                          <a:latin typeface="Lora" pitchFamily="2" charset="0"/>
                        </a:rPr>
                        <a:t>P</a:t>
                      </a: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spc="180">
                          <a:solidFill>
                            <a:srgbClr val="17365E"/>
                          </a:solidFill>
                          <a:latin typeface="Lora" pitchFamily="2" charset="0"/>
                        </a:rPr>
                        <a:t>Q</a:t>
                      </a: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spc="180">
                          <a:solidFill>
                            <a:srgbClr val="17365E"/>
                          </a:solidFill>
                          <a:latin typeface="Lora" pitchFamily="2" charset="0"/>
                        </a:rPr>
                        <a:t>P ∧ Q</a:t>
                      </a: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662165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8A6A00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8DCA8"/>
                      </a:solidFill>
                    </a:lnB>
                    <a:solidFill>
                      <a:srgbClr val="FBF4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8A6A00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8DCA8"/>
                      </a:solidFill>
                    </a:lnB>
                    <a:solidFill>
                      <a:srgbClr val="FBF4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8A6A00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8DCA8"/>
                      </a:solidFill>
                    </a:lnB>
                    <a:solidFill>
                      <a:srgbClr val="FBF4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229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8DCA8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8DCA8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8DCA8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005594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102783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7821893"/>
                  </a:ext>
                </a:extLst>
              </a:tr>
            </a:tbl>
          </a:graphicData>
        </a:graphic>
      </p:graphicFrame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A0AF9559-399F-95AB-064C-5DF873EBDFB5}"/>
              </a:ext>
            </a:extLst>
          </p:cNvPr>
          <p:cNvCxnSpPr/>
          <p:nvPr/>
        </p:nvCxnSpPr>
        <p:spPr>
          <a:xfrm>
            <a:off x="7975600" y="2519419"/>
            <a:ext cx="34036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51BC894-B6F5-914F-3A57-7861FFD83439}"/>
              </a:ext>
            </a:extLst>
          </p:cNvPr>
          <p:cNvSpPr txBox="1"/>
          <p:nvPr/>
        </p:nvSpPr>
        <p:spPr>
          <a:xfrm>
            <a:off x="7975600" y="2646419"/>
            <a:ext cx="3403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EXEMPLO ECONÔMICO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A0CB5C4-8093-1F00-887C-75C40DF74EE4}"/>
              </a:ext>
            </a:extLst>
          </p:cNvPr>
          <p:cNvSpPr txBox="1"/>
          <p:nvPr/>
        </p:nvSpPr>
        <p:spPr>
          <a:xfrm>
            <a:off x="7975600" y="2881513"/>
            <a:ext cx="3403600" cy="1001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P: “a inflação caiu”.  Q: “o desemprego caiu”.</a:t>
            </a:r>
          </a:p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P ∧ Q: “a inflação e o desemprego caíram”.</a:t>
            </a:r>
          </a:p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Basta um dos dois não cair para a afirmação inteira ser falsa.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FF593D6-698B-8FAF-60AB-5EC643D04585}"/>
              </a:ext>
            </a:extLst>
          </p:cNvPr>
          <p:cNvSpPr txBox="1"/>
          <p:nvPr/>
        </p:nvSpPr>
        <p:spPr>
          <a:xfrm>
            <a:off x="7975600" y="4162662"/>
            <a:ext cx="3403600" cy="5126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50">
                <a:solidFill>
                  <a:srgbClr val="3A4152"/>
                </a:solidFill>
                <a:latin typeface="Spectral" pitchFamily="2" charset="0"/>
              </a:rPr>
              <a:t>Em texto corrido, “mas”, “porém”, “embora” e “apesar de” também são conjunções.</a:t>
            </a: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CDE2CF3C-11A6-61C9-14C8-1D5AF49F00A7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D4BA3BD-7918-1094-9F73-45E0FD706125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1 · LÓGICA E LINGUAGEM MATEMÁTICA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76FE8E9-C2E9-B86E-0DBE-BB17C33B897B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2 / 3</a:t>
            </a:r>
          </a:p>
        </p:txBody>
      </p:sp>
    </p:spTree>
    <p:extLst>
      <p:ext uri="{BB962C8B-B14F-4D97-AF65-F5344CB8AC3E}">
        <p14:creationId xmlns:p14="http://schemas.microsoft.com/office/powerpoint/2010/main" val="1993375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5E9857C-627B-98EC-AB94-07071D99AC7C}"/>
              </a:ext>
            </a:extLst>
          </p:cNvPr>
          <p:cNvSpPr txBox="1"/>
          <p:nvPr/>
        </p:nvSpPr>
        <p:spPr>
          <a:xfrm>
            <a:off x="812800" y="5334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 spc="240">
                <a:solidFill>
                  <a:srgbClr val="8A6A00"/>
                </a:solidFill>
                <a:latin typeface="Lora" pitchFamily="2" charset="0"/>
              </a:rPr>
              <a:t>AULA 02  ·  NEGAÇÃO E CONJUNÇÃO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CE76365-85B8-BD40-BB76-5A8DDCF2079D}"/>
              </a:ext>
            </a:extLst>
          </p:cNvPr>
          <p:cNvSpPr txBox="1"/>
          <p:nvPr/>
        </p:nvSpPr>
        <p:spPr>
          <a:xfrm>
            <a:off x="812800" y="776188"/>
            <a:ext cx="914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6000"/>
              </a:lnSpc>
            </a:pPr>
            <a:r>
              <a:rPr lang="pt-BR" sz="2800">
                <a:solidFill>
                  <a:srgbClr val="17365E"/>
                </a:solidFill>
                <a:latin typeface="Lora" pitchFamily="2" charset="0"/>
              </a:rPr>
              <a:t>Uma primeira relação importante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E25F1B-321A-8610-B083-9E5EE9D59FC5}"/>
              </a:ext>
            </a:extLst>
          </p:cNvPr>
          <p:cNvSpPr/>
          <p:nvPr/>
        </p:nvSpPr>
        <p:spPr>
          <a:xfrm>
            <a:off x="812800" y="1372175"/>
            <a:ext cx="914400" cy="3175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459C4CE-9A1C-CFC2-637A-938C9565AF87}"/>
              </a:ext>
            </a:extLst>
          </p:cNvPr>
          <p:cNvSpPr txBox="1"/>
          <p:nvPr/>
        </p:nvSpPr>
        <p:spPr>
          <a:xfrm>
            <a:off x="812800" y="2616775"/>
            <a:ext cx="6604000" cy="24718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50">
                <a:solidFill>
                  <a:srgbClr val="3A4152"/>
                </a:solidFill>
                <a:latin typeface="Spectral" pitchFamily="2" charset="0"/>
              </a:rPr>
              <a:t>Quando negamos uma conjunção, o “e” vira “ou”: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FB3A21CB-C1ED-BD05-D5A5-EB66E4EC10B8}"/>
              </a:ext>
            </a:extLst>
          </p:cNvPr>
          <p:cNvCxnSpPr/>
          <p:nvPr/>
        </p:nvCxnSpPr>
        <p:spPr>
          <a:xfrm>
            <a:off x="812800" y="3117959"/>
            <a:ext cx="66040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8505CF47-3CAB-C72D-58AF-9EB1098BA76F}"/>
              </a:ext>
            </a:extLst>
          </p:cNvPr>
          <p:cNvSpPr txBox="1"/>
          <p:nvPr/>
        </p:nvSpPr>
        <p:spPr>
          <a:xfrm>
            <a:off x="812800" y="3283059"/>
            <a:ext cx="6604000" cy="3008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1700">
                <a:solidFill>
                  <a:srgbClr val="17365E"/>
                </a:solidFill>
                <a:latin typeface="Spectral" pitchFamily="2" charset="0"/>
              </a:rPr>
              <a:t>¬(P ∧ Q)  ≡  ¬P ∨ ¬Q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32751C9E-2430-CF0B-8C15-7906DA251A41}"/>
              </a:ext>
            </a:extLst>
          </p:cNvPr>
          <p:cNvCxnSpPr/>
          <p:nvPr/>
        </p:nvCxnSpPr>
        <p:spPr>
          <a:xfrm>
            <a:off x="812800" y="3749011"/>
            <a:ext cx="66040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AD4588B8-D79D-495C-69F8-1483C7C8C71F}"/>
              </a:ext>
            </a:extLst>
          </p:cNvPr>
          <p:cNvSpPr txBox="1"/>
          <p:nvPr/>
        </p:nvSpPr>
        <p:spPr>
          <a:xfrm>
            <a:off x="812800" y="4003011"/>
            <a:ext cx="6604000" cy="5126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50">
                <a:solidFill>
                  <a:srgbClr val="3A4152"/>
                </a:solidFill>
                <a:latin typeface="Spectral" pitchFamily="2" charset="0"/>
              </a:rPr>
              <a:t>Primeira Lei de De Morgan. A prova completa vem na Aula 07, quando conectarmos lógica e conjuntos.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10A9973E-1120-739B-3693-B9ED9A08EEC9}"/>
              </a:ext>
            </a:extLst>
          </p:cNvPr>
          <p:cNvCxnSpPr/>
          <p:nvPr/>
        </p:nvCxnSpPr>
        <p:spPr>
          <a:xfrm>
            <a:off x="7975600" y="2616775"/>
            <a:ext cx="34036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BD47697-E421-9A76-9253-86FF713935DF}"/>
              </a:ext>
            </a:extLst>
          </p:cNvPr>
          <p:cNvSpPr txBox="1"/>
          <p:nvPr/>
        </p:nvSpPr>
        <p:spPr>
          <a:xfrm>
            <a:off x="7975600" y="2743775"/>
            <a:ext cx="3403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A INTUIÇÃO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2602BA6-47D5-F6F8-C221-B322ABF50CC4}"/>
              </a:ext>
            </a:extLst>
          </p:cNvPr>
          <p:cNvSpPr txBox="1"/>
          <p:nvPr/>
        </p:nvSpPr>
        <p:spPr>
          <a:xfrm>
            <a:off x="7975600" y="2978869"/>
            <a:ext cx="3403600" cy="74693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Se “a inflação caiu e o desemprego caiu” é falso, então pelo menos um dos dois não caiu — mas não sabemos qual.</a:t>
            </a: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C47214E7-FD1A-7197-C3EA-3D3FEA492B4E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F887285-2E5C-DD32-4061-5D64DC7F3C94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1 · LÓGICA E LINGUAGEM MATEMÁTICA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CD29F38-EFDF-385D-C450-08F68C900678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3 / 3</a:t>
            </a:r>
          </a:p>
        </p:txBody>
      </p:sp>
    </p:spTree>
    <p:extLst>
      <p:ext uri="{BB962C8B-B14F-4D97-AF65-F5344CB8AC3E}">
        <p14:creationId xmlns:p14="http://schemas.microsoft.com/office/powerpoint/2010/main" val="21382133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1241</Words>
  <Application>Microsoft Office PowerPoint</Application>
  <PresentationFormat>Widescreen</PresentationFormat>
  <Paragraphs>92</Paragraphs>
  <Slides>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Georgia</vt:lpstr>
      <vt:lpstr>Lora</vt:lpstr>
      <vt:lpstr>Spectral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Gabriela do Couto Fonseca</dc:creator>
  <cp:lastModifiedBy>Gabriela do Couto Fonseca</cp:lastModifiedBy>
  <cp:revision>1</cp:revision>
  <dcterms:created xsi:type="dcterms:W3CDTF">2026-09-23T16:27:30Z</dcterms:created>
  <dcterms:modified xsi:type="dcterms:W3CDTF">2026-09-23T16:37:19Z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4f7750d-9cdf-4ba7-80aa-2c6ffdc35229_Enabled">
    <vt:lpwstr>true</vt:lpwstr>
  </property>
  <property fmtid="{D5CDD505-2E9C-101B-9397-08002B2CF9AE}" pid="3" name="MSIP_Label_84f7750d-9cdf-4ba7-80aa-2c6ffdc35229_SetDate">
    <vt:lpwstr>2026-09-23T16:27:30Z</vt:lpwstr>
  </property>
  <property fmtid="{D5CDD505-2E9C-101B-9397-08002B2CF9AE}" pid="4" name="MSIP_Label_84f7750d-9cdf-4ba7-80aa-2c6ffdc35229_Method">
    <vt:lpwstr>Standard</vt:lpwstr>
  </property>
  <property fmtid="{D5CDD505-2E9C-101B-9397-08002B2CF9AE}" pid="5" name="MSIP_Label_84f7750d-9cdf-4ba7-80aa-2c6ffdc35229_Name">
    <vt:lpwstr>Nível - 1</vt:lpwstr>
  </property>
  <property fmtid="{D5CDD505-2E9C-101B-9397-08002B2CF9AE}" pid="6" name="MSIP_Label_84f7750d-9cdf-4ba7-80aa-2c6ffdc35229_SiteId">
    <vt:lpwstr>79f6b639-ab12-4280-8077-bdbeef869b33</vt:lpwstr>
  </property>
  <property fmtid="{D5CDD505-2E9C-101B-9397-08002B2CF9AE}" pid="7" name="MSIP_Label_84f7750d-9cdf-4ba7-80aa-2c6ffdc35229_ActionId">
    <vt:lpwstr>413b6950-0958-4c6f-94bf-259fca5de52a</vt:lpwstr>
  </property>
  <property fmtid="{D5CDD505-2E9C-101B-9397-08002B2CF9AE}" pid="8" name="MSIP_Label_84f7750d-9cdf-4ba7-80aa-2c6ffdc35229_ContentBits">
    <vt:lpwstr>0</vt:lpwstr>
  </property>
  <property fmtid="{D5CDD505-2E9C-101B-9397-08002B2CF9AE}" pid="9" name="MSIP_Label_84f7750d-9cdf-4ba7-80aa-2c6ffdc35229_Tag">
    <vt:lpwstr>10, 3, 0, 1</vt:lpwstr>
  </property>
</Properties>
</file>