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23.273" v="14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3.066" v="2" actId="947"/>
        <pc:sldMkLst>
          <pc:docMk/>
          <pc:sldMk cId="3184400772" sldId="256"/>
        </pc:sldMkLst>
      </pc:sldChg>
      <pc:sldChg chg="modNotes">
        <pc:chgData name="Gabriela do Couto Fonseca" userId="f73f3f1e-5e1c-47a9-aa2d-ab4ab106ce0b" providerId="ADAL" clId="{36832870-9FEF-437A-81DC-AEE05E3FC80B}" dt="2026-09-23T16:28:23.101" v="5" actId="947"/>
        <pc:sldMkLst>
          <pc:docMk/>
          <pc:sldMk cId="4110144920" sldId="257"/>
        </pc:sldMkLst>
      </pc:sldChg>
      <pc:sldChg chg="modNotes">
        <pc:chgData name="Gabriela do Couto Fonseca" userId="f73f3f1e-5e1c-47a9-aa2d-ab4ab106ce0b" providerId="ADAL" clId="{36832870-9FEF-437A-81DC-AEE05E3FC80B}" dt="2026-09-23T16:28:23.165" v="8" actId="947"/>
        <pc:sldMkLst>
          <pc:docMk/>
          <pc:sldMk cId="3922131087" sldId="258"/>
        </pc:sldMkLst>
      </pc:sldChg>
      <pc:sldChg chg="modNotes">
        <pc:chgData name="Gabriela do Couto Fonseca" userId="f73f3f1e-5e1c-47a9-aa2d-ab4ab106ce0b" providerId="ADAL" clId="{36832870-9FEF-437A-81DC-AEE05E3FC80B}" dt="2026-09-23T16:28:23.221" v="11" actId="947"/>
        <pc:sldMkLst>
          <pc:docMk/>
          <pc:sldMk cId="2750004579" sldId="259"/>
        </pc:sldMkLst>
      </pc:sldChg>
      <pc:sldChg chg="modNotes">
        <pc:chgData name="Gabriela do Couto Fonseca" userId="f73f3f1e-5e1c-47a9-aa2d-ab4ab106ce0b" providerId="ADAL" clId="{36832870-9FEF-437A-81DC-AEE05E3FC80B}" dt="2026-09-23T16:28:23.273" v="14" actId="947"/>
        <pc:sldMkLst>
          <pc:docMk/>
          <pc:sldMk cId="323482430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76EDB-4104-46CA-BBB4-AF94179F3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19565-4350-40D8-9861-C1222863F0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844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Oi. Se você está começando Economia e já ouviu dizer que o curso tem bastante matemática, ouviu certo. Mas tem uma coisa que quase ninguém conta: no começo, o obstáculo raramente é a conta. É a linguagem. A matemática tem uma gramática própria, e quem não conhece essa gramática passa o semestre tentando ler um texto sem saber as regras.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Este curso é sobre essa gramática. São dois módulos. Neste primeiro, a gente monta o vocabulário: o que é uma proposição, como conectar proposições, o que quer dizer uma implicação, o que significam aqueles símbolos de para todo e existe. No segundo módulo, a gente usa esse vocabulário para o que ele serve de verdade — construir demonstrações.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Módulo 1 tem sete aulas, uns quarenta e cinco minutos no total. A meta é concreta: que no fim delas você consiga abrir um livro de cálculo, chegar na definição de limite e entender o que está escrito ali. Vamos nessa.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19565-4350-40D8-9861-C1222863F02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609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primeira pergunta é a mais básica de todas: o que é uma proposição? Parece pouca coisa, mas é daí que sai tudo o que vem depois.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19565-4350-40D8-9861-C1222863F02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712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Lógica é o estudo da argumentação. E tem um detalhe nessa definição que costuma pegar as pessoas de surpresa: a lógica não se importa se o que você está dizendo é verdade. Ela se importa com a estrutura do que você está dizendo.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Olha o exemplo aqui do lado. Pipoca não tem antena. Eu sou uma pipoca. Logo, eu não tenho antena. As duas premissas são um absurdo completo, mas o argumento é impecável — se as premissas fossem verdadeiras, a conclusão teria que ser verdadeira também. É exatamente isso que a lógica avalia.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por que isso importa para você? Porque é assim que funciona um modelo econômico. Quando alguém constrói o modelo de concorrência perfeita, ninguém está afirmando que existe no mundo real um mercado com infinitas firmas e informação completa. Está afirmando: se essas hipóteses valerem, então o lucro econômico de longo prazo é zero. A conclusão vem garantida pela estrutura. Discutir se o modelo descreve bem o mercado brasileiro é uma discussão importante, mas é outra discussão — é sobre as premissas, não sobre a lógica.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E, de forma bem mais imediata: todo teorema que você vai ver no curso tem a forma se P, então Q. Sem entender essa estrutura, dá até para decorar uma demonstração, mas não dá para avaliar se ela está certa.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19565-4350-40D8-9861-C1222863F02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691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Uma proposição é qualquer sentença que pode ser classificada como verdadeira ou falsa. E esse ou é bem literal: uma das duas, nunca as duas ao mesmo tempo.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Repara na coluna da esquerda. Dois mais dois é igual a quatro é proposição. O Brasil fica na América do Sul é proposição. A raiz de dois é irracional também é, e é verdadeira, só que precisa de demonstração — guarda essa, ela volta no Módulo 2. O que essas frases têm em comum não é serem verdadeiras. É terem um valor de verdade definido. Dois mais dois é igual a cinco também é proposição. Só que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 a coluna da direita. Feche a porta é uma ordem — não faz sentido perguntar se é verdadeira. Que horas são é pergunta, mesma coisa. X é maior que três parece proposição, mas não é: depende de quem é o x. Isso se chama sentença aberta, e vira proposição no instante em que você fixa o valor. E esta frase é falsa é o caso mais divertido: se for verdadeira, ela é falsa; se for falsa, ela é verdadeira. Não dá para classificar de jeito nenhum.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Para fixar com coisa de economista: a taxa de desemprego em dezembro foi seis vírgula dois por cento é proposição, dá para verificar. Que desemprego absurdo não é — é uma reação, não uma afirmação. E o governo atual é bom? Essa é mais sutil, mas é proposição sim: tem valor de verdade, mesmo que a gente discorde sobre qual. Ser difícil de verificar não é a mesma coisa que não ter valor de verdade.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19565-4350-40D8-9861-C1222863F02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683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tabela verdade é a ferramenta que vai te acompanhar o módulo inteiro. A ideia é simples: em vez de discutir um caso específico, você lista todos os cenários possíveis e olha o que acontece em cada um.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Com uma proposição só, existem dois cenários — ela é verdadeira, ou ela é falsa. Duas linhas. Com duas proposições, P e Q, são quatro combinações: as duas verdadeiras; a primeira verdadeira e a segunda falsa; a primeira falsa e a segunda verdadeira; e as duas falsas. Quatro linhas.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regra geral: com n proposições simples, a tabela tem dois elevado a n linhas. Três proposições, oito linhas. Quatro, dezesseis. Cresce rápido — e é justamente por isso que mais adiante a gente aprende atalhos.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Na hora de montar, existe um método que evita erro: preencha a coluna mais à direita alternando verdadeiro e falso de um em um, a coluna seguinte de dois em dois, a próxima de quatro em quatro, e assim por diante. É mecânico, e garante que nenhuma combinação fique de fora.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Nas próximas aulas a gente vai acrescentando uma coluna para cada conectivo novo. É aí que a tabela verdade deixa de ser uma lista e vira uma máquina de verificar argumentos.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19565-4350-40D8-9861-C1222863F02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07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08FC5-99CE-49F2-E0EE-B2A5C1304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0025FD-CABA-5BA5-381B-5F18ACFC8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87EEB8-F81A-181B-BCE9-CB83554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737CCF-4871-11C1-24C7-A54DA31F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5AFCE3-15B5-6121-6418-A7A7259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8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7EF18-6052-9AEC-3797-53B66DCA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5D7B28-C4AE-D359-FEEA-596B0B08D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F06EB6-E1FA-7633-D90B-BCA2DB0F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6FACCD-FC10-E06D-3490-E6A6B96C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0BF123-9302-27DF-1FD8-C0F132EC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5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EB7A9-9EE0-5042-41CC-7D650260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BCBDB9-559D-8554-5CD9-DA27B3130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B56DE1-0C70-6B9C-018D-D8D6537B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8BBEC6-F1C4-8A6A-B036-2E4181BF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6A7489-94A0-E357-CA2D-1C45D1BA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93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C1A92-5107-ED7E-9AE7-96A2AAEC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619FD8-EBEF-090A-D7DA-3F67614C2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D47A5-927A-A461-4F2E-A96A1F2F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F040F-8EC1-5062-CEEA-33DB9C2C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D4D75C-6E56-DB8F-E4B0-FF963ED8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60DF59-D865-0122-758A-F18FB723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02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8F534-8B3B-D4E5-A37A-A104F62F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23AF7A-5DE2-A20B-4067-CEE9BFB76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9AADA4-1A8E-C02B-9F9D-7E68AC296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9659FC-896D-F092-48FB-6690861C6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5F1A11-AA53-EE72-386D-8135323F3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9E5E63-E0F9-5BC6-65C1-8783B248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A20156-E4CC-7C8F-7C1E-F7D63E07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4F8B6E8-5143-B39C-3116-7EF6591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692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A0192-5954-9122-DEC1-48822F40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CBBEA6-8302-C7B5-C56F-8FCD37F4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71E434-A8D7-C472-2B93-1FF5F57B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888CBB-ABF5-53BD-ABB5-9049B511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29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5B0F41-0EC2-9D4D-C94E-2A983619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C59213-C971-C03B-48AA-4D6C63CE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C3776A-2C89-4CED-B7B4-56A49DB0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20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43F6F-A971-0C77-AFE5-546F5D81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8C0D7-1A3A-6909-3105-D177A3000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239633-9B30-E631-0913-53CCBF65F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5489C4-39B9-B3B1-5CEA-DB9294B8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D6D84-7FCC-99DC-E3FD-D8A6F372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DDAB4C-CBB2-69C1-6829-C932E1DD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24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78F9C-3865-C1B0-2CDC-3D9AE999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552892-62BE-9C1A-5625-944CA6818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BC3105-6F00-BADF-FF3E-3E52CFB61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4A7106-3840-57D6-48C8-7C3637C4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52D0A2-EB02-5A00-3278-A7F06CBA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66755E-8552-C458-4859-C4076C1E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42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479EF-CB06-CDBA-D8A7-3E6C8E89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956C21-DAA8-A8C1-AC24-7CEA9DF29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B97611-0487-7FE2-5D21-7C6A6844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B68DA-FBEF-573B-A768-7CAFD07A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5A01CF-A2EA-C2B5-FE65-338F4331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17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93E105-F970-D9F4-20C0-E18F18C84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4CD251-0380-F0B6-0A33-4D627E2CF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A36449-48E9-2354-C9AE-24229519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32E13-921D-C0D0-2628-72ECC7AB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59B5EB-058B-0FE1-DA0D-9A7A697A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05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817AD8-35F1-6E3B-2B68-3C2D96E2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A7421A-7BEF-5AA2-E687-9C09229E7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B31407-26B0-019B-4BA0-ECCF91477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E7E21-B117-4D3D-B425-98B416F9BF2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5356E3-C47E-0F55-2FBA-D43B2EDF5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AF5A35-628F-A266-BC96-5B3CEF948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89E53-1BE9-4FA1-8C52-88E95DDB5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10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6034B7-08B0-ED8C-6CDF-27332D9F13F6}"/>
              </a:ext>
            </a:extLst>
          </p:cNvPr>
          <p:cNvSpPr txBox="1"/>
          <p:nvPr/>
        </p:nvSpPr>
        <p:spPr>
          <a:xfrm>
            <a:off x="812800" y="2235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8A6A00"/>
                </a:solidFill>
                <a:latin typeface="Lora" pitchFamily="2" charset="0"/>
              </a:rPr>
              <a:t>MÓDULO 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E2F219-0AF5-AC94-EE66-BAA92F762BB0}"/>
              </a:ext>
            </a:extLst>
          </p:cNvPr>
          <p:cNvSpPr txBox="1"/>
          <p:nvPr/>
        </p:nvSpPr>
        <p:spPr>
          <a:xfrm>
            <a:off x="812800" y="2590800"/>
            <a:ext cx="8382000" cy="143994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4000"/>
              </a:lnSpc>
            </a:pPr>
            <a:r>
              <a:rPr lang="pt-BR" sz="4600">
                <a:solidFill>
                  <a:srgbClr val="17365E"/>
                </a:solidFill>
                <a:latin typeface="Lora" pitchFamily="2" charset="0"/>
              </a:rPr>
              <a:t>Lógica e Linguagem Matemática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AFE364-BB5D-F383-9F6E-5AE87C5DB923}"/>
              </a:ext>
            </a:extLst>
          </p:cNvPr>
          <p:cNvSpPr/>
          <p:nvPr/>
        </p:nvSpPr>
        <p:spPr>
          <a:xfrm>
            <a:off x="812800" y="4284746"/>
            <a:ext cx="11176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3F0380-F354-38AB-C188-279D8811CA0C}"/>
              </a:ext>
            </a:extLst>
          </p:cNvPr>
          <p:cNvSpPr txBox="1"/>
          <p:nvPr/>
        </p:nvSpPr>
        <p:spPr>
          <a:xfrm>
            <a:off x="812800" y="4564146"/>
            <a:ext cx="7620000" cy="2741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500">
                <a:solidFill>
                  <a:srgbClr val="5C6270"/>
                </a:solidFill>
                <a:latin typeface="Spectral" pitchFamily="2" charset="0"/>
              </a:rPr>
              <a:t>Sete aulas · Material de apoio de Matemática I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5760B50-CB93-9877-24AE-DEA81879BAA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BFD636-2675-E116-907F-D2ABD02115B7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4B5119-842B-E654-AF1F-FCB739C69687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9A988F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40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67D7DF-4779-C68B-A4B7-BB358C70434B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D4807F-5C5F-2877-D816-1400B25141F9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O que é uma proposição?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037C1E-6367-4B5F-1132-D36168F9A01F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A4F592-600B-36B9-CA4E-D417B9D49C8A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A unidade básica da linguagem lógico-matemática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905E5FC-B917-7578-1BB0-3DB2FD7F941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A728F1-9F85-5E73-BE5C-C4D1DF905986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A40734-3C67-BF31-9D2A-ED3AA5FC3D17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4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448259-E1EE-7025-0F79-6F16443A7B90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PROPOSIÇÃO?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138121-705E-8642-1D13-33A082195A4B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O que é lógica?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058DAF1-D7AF-E1F8-9340-6F4DDCFEEB55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C85AE8-3203-22A9-71EA-C3F32D06E571}"/>
              </a:ext>
            </a:extLst>
          </p:cNvPr>
          <p:cNvSpPr/>
          <p:nvPr/>
        </p:nvSpPr>
        <p:spPr>
          <a:xfrm>
            <a:off x="812800" y="2416059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521557-0CC8-013D-F6CC-38B88577D699}"/>
              </a:ext>
            </a:extLst>
          </p:cNvPr>
          <p:cNvSpPr txBox="1"/>
          <p:nvPr/>
        </p:nvSpPr>
        <p:spPr>
          <a:xfrm>
            <a:off x="990600" y="2593859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DEFINIÇÃO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AC5551-7FED-2534-449C-C57993F55370}"/>
              </a:ext>
            </a:extLst>
          </p:cNvPr>
          <p:cNvSpPr txBox="1"/>
          <p:nvPr/>
        </p:nvSpPr>
        <p:spPr>
          <a:xfrm>
            <a:off x="990600" y="2828953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Lógica é o estudo da argumentação. O foco está na validade da estrutura, não na veracidade das premissas.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4298239-AB34-BD21-B820-5126DBFF2F90}"/>
              </a:ext>
            </a:extLst>
          </p:cNvPr>
          <p:cNvSpPr/>
          <p:nvPr/>
        </p:nvSpPr>
        <p:spPr>
          <a:xfrm>
            <a:off x="812800" y="3753196"/>
            <a:ext cx="6604000" cy="1178736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16D0F7-E9AB-3C9A-4446-F6092E0963F0}"/>
              </a:ext>
            </a:extLst>
          </p:cNvPr>
          <p:cNvSpPr txBox="1"/>
          <p:nvPr/>
        </p:nvSpPr>
        <p:spPr>
          <a:xfrm>
            <a:off x="977900" y="3918296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UM ARGUMENTO VÁLIDO (AINDA QUE ABSURDO)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89DF6ED-D54F-0191-0A4F-C736A761FEF9}"/>
              </a:ext>
            </a:extLst>
          </p:cNvPr>
          <p:cNvSpPr txBox="1"/>
          <p:nvPr/>
        </p:nvSpPr>
        <p:spPr>
          <a:xfrm>
            <a:off x="977900" y="4166090"/>
            <a:ext cx="6273800" cy="60074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P₁:  Pipoca não tem antena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P₂:  Eu sou uma pipoca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∴    Eu não tenho antena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BB56216-DE6D-568E-AFD1-C977BE9AD284}"/>
              </a:ext>
            </a:extLst>
          </p:cNvPr>
          <p:cNvSpPr txBox="1"/>
          <p:nvPr/>
        </p:nvSpPr>
        <p:spPr>
          <a:xfrm>
            <a:off x="812800" y="5185932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Um argumento pode partir de premissas absurdas e ainda ser logicamente perfeito.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DE7A98-CDCA-0E6D-8EC7-756FDC5E460B}"/>
              </a:ext>
            </a:extLst>
          </p:cNvPr>
          <p:cNvSpPr txBox="1"/>
          <p:nvPr/>
        </p:nvSpPr>
        <p:spPr>
          <a:xfrm>
            <a:off x="7975600" y="2416059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POR QUE ESTUDAR LÓGICA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96082B-023F-53DB-6016-A59D14B9FFC5}"/>
              </a:ext>
            </a:extLst>
          </p:cNvPr>
          <p:cNvSpPr/>
          <p:nvPr/>
        </p:nvSpPr>
        <p:spPr>
          <a:xfrm>
            <a:off x="7975600" y="2746403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B6219FB-6DDC-EB40-04AD-26E3824D3496}"/>
              </a:ext>
            </a:extLst>
          </p:cNvPr>
          <p:cNvSpPr txBox="1"/>
          <p:nvPr/>
        </p:nvSpPr>
        <p:spPr>
          <a:xfrm>
            <a:off x="8153400" y="2676553"/>
            <a:ext cx="32258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É a linguagem em que a matemática é escrita.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B727531-E5EB-DE3A-9895-BCA7AC3052CF}"/>
              </a:ext>
            </a:extLst>
          </p:cNvPr>
          <p:cNvSpPr/>
          <p:nvPr/>
        </p:nvSpPr>
        <p:spPr>
          <a:xfrm>
            <a:off x="7975600" y="3102116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767264-A74A-3416-1900-3ADF4B25213D}"/>
              </a:ext>
            </a:extLst>
          </p:cNvPr>
          <p:cNvSpPr txBox="1"/>
          <p:nvPr/>
        </p:nvSpPr>
        <p:spPr>
          <a:xfrm>
            <a:off x="8153400" y="3032266"/>
            <a:ext cx="32258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Todo teorema tem a forma P → Q.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86E21D-C178-7736-82B0-D2AEF73A1EF6}"/>
              </a:ext>
            </a:extLst>
          </p:cNvPr>
          <p:cNvSpPr/>
          <p:nvPr/>
        </p:nvSpPr>
        <p:spPr>
          <a:xfrm>
            <a:off x="7975600" y="3457829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B4AADA8-5A5F-5663-D1DC-EB69AF85A2A1}"/>
              </a:ext>
            </a:extLst>
          </p:cNvPr>
          <p:cNvSpPr txBox="1"/>
          <p:nvPr/>
        </p:nvSpPr>
        <p:spPr>
          <a:xfrm>
            <a:off x="8153400" y="3387979"/>
            <a:ext cx="32258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Sem rigor lógico, uma demonstração não é válida.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8FDB65C-FF47-386C-2871-FC8665EFF69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F766808-71DC-A19B-27DF-B746E4EFA28D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C45D8E0-3D26-1887-E413-11FB7FE45D30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392213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AE739A9-FC70-99C9-3D35-A108E4721CFB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PROPOSIÇÃO?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94924C-6E8C-30D4-AC8A-3CCD54265486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O que é uma proposição?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F0CBFF-07BD-5204-7EBD-4A6F3ED65330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66CC87-8E66-F3FE-B11F-D060BC56132D}"/>
              </a:ext>
            </a:extLst>
          </p:cNvPr>
          <p:cNvSpPr/>
          <p:nvPr/>
        </p:nvSpPr>
        <p:spPr>
          <a:xfrm>
            <a:off x="812800" y="2515298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56543C-CD6E-F961-C6AC-07B87AAC8F67}"/>
              </a:ext>
            </a:extLst>
          </p:cNvPr>
          <p:cNvSpPr txBox="1"/>
          <p:nvPr/>
        </p:nvSpPr>
        <p:spPr>
          <a:xfrm>
            <a:off x="990600" y="2693098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DEFINIÇÃO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680D3B-CB42-91DE-9C98-C45A9E0E508D}"/>
              </a:ext>
            </a:extLst>
          </p:cNvPr>
          <p:cNvSpPr txBox="1"/>
          <p:nvPr/>
        </p:nvSpPr>
        <p:spPr>
          <a:xfrm>
            <a:off x="990600" y="2928192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Uma proposição é qualquer sentença que pode ser classificada como verdadeira ou falsa — nunca as duas ao mesmo tempo.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0ADB4D2-5A34-B73B-69DB-6AB455AB6556}"/>
              </a:ext>
            </a:extLst>
          </p:cNvPr>
          <p:cNvSpPr txBox="1"/>
          <p:nvPr/>
        </p:nvSpPr>
        <p:spPr>
          <a:xfrm>
            <a:off x="812800" y="385243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SÃO PROPOSIÇÕES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982BDF3-7330-1E01-6F26-23F05C9E06C5}"/>
              </a:ext>
            </a:extLst>
          </p:cNvPr>
          <p:cNvCxnSpPr/>
          <p:nvPr/>
        </p:nvCxnSpPr>
        <p:spPr>
          <a:xfrm>
            <a:off x="812800" y="407482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C24F16-C44E-459A-7085-2468C3B19B2B}"/>
              </a:ext>
            </a:extLst>
          </p:cNvPr>
          <p:cNvSpPr txBox="1"/>
          <p:nvPr/>
        </p:nvSpPr>
        <p:spPr>
          <a:xfrm>
            <a:off x="812800" y="418912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“2 + 2 = 4”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AEA125E-7A54-C28A-1992-DCF184EBCFF2}"/>
              </a:ext>
            </a:extLst>
          </p:cNvPr>
          <p:cNvSpPr txBox="1"/>
          <p:nvPr/>
        </p:nvSpPr>
        <p:spPr>
          <a:xfrm>
            <a:off x="812800" y="449436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“O Brasil fica na América do Sul”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B056E8-4B33-CFE5-FB8E-B80D3D8F6CF8}"/>
              </a:ext>
            </a:extLst>
          </p:cNvPr>
          <p:cNvSpPr txBox="1"/>
          <p:nvPr/>
        </p:nvSpPr>
        <p:spPr>
          <a:xfrm>
            <a:off x="812800" y="479960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“Todo número par é divisível por 2”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020188-688D-695A-FEA0-D0581AF4AA13}"/>
              </a:ext>
            </a:extLst>
          </p:cNvPr>
          <p:cNvSpPr txBox="1"/>
          <p:nvPr/>
        </p:nvSpPr>
        <p:spPr>
          <a:xfrm>
            <a:off x="812800" y="5104840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“√2 é irracional”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A6DC6A2-14EC-DBB2-10D1-43676B965EBD}"/>
              </a:ext>
            </a:extLst>
          </p:cNvPr>
          <p:cNvSpPr txBox="1"/>
          <p:nvPr/>
        </p:nvSpPr>
        <p:spPr>
          <a:xfrm>
            <a:off x="4279900" y="385243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NÃO SÃO PROPOSIÇÕES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4DF4731-C194-0849-1BC4-9D38777E4200}"/>
              </a:ext>
            </a:extLst>
          </p:cNvPr>
          <p:cNvCxnSpPr/>
          <p:nvPr/>
        </p:nvCxnSpPr>
        <p:spPr>
          <a:xfrm>
            <a:off x="4279900" y="407482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7099AE-CA20-2CB1-7E5B-A8912B5D6FFE}"/>
              </a:ext>
            </a:extLst>
          </p:cNvPr>
          <p:cNvSpPr txBox="1"/>
          <p:nvPr/>
        </p:nvSpPr>
        <p:spPr>
          <a:xfrm>
            <a:off x="4279900" y="418912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“Feche a porta!”  — imperativo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A18C7D-EABD-2654-DCF5-288C02E2F519}"/>
              </a:ext>
            </a:extLst>
          </p:cNvPr>
          <p:cNvSpPr txBox="1"/>
          <p:nvPr/>
        </p:nvSpPr>
        <p:spPr>
          <a:xfrm>
            <a:off x="4279900" y="449436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“x &gt; 3”  — depende de x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7CB5276-6D09-B2E2-D0DA-7F917050BC98}"/>
              </a:ext>
            </a:extLst>
          </p:cNvPr>
          <p:cNvSpPr txBox="1"/>
          <p:nvPr/>
        </p:nvSpPr>
        <p:spPr>
          <a:xfrm>
            <a:off x="4279900" y="4799603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“Esta frase é falsa”  — paradoxo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5054DC-E630-CB74-A971-3CE8545A62A1}"/>
              </a:ext>
            </a:extLst>
          </p:cNvPr>
          <p:cNvSpPr txBox="1"/>
          <p:nvPr/>
        </p:nvSpPr>
        <p:spPr>
          <a:xfrm>
            <a:off x="4279900" y="5104840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“Que horas são?”  — pergunta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D4D89E0-A64D-53F7-1909-314EAB95D2E9}"/>
              </a:ext>
            </a:extLst>
          </p:cNvPr>
          <p:cNvCxnSpPr/>
          <p:nvPr/>
        </p:nvCxnSpPr>
        <p:spPr>
          <a:xfrm>
            <a:off x="7975600" y="2515298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45B97F-F7F7-C33B-9FFF-D6D5E0DEF837}"/>
              </a:ext>
            </a:extLst>
          </p:cNvPr>
          <p:cNvSpPr txBox="1"/>
          <p:nvPr/>
        </p:nvSpPr>
        <p:spPr>
          <a:xfrm>
            <a:off x="7975600" y="2642298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 TESTE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9A82DA1-FFBA-03F7-DC2E-B8A2DF5E6DE4}"/>
              </a:ext>
            </a:extLst>
          </p:cNvPr>
          <p:cNvSpPr txBox="1"/>
          <p:nvPr/>
        </p:nvSpPr>
        <p:spPr>
          <a:xfrm>
            <a:off x="7975600" y="2877392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Se você não consegue responder “isso é verdadeiro ou falso?”, não é uma proposição. Repare que ser falsa não desqualifica nada: “2 + 2 = 5” é proposição, e é falsa.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F0FD9BF-14F2-7F73-6B1B-F2213F0D02FF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9BC72EB-2A70-494E-1924-1C60479FFC4A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F3907D5-BFE8-AE59-0DF1-E93B1865E66B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275000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E6EA73-211F-AEF8-0438-D29E7E09A32E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01  ·  O QUE É UMA PROPOSIÇÃO?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4B8A7D-910E-327D-8B5A-00C3205308C5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Tabela verdade — primeiros passos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E25512-3A50-6600-28E0-7FFD145E9B14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B77885-151B-EACA-76BF-A23C1FF927BC}"/>
              </a:ext>
            </a:extLst>
          </p:cNvPr>
          <p:cNvSpPr txBox="1"/>
          <p:nvPr/>
        </p:nvSpPr>
        <p:spPr>
          <a:xfrm>
            <a:off x="812800" y="2238054"/>
            <a:ext cx="66040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A tabela verdade lista, de forma sistemática, todos os valores lógicos possíveis de uma expressão.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A901D63-1B73-9CB7-B95E-98F01C4C9427}"/>
              </a:ext>
            </a:extLst>
          </p:cNvPr>
          <p:cNvCxnSpPr/>
          <p:nvPr/>
        </p:nvCxnSpPr>
        <p:spPr>
          <a:xfrm>
            <a:off x="812800" y="3004695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54FFB1-6715-A75A-1E66-2356D968E6A4}"/>
              </a:ext>
            </a:extLst>
          </p:cNvPr>
          <p:cNvSpPr txBox="1"/>
          <p:nvPr/>
        </p:nvSpPr>
        <p:spPr>
          <a:xfrm>
            <a:off x="812800" y="3169795"/>
            <a:ext cx="6604000" cy="3139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n proposições simples  →  2ⁿ linhas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7B64D07-0FDB-1E18-E095-88527FDF0738}"/>
              </a:ext>
            </a:extLst>
          </p:cNvPr>
          <p:cNvCxnSpPr/>
          <p:nvPr/>
        </p:nvCxnSpPr>
        <p:spPr>
          <a:xfrm>
            <a:off x="812800" y="3648827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A26821E-7BB3-5A28-6B57-822C1CEBBD46}"/>
              </a:ext>
            </a:extLst>
          </p:cNvPr>
          <p:cNvSpPr txBox="1"/>
          <p:nvPr/>
        </p:nvSpPr>
        <p:spPr>
          <a:xfrm>
            <a:off x="812800" y="3902827"/>
            <a:ext cx="312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1 VARIÁVEL — 2 LINHAS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3C4BAEB-6C6A-CB67-276E-928492FC1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46107"/>
              </p:ext>
            </p:extLst>
          </p:nvPr>
        </p:nvGraphicFramePr>
        <p:xfrm>
          <a:off x="812800" y="4137921"/>
          <a:ext cx="1016000" cy="86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427894623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7794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7069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312557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9127042D-E033-C545-7175-CF6F18DF0614}"/>
              </a:ext>
            </a:extLst>
          </p:cNvPr>
          <p:cNvSpPr txBox="1"/>
          <p:nvPr/>
        </p:nvSpPr>
        <p:spPr>
          <a:xfrm>
            <a:off x="4292600" y="3902827"/>
            <a:ext cx="312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2 VARIÁVEIS — 4 LINHAS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C54C2185-2335-535F-76DC-60FDD6F01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96959"/>
              </p:ext>
            </p:extLst>
          </p:nvPr>
        </p:nvGraphicFramePr>
        <p:xfrm>
          <a:off x="4292600" y="4137921"/>
          <a:ext cx="152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9075203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1137948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0188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616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7686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49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159167"/>
                  </a:ext>
                </a:extLst>
              </a:tr>
            </a:tbl>
          </a:graphicData>
        </a:graphic>
      </p:graphicFrame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1DEC41D-9F40-F0BC-745A-3884CC57A5A8}"/>
              </a:ext>
            </a:extLst>
          </p:cNvPr>
          <p:cNvCxnSpPr/>
          <p:nvPr/>
        </p:nvCxnSpPr>
        <p:spPr>
          <a:xfrm>
            <a:off x="7975600" y="2238054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07DF8FA-5210-BCA6-E8A0-8FA21A6E29B3}"/>
              </a:ext>
            </a:extLst>
          </p:cNvPr>
          <p:cNvSpPr txBox="1"/>
          <p:nvPr/>
        </p:nvSpPr>
        <p:spPr>
          <a:xfrm>
            <a:off x="7975600" y="2365054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COMO MONTAR SEM ERRAR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9C5C300-15FC-04EE-15FF-1089D3129C71}"/>
              </a:ext>
            </a:extLst>
          </p:cNvPr>
          <p:cNvSpPr txBox="1"/>
          <p:nvPr/>
        </p:nvSpPr>
        <p:spPr>
          <a:xfrm>
            <a:off x="7975600" y="2600148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Preencha a coluna mais à direita alternando V e F de um em um; a coluna seguinte, de dois em dois; a próxima, de quatro em quatro. É mecânico e nenhuma combinação fica de fora.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5C13C16-7C2A-0ECE-D8F8-49A69E8F11D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CAAB7C1-ED58-31D9-06D7-AC606A2C4D01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FC12E7-E9B7-E8EA-CF0E-DE4ED1D16AB5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3234824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Microsoft Office PowerPoint</Application>
  <PresentationFormat>Widescreen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2026-09-23T16:27:23Z</dcterms:created>
  <dcterms:modified xsi:type="dcterms:W3CDTF">2026-09-23T16:28:23Z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2026-09-23T16:27:23Z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fbce0939-2f8a-4427-9526-8c5021752a3c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