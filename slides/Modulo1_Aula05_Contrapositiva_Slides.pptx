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28.603" v="8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8.489" v="2" actId="947"/>
        <pc:sldMkLst>
          <pc:docMk/>
          <pc:sldMk cId="1479728899" sldId="256"/>
        </pc:sldMkLst>
      </pc:sldChg>
      <pc:sldChg chg="modNotes">
        <pc:chgData name="Gabriela do Couto Fonseca" userId="f73f3f1e-5e1c-47a9-aa2d-ab4ab106ce0b" providerId="ADAL" clId="{36832870-9FEF-437A-81DC-AEE05E3FC80B}" dt="2026-09-23T16:28:28.548" v="5" actId="947"/>
        <pc:sldMkLst>
          <pc:docMk/>
          <pc:sldMk cId="1944750027" sldId="257"/>
        </pc:sldMkLst>
      </pc:sldChg>
      <pc:sldChg chg="modNotes">
        <pc:chgData name="Gabriela do Couto Fonseca" userId="f73f3f1e-5e1c-47a9-aa2d-ab4ab106ce0b" providerId="ADAL" clId="{36832870-9FEF-437A-81DC-AEE05E3FC80B}" dt="2026-09-23T16:28:28.603" v="8" actId="947"/>
        <pc:sldMkLst>
          <pc:docMk/>
          <pc:sldMk cId="196023041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2E1E-ADAA-469E-99E3-3639B51A313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8EE9D-C7DD-4981-B226-A4D0097F5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46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Esta aula é curta e tem um retorno desproporcional. A contrapositiva é uma daquelas ideias que parecem só um rearranjo de símbolos e que, na prática, transformam demonstração difícil em demonstração fácil. No Módulo 2 ela vira uma técnica com nome próprio.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8EE9D-C7DD-4981-B226-A4D0097F572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604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contrapositiva de P implica Q é: não Q implica não P. Você nega os dois lados e inverte o sentido da seta.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o resultado central é que essas duas formas são logicamente equivalentes. Não parecidas, não quase iguais: equivalentes. Olha as duas últimas colunas da tabela — elas coincidem linha a linha, nas quatro combinações. Provar uma é exatamente provar a outra.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intuição fica clara com chuva. Se chove, a rua molha. A contrapositiva é: se a rua não está molhada, então não está chovendo. É a mesma informação, vista de trás para frente. E repara que isso é genuinamente útil: se eu olho pela janela e vejo a rua seca, eu já sei que não está chovendo, sem precisar procurar nuvem.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Em economia isso aparece o tempo todo. Se o Banco Central sobe os juros, a inflação cai é equivalente a se a inflação não caiu, então o Banco Central não subiu os juros. A segunda frase soa mais forte, mais acusatória — mas do ponto de vista lógico ela não afirma nada além da primeira.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agora o aviso mais importante da aula. Duas outras construções parecem contrapositiva e não são.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recíproca troca a ordem sem negar: se a inflação caiu, então o Banco Central subiu os juros. Isso é uma afirmação diferente, e provavelmente falsa — a inflação pode cair por safra boa, por câmbio, por recessão.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inversa nega sem trocar a ordem: se o Banco Central não subiu os juros, a inflação não caiu. Também diferente, também provavelmente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Só a contrapositiva, que faz as duas coisas ao mesmo tempo — nega e inverte —, preserva o conteúdo. Uma só das operações não basta.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8EE9D-C7DD-4981-B226-A4D0097F57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56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Tudo bem, as duas formas são equivalentes. E daí? Daí que às vezes uma delas é muito mais fácil de provar que a outra — e você pode escolher.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Olha o exemplo. Queremos provar: se n ao quadrado é par, então n é par.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Tenta pelo caminho direto. Você começa sabendo que n ao quadrado é par, ou seja, que n ao quadrado é igual a dois vezes alguma coisa. E agora? Como você extrai daí uma informação sobre o n sozinho? Teria que tirar raiz quadrada, e raiz quadrada de número par não tem forma nenhuma que ajude. O caminho trava.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 pela contrapositiva. Ela diz: se n é ímpar, então n ao quadrado é ímpar. E essa você resolve no automático. N ímpar significa n igual a dois k mais um. Eleva ao quadrado: quatro k ao quadrado, mais quatro k, mais um. Põe o dois em evidência nos dois primeiros termos e você tem dois vezes alguma coisa, mais um. Ímpar. Acabou.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diferença entre travar e resolver em duas linhas foi só a escolha de qual das duas formas equivalentes atacar.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regra de bolso: quando a conclusão que você quer alcançar tem uma negação dentro dela — n é par é, no fundo, n não é ímpar — ou quando você olha para a hipótese e não vê por onde começar, escreva a contrapositiva antes de insistir. Leva dez segundos e às vezes resolve o problema inteiro.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No Módulo 2 isso vira uma das quatro técnicas oficiais de demonstração. Aqui você já sabe por que ela funciona: porque as duas formas são a mesma afirmação.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8EE9D-C7DD-4981-B226-A4D0097F572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62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920D5-1193-0018-CDF9-1745C6FE3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AB362D-04DE-C757-6087-12A4B3238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F89481-1B52-0550-4136-AE814320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6A381A-AAA5-162A-494E-CC270292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3EA359-EB42-7206-E92C-00506872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01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D15A0-5B64-FE49-1B3D-432C1093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6F1126-501A-CE58-185F-104939D8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295D0F-C70E-BF91-E2D9-F2574E04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EF45F8-50DE-6245-99DE-6FB4A9D3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30F49-01B1-0306-4F31-3F7CEAF3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88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62866-E510-F213-BA5D-2834AD15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8B9489-8279-DED3-FA0C-CE8A9CB64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6E14BF-5C38-23A0-084B-9D893786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6E30FA-E2BA-5DBD-4582-029622EDB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84B801-532F-839E-75B5-0D7097A4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65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97DE7-7527-5350-59F8-41AC8D67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B5CBD8-AA2C-BC3B-E150-56A299371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F40545-C9DD-7066-9DF7-A6777B75C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829C55-7873-DABE-4B4F-90C180D1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070CA9-E0D3-D22C-F146-B2EC49A9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470B4E-238E-68B2-3761-1118568A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60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A5CAA-5999-8123-BD76-33736B0B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E00081-69BE-A1DE-C402-E79A8C71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9FA315-0013-ED6D-40A5-4A31BF213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2A2768-719D-CA3A-7212-72D300B23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E0A0AE-5BD5-5AC7-C1DA-9BD76C61D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767C04-DDD1-5EB6-BFB1-A72F42D8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2B22D27-0442-9ED5-6708-FCEBDAA5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B9831F9-D05F-336C-A7E3-B30345CE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68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B3F48-35BA-0692-011B-5F5B669C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3BD622-D01B-EA33-1D80-2F7FFDC4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D2F7E1-5F3E-3D97-37AB-FF44B5F9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A068A2-A678-9130-7B3B-69519B5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90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B6D121-8127-9A5D-7D9A-E600F089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586407-A25D-899D-8B5E-D7CB8E27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C28F96-15C5-B4AE-95A8-C96B5169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28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8FEAE-0C63-5D0B-2C6A-8D5B3CF0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E58658-A55D-2327-B685-863A4547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1966BF-12DB-F40B-76D7-91B840DAB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66F4EC-CF57-AEB1-072A-233FEFB15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D32F5E-E45F-7042-38A3-BE9C5510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D9AB7B-C316-2410-6171-C0A77723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80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BB357-8E85-6100-4C57-92C61357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5FDD27-4DC9-97E5-4AD3-04F45974E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24DDD8-E8B4-7CF9-FEE1-EDDC6544B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E28D35-E9E7-3506-E6F9-0961E474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8D4A2A-3900-88CD-6365-0361C80F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40B0A1-2CB2-EC4D-AB6F-CE7DB181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3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847F3-F1EB-5662-9FDB-3EE0A1A4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4E8E98-C6C7-8721-85E0-F410C134F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9BD0BD-8023-C664-6C78-42DB5D84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07433-E518-BB8B-D843-7D8D44D7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024531-2462-FC75-C425-B0C293AE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08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10B241-7D06-5D73-02A5-1AF08A1B0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AA8616-229D-D037-074B-9F5E1D2C2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FCCEA0-43DC-62C6-B203-2B1825A47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0F9D1F-16E1-231E-149C-C8701D9B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1C5351-44A7-9C25-0FA6-BE27F09D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4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0F442C-30BF-EA73-21D5-DD6D7D9C5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A920ED-7591-813A-919F-E003C2380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F7A889-2422-3785-8A87-8701F6A4F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9D7F5-FF58-448E-8EDF-4DCACCC3ED1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EB271B-5F6B-EC42-8938-897F8F12E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99EA42-690D-6B10-5046-C40ACB9D4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2F976-0477-4C49-99BC-D99D3B30FA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28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F9FEB7-EDAB-2627-7FFA-DB630C9180E2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4635B1-6EA9-CF6E-6B93-5D6F1891181A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A forma contrapositiva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D3B65A-F1AB-48C5-02DD-82AF9A893134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DAA5D8-078B-760A-6FCF-35B520B5510D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Uma das equivalências mais úteis da lógica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994E7D2-8889-30BE-401C-CEA887178305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F2E021-846D-24D0-9AC2-6CAAC6E15BA8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C2424E-8AFF-E88F-1906-83785F3B4A04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72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2A75C0-86B8-4A1B-CC43-582D98B3662B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05  ·  A FORMA CONTRAPOSITIVA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0D2CD5-17DC-D8B9-51AA-6319C7E1D435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P → Q  ≡  ¬Q → ¬P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F83FCB-EB2B-EA02-7D38-9860E71EB927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66CDF01-7918-1BA3-20A0-AE927DD7C79E}"/>
              </a:ext>
            </a:extLst>
          </p:cNvPr>
          <p:cNvCxnSpPr/>
          <p:nvPr/>
        </p:nvCxnSpPr>
        <p:spPr>
          <a:xfrm>
            <a:off x="812800" y="2494869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D813A0-1FAF-22C9-0147-EDCE3AA24AC1}"/>
              </a:ext>
            </a:extLst>
          </p:cNvPr>
          <p:cNvSpPr txBox="1"/>
          <p:nvPr/>
        </p:nvSpPr>
        <p:spPr>
          <a:xfrm>
            <a:off x="812800" y="2659969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P → Q     ≡     ¬Q → ¬P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947EC76-648D-A01D-98B9-1731AABD81C5}"/>
              </a:ext>
            </a:extLst>
          </p:cNvPr>
          <p:cNvCxnSpPr/>
          <p:nvPr/>
        </p:nvCxnSpPr>
        <p:spPr>
          <a:xfrm>
            <a:off x="812800" y="3125921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5DFBC7B-C491-86E6-7F7D-861AC3B51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83904"/>
              </p:ext>
            </p:extLst>
          </p:nvPr>
        </p:nvGraphicFramePr>
        <p:xfrm>
          <a:off x="812800" y="3379922"/>
          <a:ext cx="660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2529">
                  <a:extLst>
                    <a:ext uri="{9D8B030D-6E8A-4147-A177-3AD203B41FA5}">
                      <a16:colId xmlns:a16="http://schemas.microsoft.com/office/drawing/2014/main" val="869246068"/>
                    </a:ext>
                  </a:extLst>
                </a:gridCol>
                <a:gridCol w="1262529">
                  <a:extLst>
                    <a:ext uri="{9D8B030D-6E8A-4147-A177-3AD203B41FA5}">
                      <a16:colId xmlns:a16="http://schemas.microsoft.com/office/drawing/2014/main" val="1141959443"/>
                    </a:ext>
                  </a:extLst>
                </a:gridCol>
                <a:gridCol w="1942353">
                  <a:extLst>
                    <a:ext uri="{9D8B030D-6E8A-4147-A177-3AD203B41FA5}">
                      <a16:colId xmlns:a16="http://schemas.microsoft.com/office/drawing/2014/main" val="496892494"/>
                    </a:ext>
                  </a:extLst>
                </a:gridCol>
                <a:gridCol w="2136588">
                  <a:extLst>
                    <a:ext uri="{9D8B030D-6E8A-4147-A177-3AD203B41FA5}">
                      <a16:colId xmlns:a16="http://schemas.microsoft.com/office/drawing/2014/main" val="3098585136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 → 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¬Q → ¬P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41285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207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489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8039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10042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1896D8F8-343A-7007-D680-CE4AEC98055F}"/>
              </a:ext>
            </a:extLst>
          </p:cNvPr>
          <p:cNvSpPr txBox="1"/>
          <p:nvPr/>
        </p:nvSpPr>
        <p:spPr>
          <a:xfrm>
            <a:off x="812800" y="5107122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As duas colunas coincidem linha a linha — são logicamente equivalentes.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3B88877-A423-D9B8-91E9-5CB04CB231DB}"/>
              </a:ext>
            </a:extLst>
          </p:cNvPr>
          <p:cNvCxnSpPr/>
          <p:nvPr/>
        </p:nvCxnSpPr>
        <p:spPr>
          <a:xfrm>
            <a:off x="7975600" y="2494869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6BE0B87-8D80-56A3-8931-68C04DF7C94A}"/>
              </a:ext>
            </a:extLst>
          </p:cNvPr>
          <p:cNvSpPr txBox="1"/>
          <p:nvPr/>
        </p:nvSpPr>
        <p:spPr>
          <a:xfrm>
            <a:off x="7975600" y="2621869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LEITURA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B944BF-9DC2-44E1-BA81-42D75341A2D3}"/>
              </a:ext>
            </a:extLst>
          </p:cNvPr>
          <p:cNvSpPr txBox="1"/>
          <p:nvPr/>
        </p:nvSpPr>
        <p:spPr>
          <a:xfrm>
            <a:off x="7975600" y="2856963"/>
            <a:ext cx="3403600" cy="1256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“Se chove, a rua molha”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é a mesma afirmação que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“Se a rua não está molhada, não está chovendo”.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34BE02-913A-74DE-C64A-93B358C80FBE}"/>
              </a:ext>
            </a:extLst>
          </p:cNvPr>
          <p:cNvSpPr txBox="1"/>
          <p:nvPr/>
        </p:nvSpPr>
        <p:spPr>
          <a:xfrm>
            <a:off x="7975600" y="4392926"/>
            <a:ext cx="34036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Cuidado: a recíproca (Q → P) e a inversa (¬P → ¬Q) NÃO são equivalentes à original.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EC28157-B596-1918-29A6-B8DD4805C2B3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04FF95D-A802-CC45-93D5-AB8A8DC19418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93A2293-0032-500A-B7CA-BD2490E8DAE6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94475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800263F-F539-538D-EA9A-87CA600F51DF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05  ·  A FORMA CONTRAPOSITIVA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67B0D0-8E1F-CDDE-EDF3-7A958CD850C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Por que usar a contraposição?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38B241-B4AF-7F07-12F2-179CBB6209DB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443D1C-1FD4-0DB9-9706-39DF20EC061F}"/>
              </a:ext>
            </a:extLst>
          </p:cNvPr>
          <p:cNvSpPr txBox="1"/>
          <p:nvPr/>
        </p:nvSpPr>
        <p:spPr>
          <a:xfrm>
            <a:off x="812800" y="261677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FORMA ORIGINAL — DIFÍCIL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920CB37-40C2-257E-8E2E-C0FE59FE23C2}"/>
              </a:ext>
            </a:extLst>
          </p:cNvPr>
          <p:cNvCxnSpPr/>
          <p:nvPr/>
        </p:nvCxnSpPr>
        <p:spPr>
          <a:xfrm>
            <a:off x="812800" y="283916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B67658-A6B3-F8A2-E196-31DED51D2E71}"/>
              </a:ext>
            </a:extLst>
          </p:cNvPr>
          <p:cNvSpPr txBox="1"/>
          <p:nvPr/>
        </p:nvSpPr>
        <p:spPr>
          <a:xfrm>
            <a:off x="812800" y="295346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“Se n² é par, então n é par.”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004EF2-1D77-B5E5-7372-93B3D62DA56A}"/>
              </a:ext>
            </a:extLst>
          </p:cNvPr>
          <p:cNvSpPr txBox="1"/>
          <p:nvPr/>
        </p:nvSpPr>
        <p:spPr>
          <a:xfrm>
            <a:off x="812800" y="3258706"/>
            <a:ext cx="3136900" cy="4728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Começamos com n² par. Como deduzir daí que n é par? Não é nada óbvio.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D262E2-2042-0447-3BE0-D69053FA0CC7}"/>
              </a:ext>
            </a:extLst>
          </p:cNvPr>
          <p:cNvSpPr txBox="1"/>
          <p:nvPr/>
        </p:nvSpPr>
        <p:spPr>
          <a:xfrm>
            <a:off x="4279900" y="261677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CONTRAPOSITIVA — FÁCIL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C890EA-79C3-39B9-1FA8-B305F2E83597}"/>
              </a:ext>
            </a:extLst>
          </p:cNvPr>
          <p:cNvCxnSpPr/>
          <p:nvPr/>
        </p:nvCxnSpPr>
        <p:spPr>
          <a:xfrm>
            <a:off x="4279900" y="283916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6A9B31-973D-CC40-ED5B-BB7D23C95D2D}"/>
              </a:ext>
            </a:extLst>
          </p:cNvPr>
          <p:cNvSpPr txBox="1"/>
          <p:nvPr/>
        </p:nvSpPr>
        <p:spPr>
          <a:xfrm>
            <a:off x="4279900" y="295346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“Se n é ímpar, então n² é ímpar.”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08A302-7B4A-5F17-038E-3D017961E990}"/>
              </a:ext>
            </a:extLst>
          </p:cNvPr>
          <p:cNvSpPr txBox="1"/>
          <p:nvPr/>
        </p:nvSpPr>
        <p:spPr>
          <a:xfrm>
            <a:off x="4279900" y="32587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Se n = 2k + 1, então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D843C2E-DC1E-384E-BFFC-3B2A6F1A4594}"/>
              </a:ext>
            </a:extLst>
          </p:cNvPr>
          <p:cNvSpPr txBox="1"/>
          <p:nvPr/>
        </p:nvSpPr>
        <p:spPr>
          <a:xfrm>
            <a:off x="4279900" y="356394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n² = 4k² + 4k + 1 = 2(2k² + 2k) + 1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780C286-B5FE-30DC-6DED-B9C55D3FF914}"/>
              </a:ext>
            </a:extLst>
          </p:cNvPr>
          <p:cNvSpPr txBox="1"/>
          <p:nvPr/>
        </p:nvSpPr>
        <p:spPr>
          <a:xfrm>
            <a:off x="4279900" y="3869180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que é ímpar. ∎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441CE78-4995-2F73-B512-9912B827ED08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C51F4FA-4BCE-D71D-2225-1B0D58843079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REGRA DE BOLSO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0A7A9A3-F509-D494-D945-B4A199A9A8F7}"/>
              </a:ext>
            </a:extLst>
          </p:cNvPr>
          <p:cNvSpPr txBox="1"/>
          <p:nvPr/>
        </p:nvSpPr>
        <p:spPr>
          <a:xfrm>
            <a:off x="7975600" y="2978869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Quando a conclusão Q contém uma negação, ou quando partir de P não leva a lugar nenhum, tente a contrapositiva antes de insistir.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FFA59A2-5944-3463-A524-A3FED1B5317D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289E000-0EF7-2B0E-4ACD-CBC7E4729138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15AF0A2-C1C6-6898-965E-6D2B90B67FC3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960230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Widescreen</PresentationFormat>
  <Paragraphs>83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2026-09-23T16:27:43Z</dcterms:created>
  <dcterms:modified xsi:type="dcterms:W3CDTF">2026-09-23T16:28:28Z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2026-09-23T16:27:43Z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b9fb1fb4-a01f-4304-9dab-253307a57a82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