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2" v="11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31.737" v="2" actId="947"/>
        <pc:sldMkLst>
          <pc:docMk/>
          <pc:sldMk cId="293744679" sldId="256"/>
        </pc:sldMkLst>
      </pc:sldChg>
      <pc:sldChg chg="modNotes">
        <pc:chgData name="Gabriela do Couto Fonseca" userId="f73f3f1e-5e1c-47a9-aa2d-ab4ab106ce0b" providerId="ADAL" clId="{36832870-9FEF-437A-81DC-AEE05E3FC80B}" dt="2026-09-23T16:28:31.875" v="5" actId="947"/>
        <pc:sldMkLst>
          <pc:docMk/>
          <pc:sldMk cId="1530471079" sldId="257"/>
        </pc:sldMkLst>
      </pc:sldChg>
      <pc:sldChg chg="modNotes">
        <pc:chgData name="Gabriela do Couto Fonseca" userId="f73f3f1e-5e1c-47a9-aa2d-ab4ab106ce0b" providerId="ADAL" clId="{36832870-9FEF-437A-81DC-AEE05E3FC80B}" dt="2026-09-23T16:28:31.932" v="8" actId="947"/>
        <pc:sldMkLst>
          <pc:docMk/>
          <pc:sldMk cId="429944407" sldId="258"/>
        </pc:sldMkLst>
      </pc:sldChg>
      <pc:sldChg chg="modNotes">
        <pc:chgData name="Gabriela do Couto Fonseca" userId="f73f3f1e-5e1c-47a9-aa2d-ab4ab106ce0b" providerId="ADAL" clId="{36832870-9FEF-437A-81DC-AEE05E3FC80B}" dt="2026-09-23T16:28:32" v="11" actId="947"/>
        <pc:sldMkLst>
          <pc:docMk/>
          <pc:sldMk cId="3833556387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410F8-9E8B-4A82-B2F6-86DE41FE40BC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9C212-9531-4C33-B0AA-5A99AB03F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47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Última aula do módulo, e ela tem um papel específico: mostrar que você aprendeu mais do que imagina. Conjuntos costumam ser apresentados como um assunto à parte, com símbolos próprios. Vamos ver que não são. É a mesma lógica das últimas seis aulas, escrita com outra caneta.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C212-9531-4C33-B0AA-5A99AB03FE8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701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Um conjunto é uma coleção bem-definida de objetos. Os símbolos de pertence e não pertence dizem se um objeto está dentro ou fora.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Existem duas maneiras de definir um conjunto, e a diferença entre elas é o ponto desta aula.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primeira é por extensão: você simplesmente lista os elementos. A igual a um, dois, três, quatro. Funciona bem para conjuntos pequenos e finitos, e não serve para muito mais que isso.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segunda é por compreensão: em vez de listar, você descreve a propriedade. A é o conjunto dos x reais tais que x é maior que zero. Aqui está a conexão. O que vem depois dos dois-pontos é um predicado — é literalmente o P de x da aula anterior. O conjunto passa a ser definido por uma condição lógica.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isso não é uma curiosidade de notação. É o que permite falar de conjuntos infinitos sem listar nada. O conjunto dos números pares tem infinitos elementos, e você acabou de defini-lo por completo com quatro palavras.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Em economia, isso é o pão de cada dia. O conjunto orçamentário é o conjunto das cestas de consumo x tais que o preço vezes a quantidade não passa da renda. O conjunto de alocações viáveis é definido por uma restrição. Ninguém lista essas coisas — todas são definidas por predicado.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 aviso: bem-definida, na definição de conjunto, não é enfeite. A propriedade precisa decidir com clareza quem entra e quem fica de fora. O conjunto dos números grandes não é conjunto, porque grande não decide nada. É o mesmo critério da Aula 01: sem valor de verdade definido, não há proposição — e aqui, não há conjunto.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C212-9531-4C33-B0AA-5A99AB03FE8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532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Olha a terceira coluna desta tabela. Ela é a aula inteira.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união de A com B é o conjunto dos x que pertencem a A ou pertencem a B. O conectivo é o ou. A interseção é o conjunto dos x que pertencem a A e pertencem a B — o conectivo é o e. A diferença junta um e com uma negação: está em A e não está em B. E o complemento é negação pura: os x que não pertencem a 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Não existe operação de conjunto nenhuma nessa lista que não seja um conectivo lógico disfarçado. União é ou. Interseção é e. Complemento é não. Os desenhos de bolinhas que você fez no ensino médio eram tabelas verdade com outra roupa.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tem duas relações na lateral que valem ouro para o Módulo 2.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primeira: dizer que A está contido em B é exatamente dizer que para todo x, se x pertence a A então x pertence a B. Contenção é uma implicação dentro de um para todo. As duas ideias da Aula 04 e da Aula 06, juntas numa linha.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segunda: dois conjuntos são iguais quando cada um está contido no outro. E isso quer dizer que provar que dois conjuntos são iguais é provar duas implicações — a ida e a volta. Exatamente o que a gente viu sobre equivalência.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Se você já percebeu que isso significa que provar A igual a B e provar P se e somente se Q são o mesmo trabalho com nomes diferentes, então o módulo cumpriu o que prometeu.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C212-9531-4C33-B0AA-5A99AB03FE8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747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E aqui o módulo fecha o círculo.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Lá na Aula 02 a gente viu que negar um e produz um ou. Na Aula 03, que negar um ou produz um e. Eu prometi a prova para hoje. Ela é quase decepcionante de tão curta.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Primeira Lei, em conjuntos: o complemento da interseção de A com B é igual à união dos complementos. Por quê? Pensa no que significa estar fora da interseção. Estar na interseção é estar nos dois conjuntos. Então estar fora é falhar em pelo menos um deles — ou você não está em A, ou você não está em B. E isso é exatamente a união dos complementos.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Mas repara no que eu acabei de fazer. Eu troquei complemento por negação, interseção por e, união por ou, e reescrevi palavra por palavra a mesma frase que usei na Aula 02 para a inflação e o desemprego. A demonstração em conjuntos é a demonstração em lógica, porque são a mesma coisa.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Segunda Lei funciona igual. O complemento da união é a interseção dos complementos: estar fora de A ou B é estar fora de A e fora de B, sem escapatória.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é com isso que eu quero te deixar. Você não aprendeu lógica e depois aprendeu conjuntos. Você aprendeu uma estrutura só, que aparece com dois conjuntos de símbolos — e vai aparecer com um terceiro quando você chegar em probabilidade, onde união vira ou, interseção vira e, e complemento vira o evento não acontecer.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Até aqui a gente montou a linguagem. No Módulo 2 a gente vai usá-la para aquilo que ela existe: construir demonstrações e saber reconhecer quando uma demonstração está certa. Te vejo lá.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9C212-9531-4C33-B0AA-5A99AB03FE8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932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152BF-979A-AC2E-5C87-EAE2AB172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765259-5CCD-1085-4971-0A0DFA1A3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F38341-181B-B3C8-2D4E-B05547EB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70DFAD-52A2-2ECB-692E-8CE84482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BC7DA5-033E-9B38-F239-42C758D5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46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985F-0A12-0938-742C-F18507FF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8C6B68-4DBB-A1D6-246B-BF8549BF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D2C6A9-497B-39CC-09DC-E6A3EEE2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886CA4-5805-9282-A079-8D00E54D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0AD1F-4929-F967-8690-ECBE3AC2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36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35817-98C7-3DC6-3AFF-38F50CB0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E23070-F185-E849-D73F-5F98F4EB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9649E0-FF13-F284-F684-06AA627D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DFE988-40B7-655B-DEF3-D1EE9B5D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187EE-67CF-FF60-4B56-840998D8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18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B0208-5360-8167-F76F-063E2BBF0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DF6A97-F7AD-C88A-68D9-0E7098179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9B5428-2D42-0396-EFD9-82F40C224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2E7E5A-F36B-24C6-4C33-6CD7EBAA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99BA47-7E13-BCBC-0417-A4336C10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0855AF-DA6C-7319-A1E4-B458A126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65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E4B4C-E340-9FBB-7112-2AA0315E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759868-9C7B-850C-C36F-CAF82DF68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4022DE-609B-8C4D-3294-590640A3A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33C5C0-57E9-DA4C-BC3D-ADA6BB3A1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F155E1-5F8D-5534-348E-16575B9B1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F117F3-4257-60D6-75C1-800D1BB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B08E89-3C70-7924-FC2D-1AF0DF80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BF96A3-9590-1A61-0E06-D7C42B26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34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8FB19-D557-5047-F48C-EACC623B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0A97A3-6F5E-591C-2659-74E214D2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1E9E26-E1CA-6A11-7448-CF40F4EE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638FF6-4FEF-5925-0DF0-0DF7EB24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92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33DD3D-E86F-6C71-CE70-93D1E6C0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E8FAFA-64D1-820A-EFFE-4841F1ED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E3722C-BBCF-55E7-DA0D-DBAEF642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74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CB1F1-2FC0-4EC6-8505-B66AC5D3D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FF92B7-1F0B-6E3F-4CC5-3B767E84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FDFAF3-A93B-34E5-B3B3-F0541ACD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24A8D4-0041-BF71-A315-D8A1197D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CBC712-0CA9-1659-CC3B-042A5A22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63EBBC-C79C-E77B-04FB-757B1C36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291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A6E61-820D-CD17-92C6-9FEA6F89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F6006D6-068D-C2FD-DD56-438A3EC8B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F6B141-09D7-8A93-41DA-899420197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D65406-F954-5B64-0E0F-5D8F3AC5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127B3A-3F59-F913-52A6-82A8DBA8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C8B383-ADA2-3EFA-BB51-38D1AB1B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A82D9-5442-7432-CC8D-BC1BB4EB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E9EBC7-A40C-261A-C594-85E190F94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348FC2-6EB1-F3AE-CDF1-BB18291F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2B34ED-FAE3-3A09-6A5C-205B1701B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14496-C39E-D893-515F-66C67AC8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82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121EA2-FAFF-F002-4F68-F32236C1E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7F6BF2-D754-D55A-B60A-F302BB21B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ADE2C3-D37D-D143-740C-D0110D73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9A2635-87A9-DD4F-F983-8C7AF426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6A112-5053-B80C-C829-6BA26186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9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671261F-3090-0EAE-CC9B-BBE4B91E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5E64BA-9323-14B9-E08F-8D4C6EB0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D7ACF-ABFC-1BD9-6F62-5C57BE7F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B911D-A76F-400F-821F-E3C50F9F0CF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F06C30-A706-57D1-59C0-A6515C653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5EF1E-8D63-4C54-57DE-B0AE01072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E1390-FCA0-4DD2-9A3D-8BE5BA285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27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851A35-122B-893C-6F97-A61B3FA89DFD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B9B963-5907-D661-1CDB-2DCC4168FA27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Lógica e conjuntos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3496B7-4127-4024-62AD-31A33131C2BD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30BDD3-3C1E-EC43-E395-698C65F6619B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Os conectivos lógicos na teoria dos conjuntos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5D33B77-A924-2CB0-85AA-8FF59912D83B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3A673D-CDE7-3DBF-FB62-C82061D7EE6C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D741A26-4A38-23E6-7587-93B26E44E5BA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7E0468-EEFB-2D13-BBD0-A1D5A0B788D4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07  ·  LÓGICA E CONJUNTOS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EE3652-0F18-AC52-4531-B45A5E2356E2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Conjuntos — notação e definição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AF0354-496F-3A1D-C8E2-89A8CC994258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7E25E1-1598-9A33-345F-E8DFD4732056}"/>
              </a:ext>
            </a:extLst>
          </p:cNvPr>
          <p:cNvSpPr/>
          <p:nvPr/>
        </p:nvSpPr>
        <p:spPr>
          <a:xfrm>
            <a:off x="812800" y="2546024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76F137-EDC6-91F6-FAA6-DFE849A49F4F}"/>
              </a:ext>
            </a:extLst>
          </p:cNvPr>
          <p:cNvSpPr txBox="1"/>
          <p:nvPr/>
        </p:nvSpPr>
        <p:spPr>
          <a:xfrm>
            <a:off x="990600" y="2723824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CONJUNTO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65012C-FF07-6044-B0A5-8E18012BB0E9}"/>
              </a:ext>
            </a:extLst>
          </p:cNvPr>
          <p:cNvSpPr txBox="1"/>
          <p:nvPr/>
        </p:nvSpPr>
        <p:spPr>
          <a:xfrm>
            <a:off x="990600" y="2958918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Coleção bem-definida de objetos, chamados elementos.</a:t>
            </a:r>
          </a:p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x ∈ A: “x é elemento de A”.   x ∉ A: “x não é elemento de A”.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142187-74F5-3B00-DEE1-3CCB2DD93E2A}"/>
              </a:ext>
            </a:extLst>
          </p:cNvPr>
          <p:cNvSpPr txBox="1"/>
          <p:nvPr/>
        </p:nvSpPr>
        <p:spPr>
          <a:xfrm>
            <a:off x="812800" y="3883161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POR EXTENSÃO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08C3F2A-3251-129E-66CF-6115B6620494}"/>
              </a:ext>
            </a:extLst>
          </p:cNvPr>
          <p:cNvCxnSpPr/>
          <p:nvPr/>
        </p:nvCxnSpPr>
        <p:spPr>
          <a:xfrm>
            <a:off x="812800" y="4105555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8836B0-A00C-7BD9-7ECB-858F12A561DD}"/>
              </a:ext>
            </a:extLst>
          </p:cNvPr>
          <p:cNvSpPr txBox="1"/>
          <p:nvPr/>
        </p:nvSpPr>
        <p:spPr>
          <a:xfrm>
            <a:off x="812800" y="4219855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= {1, 2, 3, 4}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EEDE79-094E-534D-977D-7215DDF9BF34}"/>
              </a:ext>
            </a:extLst>
          </p:cNvPr>
          <p:cNvSpPr txBox="1"/>
          <p:nvPr/>
        </p:nvSpPr>
        <p:spPr>
          <a:xfrm>
            <a:off x="812800" y="4525092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B = {a, e, i, o, u}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71054A8-CE16-6C6A-B3D7-691A20DDE847}"/>
              </a:ext>
            </a:extLst>
          </p:cNvPr>
          <p:cNvSpPr txBox="1"/>
          <p:nvPr/>
        </p:nvSpPr>
        <p:spPr>
          <a:xfrm>
            <a:off x="812800" y="483032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Listamos todos os elementos.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AF0D85-C946-9796-7C4F-B6D01EA86D0E}"/>
              </a:ext>
            </a:extLst>
          </p:cNvPr>
          <p:cNvSpPr txBox="1"/>
          <p:nvPr/>
        </p:nvSpPr>
        <p:spPr>
          <a:xfrm>
            <a:off x="4279900" y="3883161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POR COMPREENSÃO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B875DE7-2639-8A8B-3E06-6FB6D31FCE1C}"/>
              </a:ext>
            </a:extLst>
          </p:cNvPr>
          <p:cNvCxnSpPr/>
          <p:nvPr/>
        </p:nvCxnSpPr>
        <p:spPr>
          <a:xfrm>
            <a:off x="4279900" y="4105555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F90EF42-3B43-B9FF-557D-F742A9B302DD}"/>
              </a:ext>
            </a:extLst>
          </p:cNvPr>
          <p:cNvSpPr txBox="1"/>
          <p:nvPr/>
        </p:nvSpPr>
        <p:spPr>
          <a:xfrm>
            <a:off x="4279900" y="4219855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= {x ∈ ℝ : x &gt; 0}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A102125-F50B-C2ED-AEFA-1389F1C08AC4}"/>
              </a:ext>
            </a:extLst>
          </p:cNvPr>
          <p:cNvSpPr txBox="1"/>
          <p:nvPr/>
        </p:nvSpPr>
        <p:spPr>
          <a:xfrm>
            <a:off x="4279900" y="4525092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B = {n ∈ ℕ : n é par}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B1822F8-A3DA-4CFF-AF2B-18D87BB0D365}"/>
              </a:ext>
            </a:extLst>
          </p:cNvPr>
          <p:cNvSpPr txBox="1"/>
          <p:nvPr/>
        </p:nvSpPr>
        <p:spPr>
          <a:xfrm>
            <a:off x="4279900" y="4830329"/>
            <a:ext cx="3136900" cy="4728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Descrevemos a propriedade que os elementos satisfazem.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2D97BF5-77EA-6647-7A46-F47EF517D094}"/>
              </a:ext>
            </a:extLst>
          </p:cNvPr>
          <p:cNvCxnSpPr/>
          <p:nvPr/>
        </p:nvCxnSpPr>
        <p:spPr>
          <a:xfrm>
            <a:off x="7975600" y="2546024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454CA66-E1F3-3C86-F0F3-D27A5C058529}"/>
              </a:ext>
            </a:extLst>
          </p:cNvPr>
          <p:cNvSpPr txBox="1"/>
          <p:nvPr/>
        </p:nvSpPr>
        <p:spPr>
          <a:xfrm>
            <a:off x="7975600" y="2673024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ONDE ENTRA A LÓGICA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E16490-2214-491A-5C36-5E7678718324}"/>
              </a:ext>
            </a:extLst>
          </p:cNvPr>
          <p:cNvSpPr txBox="1"/>
          <p:nvPr/>
        </p:nvSpPr>
        <p:spPr>
          <a:xfrm>
            <a:off x="7975600" y="2908118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Na notação por compreensão, o que vem depois dos dois-pontos é um predicado — exatamente o P(x) da aula anterior.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64BF142-48DF-D500-4658-DDEB446E9B49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585DF6D-C15F-2091-A62F-96476F6997BB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65A48FC-C887-8947-DB6E-260FAB792EE1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53047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3DF199-96F7-DAB4-586D-0F73975CF11F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07  ·  LÓGICA E CONJUNTOS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C61C13-AAA9-3C5B-68E3-E73F3249DE98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Operações entre conjuntos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0A818DE-85F3-356A-30C6-758A7D0E692A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5E87A76-7E8B-2ED0-753C-366482F61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18262"/>
              </p:ext>
            </p:extLst>
          </p:nvPr>
        </p:nvGraphicFramePr>
        <p:xfrm>
          <a:off x="812800" y="2616775"/>
          <a:ext cx="6604000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651402566"/>
                    </a:ext>
                  </a:extLst>
                </a:gridCol>
                <a:gridCol w="1080655">
                  <a:extLst>
                    <a:ext uri="{9D8B030D-6E8A-4147-A177-3AD203B41FA5}">
                      <a16:colId xmlns:a16="http://schemas.microsoft.com/office/drawing/2014/main" val="1224716023"/>
                    </a:ext>
                  </a:extLst>
                </a:gridCol>
                <a:gridCol w="2041237">
                  <a:extLst>
                    <a:ext uri="{9D8B030D-6E8A-4147-A177-3AD203B41FA5}">
                      <a16:colId xmlns:a16="http://schemas.microsoft.com/office/drawing/2014/main" val="2700232170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345568705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OPERAÇÃO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SÍMBOLO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DEFINIÇÃO LÓGICA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LEITURA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6860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União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 ∪ B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x ∈ A ∨ x ∈ B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“x em A ou em B”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7596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Interseção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 ∩ B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x ∈ A ∧ x ∈ B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“x em A e em B”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44129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Diferença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 \ B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x ∈ A ∧ x ∉ B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“x em A mas não em B”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083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Complemento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Aᶜ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x ∉ 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“x fora de A”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744618"/>
                  </a:ext>
                </a:extLst>
              </a:tr>
            </a:tbl>
          </a:graphicData>
        </a:graphic>
      </p:graphicFrame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2BE9078-6FA7-32E3-419E-FC0DC7D1FF3D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E01991-C78A-52B1-4805-3F78BFF5CBD0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CONTENÇÃO E IGUALDADE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0ADEEB-0813-3102-F382-E9C913BA496E}"/>
              </a:ext>
            </a:extLst>
          </p:cNvPr>
          <p:cNvSpPr txBox="1"/>
          <p:nvPr/>
        </p:nvSpPr>
        <p:spPr>
          <a:xfrm>
            <a:off x="7975600" y="2978869"/>
            <a:ext cx="3403600" cy="1766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⊆ B  ↔  ∀x (x ∈ A → x ∈ B)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A = B  ↔  (A ⊆ B) ∧ (B ⊆ A)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Provar igualdade de conjuntos é provar duas implicações — a ida e a volta, como na equivalência.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9C90E6B-E54A-E044-F8D7-232287A342F1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84C78B4-4F00-1F01-481D-05F6189318E6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FABB06-96C9-D526-02EE-337A7AC2B2BD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42994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23E822D-F31C-2267-8B42-9DAE3E6B595A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07  ·  LÓGICA E CONJUNTOS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497FCE-E842-33D0-969D-B9D354DCE49F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Leis de De Morgan — lógica e conjuntos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FA26D0-078F-E234-8397-F0B0ADE281E2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C31D0C-B974-AB9A-7FA3-1E05455681A5}"/>
              </a:ext>
            </a:extLst>
          </p:cNvPr>
          <p:cNvSpPr txBox="1"/>
          <p:nvPr/>
        </p:nvSpPr>
        <p:spPr>
          <a:xfrm>
            <a:off x="812800" y="261677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PRIMEIRA LEI DE DE MORGAN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D92C744-303C-7E5B-28BD-F62014BDD7FA}"/>
              </a:ext>
            </a:extLst>
          </p:cNvPr>
          <p:cNvCxnSpPr/>
          <p:nvPr/>
        </p:nvCxnSpPr>
        <p:spPr>
          <a:xfrm>
            <a:off x="812800" y="283916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91D430-AA4F-821A-8C2D-628111004B5E}"/>
              </a:ext>
            </a:extLst>
          </p:cNvPr>
          <p:cNvSpPr txBox="1"/>
          <p:nvPr/>
        </p:nvSpPr>
        <p:spPr>
          <a:xfrm>
            <a:off x="812800" y="295346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Lógica:      ¬(P ∧ Q) ≡ ¬P ∨ ¬Q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A82DF6-AC81-58C8-1D37-391AD363FB43}"/>
              </a:ext>
            </a:extLst>
          </p:cNvPr>
          <p:cNvSpPr txBox="1"/>
          <p:nvPr/>
        </p:nvSpPr>
        <p:spPr>
          <a:xfrm>
            <a:off x="812800" y="325870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Conjuntos:  (A ∩ B)ᶜ = Aᶜ ∪ Bᶜ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B907332-CE5D-472C-A88B-68F5F5CFD2D5}"/>
              </a:ext>
            </a:extLst>
          </p:cNvPr>
          <p:cNvSpPr txBox="1"/>
          <p:nvPr/>
        </p:nvSpPr>
        <p:spPr>
          <a:xfrm>
            <a:off x="4279900" y="2616775"/>
            <a:ext cx="3136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950" b="1" spc="200">
                <a:solidFill>
                  <a:srgbClr val="8A6A00"/>
                </a:solidFill>
                <a:latin typeface="Lora" pitchFamily="2" charset="0"/>
              </a:rPr>
              <a:t>SEGUNDA LEI DE DE MORGAN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136A395-EC1C-44B7-52C9-C694B0A20598}"/>
              </a:ext>
            </a:extLst>
          </p:cNvPr>
          <p:cNvCxnSpPr/>
          <p:nvPr/>
        </p:nvCxnSpPr>
        <p:spPr>
          <a:xfrm>
            <a:off x="4279900" y="2839169"/>
            <a:ext cx="3136900" cy="0"/>
          </a:xfrm>
          <a:prstGeom prst="line">
            <a:avLst/>
          </a:prstGeom>
          <a:ln w="19050">
            <a:solidFill>
              <a:srgbClr val="E3B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DC333D-44C8-594C-86ED-3424143DB891}"/>
              </a:ext>
            </a:extLst>
          </p:cNvPr>
          <p:cNvSpPr txBox="1"/>
          <p:nvPr/>
        </p:nvSpPr>
        <p:spPr>
          <a:xfrm>
            <a:off x="4279900" y="2953469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Lógica:      ¬(P ∨ Q) ≡ ¬P ∧ ¬Q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05C6130-A66F-127B-4A51-E514F6AE0BB6}"/>
              </a:ext>
            </a:extLst>
          </p:cNvPr>
          <p:cNvSpPr txBox="1"/>
          <p:nvPr/>
        </p:nvSpPr>
        <p:spPr>
          <a:xfrm>
            <a:off x="4279900" y="3258706"/>
            <a:ext cx="3136900" cy="229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Conjuntos:  (A ∪ B)ᶜ = Aᶜ ∩ Bᶜ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D2AEB2A7-EBA2-C3D0-D227-E59B2B9C1A1C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90EC1D-113B-AFD9-BFC5-4C9717AB66F6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MESMA ESTRUTURA, DUAS NOTAÇÕES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A97FB28-238E-B36D-37B1-29D8F3176DA9}"/>
              </a:ext>
            </a:extLst>
          </p:cNvPr>
          <p:cNvSpPr txBox="1"/>
          <p:nvPr/>
        </p:nvSpPr>
        <p:spPr>
          <a:xfrm>
            <a:off x="7975600" y="2978869"/>
            <a:ext cx="3403600" cy="1001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Negar corresponde a complementar; “e” corresponde a interseção; “ou” corresponde a união. As leis da Aula 02 e da Aula 03 reaparecem sem nenhuma alteração.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1B29802-150A-9FE4-7ED4-E14BDAD6782D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520FCCF-7818-6BF2-2FCA-5F4049701714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5798C97-418A-DF81-8B2E-B7108A12D0E6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3833556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Microsoft Office PowerPoint</Application>
  <PresentationFormat>Widescreen</PresentationFormat>
  <Paragraphs>107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2026-09-23T16:27:52Z</dcterms:created>
  <dcterms:modified xsi:type="dcterms:W3CDTF">2026-09-23T16:28:32Z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2026-09-23T16:27:52Z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16678fda-ac80-422b-b462-73208bdc8538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