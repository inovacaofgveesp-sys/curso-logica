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33945" autoAdjust="0"/>
  </p:normalViewPr>
  <p:slideViewPr>
    <p:cSldViewPr snapToGrid="0">
      <p:cViewPr varScale="1">
        <p:scale>
          <a:sx n="28" d="100"/>
          <a:sy n="28" d="100"/>
        </p:scale>
        <p:origin x="176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27.361" v="14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26.861" v="2" actId="947"/>
        <pc:sldMkLst>
          <pc:docMk/>
          <pc:sldMk cId="1978596308" sldId="256"/>
        </pc:sldMkLst>
      </pc:sldChg>
      <pc:sldChg chg="modNotes">
        <pc:chgData name="Gabriela do Couto Fonseca" userId="f73f3f1e-5e1c-47a9-aa2d-ab4ab106ce0b" providerId="ADAL" clId="{36832870-9FEF-437A-81DC-AEE05E3FC80B}" dt="2026-09-23T16:28:27.075" v="5" actId="947"/>
        <pc:sldMkLst>
          <pc:docMk/>
          <pc:sldMk cId="3340099598" sldId="257"/>
        </pc:sldMkLst>
      </pc:sldChg>
      <pc:sldChg chg="modNotes">
        <pc:chgData name="Gabriela do Couto Fonseca" userId="f73f3f1e-5e1c-47a9-aa2d-ab4ab106ce0b" providerId="ADAL" clId="{36832870-9FEF-437A-81DC-AEE05E3FC80B}" dt="2026-09-23T16:28:27.171" v="8" actId="947"/>
        <pc:sldMkLst>
          <pc:docMk/>
          <pc:sldMk cId="3158238998" sldId="258"/>
        </pc:sldMkLst>
      </pc:sldChg>
      <pc:sldChg chg="modNotes">
        <pc:chgData name="Gabriela do Couto Fonseca" userId="f73f3f1e-5e1c-47a9-aa2d-ab4ab106ce0b" providerId="ADAL" clId="{36832870-9FEF-437A-81DC-AEE05E3FC80B}" dt="2026-09-23T16:28:27.240" v="11" actId="947"/>
        <pc:sldMkLst>
          <pc:docMk/>
          <pc:sldMk cId="763647012" sldId="259"/>
        </pc:sldMkLst>
      </pc:sldChg>
      <pc:sldChg chg="modNotes">
        <pc:chgData name="Gabriela do Couto Fonseca" userId="f73f3f1e-5e1c-47a9-aa2d-ab4ab106ce0b" providerId="ADAL" clId="{36832870-9FEF-437A-81DC-AEE05E3FC80B}" dt="2026-09-23T16:28:27.361" v="14" actId="947"/>
        <pc:sldMkLst>
          <pc:docMk/>
          <pc:sldMk cId="371514963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3C7AA-68FF-429F-9104-8089DE72C156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B69B6-7E93-4669-88A4-5E95166A61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71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Se você só puder guardar uma aula deste módulo, guarde esta. A implicação é o conectivo que sustenta praticamente todo teorema que você vai encontrar na vida. E é também o que mais gera confusão — não por ser difícil, mas porque o nosso uso cotidiano da palavra se está a poucos centímetros do uso matemático, e essa diferença pequena causa um estrago grande.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69B6-7E93-4669-88A4-5E95166A61C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3522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P implica Q, escrito com aquela seta, lê-se se P, então Q. O P é a hipótese, o ponto de partida. O Q é a conclusão, aonde a gente quer chegar.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 exemplo econômico: se a taxa de juros sobe, o investimento cai. Aqui P é a taxa subiu e Q é o investimento caiu.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Agora o ponto que realmente importa, e que quase todo mundo erra na primeira vez: a implicação é falsa em um único caso. Quando P é verdadeira e Q é falsa. Em todos os outros, ela é verdadeira.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melhor intuição que eu conheço é a da promessa. Imagina que eu prometo: se você entregar o trabalho no prazo, eu corrijo em uma semana. Em que situação eu quebrei a promessa? Só uma: você entregou no prazo e eu não corrigi. Se você não entregou no prazo, eu não quebrei promessa nenhuma — ela simplesmente não chegou a ser acionada. Não interessa se eu corrigi rápido, devagar ou nem corrigi: a promessa não foi testada, então não foi violada.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É por isso que quando P é falsa a implicação é automaticamente verdadeira, independente do que acontece com Q. Isso tem até nome em latim, ex falso quodlibet — de uma premissa falsa, segue-se qualquer coisa. Soa estranho na primeira vez. Na terceira, já parece óbvio.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tem uma armadilha econômica clássica aqui. Se a taxa de juros sobe, o investimento cai não diz nada sobre o que acontece quando a taxa não sobe. O investimento pode cair por vinte outros motivos, e a afirmação continua verdadeira. Confundir isso com uma relação de causa única é um erro que aparece em editorial de jornal toda semana.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69B6-7E93-4669-88A4-5E95166A61C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520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Vamos percorrer a tabela linha por linha, devagar, porque é aqui que a coisa se fixa.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Primeira linha: P verdadeira, Q verdadeira. A implicação é verdadeira. A hipótese aconteceu e a conclusão também. Promessa cumprida.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Segunda linha: P verdadeira, Q falsa. A implicação é falsa. Este é o único caso falso da tabela inteira. A taxa subiu e o investimento não caiu — a afirmação foi refutada pelos fatos.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Terceira linha: P falsa, Q verdadeira. A implicação é verdadeira. A taxa não subiu, mas o investimento caiu assim mesmo. Isso não contradiz nada: a nossa afirmação nunca disse que subir a taxa era a única forma de derrubar o investimento.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Quarta linha: P falsa, Q falsa. Também verdadeira, pelo mesmo motivo. A hipótese não se realizou, então não há o que cobrar.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tem um jeito de ver isso que dispensa decorar a tabela. A implicação P implica Q é logicamente equivalente a não P ou Q. Olha o que essa reescrita faz: se P é falsa, então não P é verdadeira, e o ou já está satisfeito — a expressão inteira é verdadeira sem nem olhar para o Q. O único jeito de essa disjunção falhar é não P ser falsa, ou seja, P verdadeira, e Q também ser falsa. Exatamente a segunda linha.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Se você entendeu essa reescrita, você não precisa mais decorar a tabela da implicação. Ela sai sozinha.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69B6-7E93-4669-88A4-5E95166A61C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196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equivalência, também chamada de bicondicional, lê-se P se e somente se Q. Ela é verdadeira quando P e Q têm o mesmo valor lógico: as duas verdadeiras, ou as duas falsas. Se os valores diferem, ela é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jeito mais útil de enxergar a equivalência é como uma implicação que vale nos dois sentidos. P se e somente se Q é exatamente a mesma coisa que P implica Q, e ao mesmo tempo Q implica P.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Isso tem uma consequência prática imediata, e é por isso que essa aula importa para o Módulo 2: provar uma equivalência é provar duas coisas separadas. A ida e a volta. Não existe atalho, e esquecer metade é um dos erros mais comuns em prova.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exemplo clássico: n é par se e somente se n ao quadrado é par. Para demonstrar isso você precisa mostrar, primeiro, que se n é par então n ao quadrado é par. E depois, separadamente, que se n ao quadrado é par então n é par. São dois argumentos diferentes, com dificuldades diferentes — o segundo, por sinal, é bem mais chato, e na Aula 05 a gente vai ver um truque que resolve ele em três linhas.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Uma observação de vocabulário que aparece muito em economia. Quando alguém diz que uma condição é necessária e suficiente, está dizendo se e somente se. Suficiente é a ida: basta a condição valer para o resultado seguir. Necessária é a volta: sem a condição, o resultado não acontece. Quando você ouvir apenas condição suficiente, é só uma seta — e confundir os dois muda completamente o que foi afirmado.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69B6-7E93-4669-88A4-5E95166A61C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151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Este slide é para guardar. São os cinco conectivos do módulo, e a coluna que realmente importa é a última: quando cada um é falso.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negação é falsa quando P é verdadeira. Trivial.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conjunção é falsa quando pelo menos uma das partes é falsa. Ela é exigente: precisa de tudo.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disjunção é falsa só quando as duas são falsas. Ela é generosa: se contenta com qualquer coisa.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implicação é falsa num caso só — hipótese verdadeira, conclusão falsa.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a equivalência é falsa quando os valores diferem.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Repara no padrão. Definir um conectivo pelo caso em que ele falha costuma ser muito mais econômico do que listar quando ele funciona. Com a conjunção você precisaria descrever uma linha verdadeira e três falsas; dizendo basta uma falhar, você descreve tudo numa frase.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esse hábito vai além da tabela. Em demonstração, boa parte do trabalho é justamente perguntar: o que precisaria acontecer para isto aqui ser falso? Se você consegue responder isso rapidamente para cada conectivo, metade do Módulo 2 já está encaminhada.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Esses cinco são o alfabeto completo da lógica proposicional. Daqui para a frente, a gente não acrescenta conectivo novo — só aprende a combinar melhor os que já tem.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B69B6-7E93-4669-88A4-5E95166A61C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917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120AA-83E5-07BA-988E-A45232B7C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065A01-E4E3-6505-CDE4-7064E3F3B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72CF1E-5C1F-7BA7-F2D3-90FE2AE08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E0E1DE-D269-588B-CF38-D47E1F0F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4068DC-BA33-CF06-FCE5-6EDEA57E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88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9D22A-205F-239E-27B3-1B9B91C5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70FE61-13F7-9E6A-526E-6757CC50C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16AB2-831F-C50F-4932-CF91B1A8F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16CA25-B9AF-E4F8-A50D-964B7A45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A1B3A2-2CC6-41D5-EF58-42EE2385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60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4B178-7A6B-38D0-2C3A-024701F9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B2FCD4-FD6E-A767-3CDD-811596E5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22324D-B6B4-4B39-EB7D-7F8BFF76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2870A7-F92B-4579-2F9E-E49E9BF4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4CDCB7-FBE1-B7D9-0BB4-45211E45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2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2CE4B-1CD8-DB48-ADCF-2A49772B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BB044-8767-1A67-1D10-1B3E8DFF7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9F14EA-F767-3562-B39E-19F336798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284AC1-7973-37F7-EE9A-344D861BA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FEDF9C-3055-0346-24C3-8F3BCB50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E9349E-9B32-49A8-47B0-5A4EAA9D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49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16444-67CB-B5D8-0A71-B324A70D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11E884-ACEA-BF0A-1069-566816213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E2738B-8510-554B-A721-DE0E0AC62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3B99B4-CB62-AB28-9574-1013508E6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3069DE-59A1-D841-5E92-F8AB85F46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BD4192E-EAA3-EA45-CC3E-0AEBAEAA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353DE3-A0C2-42D2-4BB1-07D6BA87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9C40C1-B351-ABD9-288A-A36B0BC9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94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7A6A7-6E0C-72C8-2FE4-B7DFBBB4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7F27BD-FA3B-B090-AA3A-5C3E6D43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8A11E2B-B155-BA68-A36A-6373250D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C0254-5873-26F7-3F5E-D587E770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492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9DDBCE-6531-DDC1-D605-F15A149D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81461B-EB2A-35B4-35C5-103946B7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CB5E2-E6C4-B6FB-CEF0-D6EBA329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76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62E39-0911-65C0-54A9-DAA61CB8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998932-B7E5-D4C6-C09A-EA95AA7B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D10B0F-AA09-16C5-0BA1-4633E901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E6173D-2398-7FA8-183C-42681EF8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D58E06-B38F-E616-A522-18187D47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5BFE0B-A8B8-36E0-EA98-0A680377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97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361D5-99BB-522F-43C5-27AD597D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F28ACA5-01DD-E7FA-CCE5-C2B1C702C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FFA262-D022-244D-3129-FAD0D6E1B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08D150-064B-D352-5540-5C953C29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AEA5B6-9486-7E77-A58C-606EA854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20F4DC-74B4-0716-F743-23B23419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67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EAD5C-822B-CE10-F270-3F752E166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F67625-2CDF-471B-677A-B729BCDBB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C2D9E4-E5FF-80DA-8DC8-DE302479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064D0-E53D-7E48-4201-2791D07C2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4A227A-1C50-9B55-AD30-5A4A2B52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80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F416BC-E30D-6D82-7481-E00CC1182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8B821C-297F-4CE3-A02F-EE1BE919C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6A8CE-D6C6-EA80-0FD5-630F9B9C6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74F058-C668-313C-6995-275B1621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28E4C1-3D30-AF14-A621-6AE17DCB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16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B949135-0279-C816-40E3-4CFF0997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DA86DB-7A64-2B08-6880-1C721D59A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443AA2-D47A-3D1A-54B3-AF63AE8E7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821409-1DA6-4211-AAB3-86424B6FF993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15A255-7E66-CF4F-A8B1-A71E7EED7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DE1CAD-CACC-2B9E-36D3-CEFABA992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6C3EC-ED83-4E26-B622-7F9E744BB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01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6C9173-E4FC-6671-6275-7A645361A068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9E0F3A-81D4-93F0-D2D7-F2A3357DD4AB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Implicação e equivalência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B6E4940-85DA-72EC-0A80-EF61B5DB44D3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522F2C-172C-D39C-F1E3-F24220EC87D4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O conectivo central da matemática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E305073-E920-C237-33EB-D35D1030A6A7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49784B-99CC-CBAA-666A-D96663CB7254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320C988-58B7-A207-996E-8446CFF6C23D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5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F5E9239-7C24-2C98-D380-3166060A885B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IMPLICAÇÃO E EQUIVALÊNCIA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D92D2D9-C755-B1D1-FCDA-E01AED953DF9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Implicação — P → Q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7253951-BF51-5264-52C9-D2EA729C60F0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CD61B4-15B3-8C74-85D7-9A456EA683A0}"/>
              </a:ext>
            </a:extLst>
          </p:cNvPr>
          <p:cNvSpPr/>
          <p:nvPr/>
        </p:nvSpPr>
        <p:spPr>
          <a:xfrm>
            <a:off x="812800" y="2616775"/>
            <a:ext cx="6604000" cy="108313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4A04D9-41A5-F429-4F8A-608A894CB2E6}"/>
              </a:ext>
            </a:extLst>
          </p:cNvPr>
          <p:cNvSpPr txBox="1"/>
          <p:nvPr/>
        </p:nvSpPr>
        <p:spPr>
          <a:xfrm>
            <a:off x="990600" y="2794575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IMPLICAÇÃO  P → 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2AE4D6-5640-452C-F677-4D42116068DD}"/>
              </a:ext>
            </a:extLst>
          </p:cNvPr>
          <p:cNvSpPr txBox="1"/>
          <p:nvPr/>
        </p:nvSpPr>
        <p:spPr>
          <a:xfrm>
            <a:off x="990600" y="3029669"/>
            <a:ext cx="624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“Se P, então Q” · “P implica Q” · “P é condição suficiente para Q”.</a:t>
            </a:r>
          </a:p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P é a hipótese (antecedente); Q é a conclusão (consequente).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E6A12EE-D355-6C97-3C7D-EADD0DF82558}"/>
              </a:ext>
            </a:extLst>
          </p:cNvPr>
          <p:cNvSpPr txBox="1"/>
          <p:nvPr/>
        </p:nvSpPr>
        <p:spPr>
          <a:xfrm>
            <a:off x="812800" y="3953912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Leitura econômica: “se a taxa de juros sobe, o investimento cai”.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C932064-7ACA-0DD2-4F24-99CEA51A5002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35578B-59BB-5480-C1ED-A4E74DEA63E3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O PONTO DA AULA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F9E9DD5-AAB9-ED92-0163-34B4F62C288F}"/>
              </a:ext>
            </a:extLst>
          </p:cNvPr>
          <p:cNvSpPr txBox="1"/>
          <p:nvPr/>
        </p:nvSpPr>
        <p:spPr>
          <a:xfrm>
            <a:off x="7975600" y="2978869"/>
            <a:ext cx="3403600" cy="12565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 → Q é falsa SOMENTE quando P é verdadeira e Q é falsa.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“Uma promessa só pode ser quebrada se ela chegou a ser feita.”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B43331A-C9BE-2477-4537-A646B90CCA5F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77301E9-42AF-A597-B3B9-F5DE772739FA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F8FD77D-B080-C636-9441-CE5D5CDC086E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334009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D5AE54-8C12-C587-DCD4-24ABD9035AEE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IMPLICAÇÃO E EQUIVALÊNCIA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DA9777-1E14-FCE9-4DF2-7E2095788214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Tabela verdade de P → Q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30292A-6BDE-F41A-133B-1F23950D1604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926EFB6-E0C1-1A04-A233-BAC69D40C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64549"/>
              </p:ext>
            </p:extLst>
          </p:nvPr>
        </p:nvGraphicFramePr>
        <p:xfrm>
          <a:off x="812800" y="2616775"/>
          <a:ext cx="6604000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3064">
                  <a:extLst>
                    <a:ext uri="{9D8B030D-6E8A-4147-A177-3AD203B41FA5}">
                      <a16:colId xmlns:a16="http://schemas.microsoft.com/office/drawing/2014/main" val="3035132987"/>
                    </a:ext>
                  </a:extLst>
                </a:gridCol>
                <a:gridCol w="843064">
                  <a:extLst>
                    <a:ext uri="{9D8B030D-6E8A-4147-A177-3AD203B41FA5}">
                      <a16:colId xmlns:a16="http://schemas.microsoft.com/office/drawing/2014/main" val="2198742093"/>
                    </a:ext>
                  </a:extLst>
                </a:gridCol>
                <a:gridCol w="1264596">
                  <a:extLst>
                    <a:ext uri="{9D8B030D-6E8A-4147-A177-3AD203B41FA5}">
                      <a16:colId xmlns:a16="http://schemas.microsoft.com/office/drawing/2014/main" val="1412390291"/>
                    </a:ext>
                  </a:extLst>
                </a:gridCol>
                <a:gridCol w="3653277">
                  <a:extLst>
                    <a:ext uri="{9D8B030D-6E8A-4147-A177-3AD203B41FA5}">
                      <a16:colId xmlns:a16="http://schemas.microsoft.com/office/drawing/2014/main" val="389859497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 → 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OBSERVAÇÃO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024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Hipótese satisfeita, conclusão também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843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>
                          <a:solidFill>
                            <a:srgbClr val="8A6A00"/>
                          </a:solidFill>
                          <a:latin typeface="Spectral" pitchFamily="2" charset="0"/>
                        </a:rPr>
                        <a:t>O único caso falso — promessa quebrada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8DCA8"/>
                      </a:solidFill>
                    </a:lnB>
                    <a:solidFill>
                      <a:srgbClr val="FBF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67017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Hipótese falsa — a promessa não foi acionada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8DCA8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9814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Mesmo raciocínio da linha anterior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43879"/>
                  </a:ext>
                </a:extLst>
              </a:tr>
            </a:tbl>
          </a:graphicData>
        </a:graphic>
      </p:graphicFrame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D5D4D37-250F-7B63-82EE-FDBB405B83C9}"/>
              </a:ext>
            </a:extLst>
          </p:cNvPr>
          <p:cNvCxnSpPr/>
          <p:nvPr/>
        </p:nvCxnSpPr>
        <p:spPr>
          <a:xfrm>
            <a:off x="7975600" y="2616775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07F19F-699E-7263-3F39-C4CCCBC8BD4F}"/>
              </a:ext>
            </a:extLst>
          </p:cNvPr>
          <p:cNvSpPr txBox="1"/>
          <p:nvPr/>
        </p:nvSpPr>
        <p:spPr>
          <a:xfrm>
            <a:off x="7975600" y="2743775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POR QUE ISSO FAZ SENTIDO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AFD755E-CEFF-170B-3240-6DB3840A4939}"/>
              </a:ext>
            </a:extLst>
          </p:cNvPr>
          <p:cNvSpPr txBox="1"/>
          <p:nvPr/>
        </p:nvSpPr>
        <p:spPr>
          <a:xfrm>
            <a:off x="7975600" y="2978869"/>
            <a:ext cx="3403600" cy="12565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P → Q é equivalente a ¬P ∨ Q.</a:t>
            </a:r>
          </a:p>
          <a:p>
            <a:pPr>
              <a:lnSpc>
                <a:spcPct val="138000"/>
              </a:lnSpc>
            </a:pPr>
            <a:endParaRPr lang="pt-BR" sz="1200">
              <a:solidFill>
                <a:srgbClr val="3A4152"/>
              </a:solidFill>
              <a:latin typeface="Spectral" pitchFamily="2" charset="0"/>
            </a:endParaRPr>
          </a:p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Se P é falsa, ¬P é verdadeira e a disjunção já está satisfeita. Só sobra um problema: P verdadeira e Q falsa.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2E08FEE-E854-2179-AA37-B1723D855DF1}"/>
              </a:ext>
            </a:extLst>
          </p:cNvPr>
          <p:cNvCxnSpPr/>
          <p:nvPr/>
        </p:nvCxnSpPr>
        <p:spPr>
          <a:xfrm>
            <a:off x="7975600" y="4514831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1B116C5-95BD-CBFA-A02C-E30D05A3055E}"/>
              </a:ext>
            </a:extLst>
          </p:cNvPr>
          <p:cNvSpPr txBox="1"/>
          <p:nvPr/>
        </p:nvSpPr>
        <p:spPr>
          <a:xfrm>
            <a:off x="7975600" y="4679931"/>
            <a:ext cx="34036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P → Q  ≡  ¬P ∨ Q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3B8CD25-F833-2738-1ACC-2A5E7AA61BF6}"/>
              </a:ext>
            </a:extLst>
          </p:cNvPr>
          <p:cNvCxnSpPr/>
          <p:nvPr/>
        </p:nvCxnSpPr>
        <p:spPr>
          <a:xfrm>
            <a:off x="7975600" y="5145883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2D1C7D5-1DC4-6CE0-30DB-D1930CD6F97C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FEF6CB-7A79-6B36-5B1E-0456B9B294FD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A9DDB8F-4F98-3EB1-5069-2FF84F2B5CD2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315823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47807D9-7E7B-D024-F3D2-78590C742552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IMPLICAÇÃO E EQUIVALÊNCIA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F58812-98B4-2929-4063-9E6D593BD9B7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Equivalência — P ↔ Q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D7E58C-6F2D-44C1-AB45-223AD82092C9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204304D-8E61-AF23-16E7-381A35B01AEB}"/>
              </a:ext>
            </a:extLst>
          </p:cNvPr>
          <p:cNvSpPr/>
          <p:nvPr/>
        </p:nvSpPr>
        <p:spPr>
          <a:xfrm>
            <a:off x="812800" y="2203851"/>
            <a:ext cx="6604000" cy="829221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0872C8-C1B5-DC04-EDA0-7F25E40B2A5F}"/>
              </a:ext>
            </a:extLst>
          </p:cNvPr>
          <p:cNvSpPr txBox="1"/>
          <p:nvPr/>
        </p:nvSpPr>
        <p:spPr>
          <a:xfrm>
            <a:off x="990600" y="2381651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EQUIVALÊNCIA (BICONDICIONAL)  P ↔ 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524590-E0AA-2D53-FDF3-2FF420007448}"/>
              </a:ext>
            </a:extLst>
          </p:cNvPr>
          <p:cNvSpPr txBox="1"/>
          <p:nvPr/>
        </p:nvSpPr>
        <p:spPr>
          <a:xfrm>
            <a:off x="990600" y="2616745"/>
            <a:ext cx="62484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“P se e somente se Q”.  Verdadeira quando P e Q têm o MESMO valor lógico.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9F3776C9-937E-6EE0-2671-B0EFD320EC28}"/>
              </a:ext>
            </a:extLst>
          </p:cNvPr>
          <p:cNvCxnSpPr/>
          <p:nvPr/>
        </p:nvCxnSpPr>
        <p:spPr>
          <a:xfrm>
            <a:off x="812800" y="3287072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803EB5-F994-0804-E841-108AEBDB4449}"/>
              </a:ext>
            </a:extLst>
          </p:cNvPr>
          <p:cNvSpPr txBox="1"/>
          <p:nvPr/>
        </p:nvSpPr>
        <p:spPr>
          <a:xfrm>
            <a:off x="812800" y="3452172"/>
            <a:ext cx="66040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P ↔ Q  ≡  (P → Q) ∧ (Q → P)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CD2E8D4-96A9-E7AD-365C-DA7AE432498A}"/>
              </a:ext>
            </a:extLst>
          </p:cNvPr>
          <p:cNvCxnSpPr/>
          <p:nvPr/>
        </p:nvCxnSpPr>
        <p:spPr>
          <a:xfrm>
            <a:off x="812800" y="3918124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3EB8978-138C-D197-7904-5E39EB049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523391"/>
              </p:ext>
            </p:extLst>
          </p:nvPr>
        </p:nvGraphicFramePr>
        <p:xfrm>
          <a:off x="812800" y="4172124"/>
          <a:ext cx="6604000" cy="147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6167">
                  <a:extLst>
                    <a:ext uri="{9D8B030D-6E8A-4147-A177-3AD203B41FA5}">
                      <a16:colId xmlns:a16="http://schemas.microsoft.com/office/drawing/2014/main" val="1680594182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898004252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288969533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P ↔ Q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078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0344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9024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14024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F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V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538761"/>
                  </a:ext>
                </a:extLst>
              </a:tr>
            </a:tbl>
          </a:graphicData>
        </a:graphic>
      </p:graphicFrame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C35D060-A40D-8A2A-9B8A-0C0CD0421C56}"/>
              </a:ext>
            </a:extLst>
          </p:cNvPr>
          <p:cNvCxnSpPr/>
          <p:nvPr/>
        </p:nvCxnSpPr>
        <p:spPr>
          <a:xfrm>
            <a:off x="7975600" y="2203851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93ADC32-F133-CE3A-DFE4-6F26D6AFD281}"/>
              </a:ext>
            </a:extLst>
          </p:cNvPr>
          <p:cNvSpPr txBox="1"/>
          <p:nvPr/>
        </p:nvSpPr>
        <p:spPr>
          <a:xfrm>
            <a:off x="7975600" y="2330851"/>
            <a:ext cx="3403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PROVAR UMA EQUIVALÊNCIA É PROVAR DUAS COISAS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FBA533-9C34-317D-7478-EF60238A7AF1}"/>
              </a:ext>
            </a:extLst>
          </p:cNvPr>
          <p:cNvSpPr txBox="1"/>
          <p:nvPr/>
        </p:nvSpPr>
        <p:spPr>
          <a:xfrm>
            <a:off x="7975600" y="2712139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“n é par ↔ n² é par” exige demonstrar as duas direções, a ida e a volta. Cada uma é uma prova separada.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676A980-E2B6-69C2-6A79-9287C3EDE373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A0590E-BF72-AB6D-A3F6-682E5B9F945C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1CB2053-94A9-7067-BB50-4E0774EAB4E2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76364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D9B4B0-5C11-6717-1ECD-8A7B2F92A3A3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04  ·  IMPLICAÇÃO E EQUIVALÊNCIA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780EBC-824F-4686-054B-C2D0FF97A87A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Resumo dos conectivos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D68CF0-200E-AB98-ACC7-C62FCC9FA633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67B9B72-9750-997C-D131-CE513E4D8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582120"/>
              </p:ext>
            </p:extLst>
          </p:nvPr>
        </p:nvGraphicFramePr>
        <p:xfrm>
          <a:off x="812800" y="2616775"/>
          <a:ext cx="10566400" cy="177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13280">
                  <a:extLst>
                    <a:ext uri="{9D8B030D-6E8A-4147-A177-3AD203B41FA5}">
                      <a16:colId xmlns:a16="http://schemas.microsoft.com/office/drawing/2014/main" val="113574651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730666064"/>
                    </a:ext>
                  </a:extLst>
                </a:gridCol>
                <a:gridCol w="3346027">
                  <a:extLst>
                    <a:ext uri="{9D8B030D-6E8A-4147-A177-3AD203B41FA5}">
                      <a16:colId xmlns:a16="http://schemas.microsoft.com/office/drawing/2014/main" val="1658366725"/>
                    </a:ext>
                  </a:extLst>
                </a:gridCol>
                <a:gridCol w="3522134">
                  <a:extLst>
                    <a:ext uri="{9D8B030D-6E8A-4147-A177-3AD203B41FA5}">
                      <a16:colId xmlns:a16="http://schemas.microsoft.com/office/drawing/2014/main" val="296235102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CONECTIVO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SÍMBOLO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LEITURA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spc="180">
                          <a:solidFill>
                            <a:srgbClr val="17365E"/>
                          </a:solidFill>
                          <a:latin typeface="Lora" pitchFamily="2" charset="0"/>
                        </a:rPr>
                        <a:t>É FALSO QUANDO</a:t>
                      </a:r>
                    </a:p>
                  </a:txBody>
                  <a:tcPr marL="50800" marR="50800" marT="25400" marB="25400" anchor="ctr">
                    <a:lnB w="22225">
                      <a:solidFill>
                        <a:srgbClr val="17365E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2564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Negação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17365E"/>
                          </a:solidFill>
                          <a:latin typeface="Spectral" pitchFamily="2" charset="0"/>
                        </a:rPr>
                        <a:t>¬P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“não P”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é verdadeira</a:t>
                      </a:r>
                    </a:p>
                  </a:txBody>
                  <a:tcPr marL="50800" marR="50800" marT="25400" marB="25400" anchor="ctr">
                    <a:lnT w="22225">
                      <a:solidFill>
                        <a:srgbClr val="17365E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0543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Conjunção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∧ 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“P e Q”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ao menos uma é falsa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361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Disjunção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∨ 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“P ou Q”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ambas são falsas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2959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Implicação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→ 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“se P, então Q”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verdadeira e Q falsa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37525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Equivalência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P ↔ Q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“P se e somente se Q”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0">
                          <a:solidFill>
                            <a:srgbClr val="5C6270"/>
                          </a:solidFill>
                          <a:latin typeface="Spectral" pitchFamily="2" charset="0"/>
                        </a:rPr>
                        <a:t>os valores diferem</a:t>
                      </a:r>
                    </a:p>
                  </a:txBody>
                  <a:tcPr marL="50800" marR="50800" marT="25400" marB="25400" anchor="ctr">
                    <a:lnT w="9525">
                      <a:solidFill>
                        <a:srgbClr val="E4E2DA"/>
                      </a:solidFill>
                    </a:lnT>
                    <a:lnB w="9525">
                      <a:solidFill>
                        <a:srgbClr val="E4E2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2723"/>
                  </a:ext>
                </a:extLst>
              </a:tr>
            </a:tbl>
          </a:graphicData>
        </a:graphic>
      </p:graphicFrame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CB7C247-8B58-8C6A-2057-DB2CCC905D8B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047AAA8-F1CD-798E-58C9-8F0923766663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1 · LÓGICA E LINGUAGEM MATEMÁTICA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E04FFE-5CAC-F778-68C4-81A7F0F132BF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3715149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1704</Words>
  <Application>Microsoft Office PowerPoint</Application>
  <PresentationFormat>Widescreen</PresentationFormat>
  <Paragraphs>153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2026-09-23T16:27:40Z</dcterms:created>
  <dcterms:modified xsi:type="dcterms:W3CDTF">2026-09-23T18:34:34Z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2026-09-23T16:27:40Z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381a2c97-06ef-4003-a100-383e166c0c11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