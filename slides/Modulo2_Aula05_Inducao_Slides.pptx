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pt-BR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a do Couto Fonseca" userId="f73f3f1e-5e1c-47a9-aa2d-ab4ab106ce0b" providerId="ADAL" clId="{36832870-9FEF-437A-81DC-AEE05E3FC80B}"/>
    <pc:docChg chg="custSel modSld">
      <pc:chgData name="Gabriela do Couto Fonseca" userId="f73f3f1e-5e1c-47a9-aa2d-ab4ab106ce0b" providerId="ADAL" clId="{36832870-9FEF-437A-81DC-AEE05E3FC80B}" dt="2026-09-23T16:28:39.732" v="11" actId="947"/>
      <pc:docMkLst>
        <pc:docMk/>
      </pc:docMkLst>
      <pc:sldChg chg="modNotes">
        <pc:chgData name="Gabriela do Couto Fonseca" userId="f73f3f1e-5e1c-47a9-aa2d-ab4ab106ce0b" providerId="ADAL" clId="{36832870-9FEF-437A-81DC-AEE05E3FC80B}" dt="2026-09-23T16:28:39.272" v="2" actId="947"/>
        <pc:sldMkLst>
          <pc:docMk/>
          <pc:sldMk cId="3783889689" sldId="256"/>
        </pc:sldMkLst>
      </pc:sldChg>
      <pc:sldChg chg="modNotes">
        <pc:chgData name="Gabriela do Couto Fonseca" userId="f73f3f1e-5e1c-47a9-aa2d-ab4ab106ce0b" providerId="ADAL" clId="{36832870-9FEF-437A-81DC-AEE05E3FC80B}" dt="2026-09-23T16:28:39.421" v="5" actId="947"/>
        <pc:sldMkLst>
          <pc:docMk/>
          <pc:sldMk cId="2272930383" sldId="257"/>
        </pc:sldMkLst>
      </pc:sldChg>
      <pc:sldChg chg="modNotes">
        <pc:chgData name="Gabriela do Couto Fonseca" userId="f73f3f1e-5e1c-47a9-aa2d-ab4ab106ce0b" providerId="ADAL" clId="{36832870-9FEF-437A-81DC-AEE05E3FC80B}" dt="2026-09-23T16:28:39.545" v="8" actId="947"/>
        <pc:sldMkLst>
          <pc:docMk/>
          <pc:sldMk cId="1744242634" sldId="258"/>
        </pc:sldMkLst>
      </pc:sldChg>
      <pc:sldChg chg="modNotes">
        <pc:chgData name="Gabriela do Couto Fonseca" userId="f73f3f1e-5e1c-47a9-aa2d-ab4ab106ce0b" providerId="ADAL" clId="{36832870-9FEF-437A-81DC-AEE05E3FC80B}" dt="2026-09-23T16:28:39.732" v="11" actId="947"/>
        <pc:sldMkLst>
          <pc:docMk/>
          <pc:sldMk cId="396167114" sldId="25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13F4BA-6142-4F43-BD49-7519D7B98FF4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10C7A2-C360-4792-8313-C712B65B77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5982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>
                <a:latin typeface="Georgia" panose="02040502050405020303" pitchFamily="18" charset="0"/>
              </a:rPr>
              <a:t>Última técnica, e a mais especializada das quatro. Ela resolve um problema que as outras não conseguem sequer atacar: provar que alguma coisa vale para todos os números naturais — infinitos casos — com um argumento de duas linhas.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10C7A2-C360-4792-8313-C712B65B776B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03921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>
                <a:latin typeface="Georgia" panose="02040502050405020303" pitchFamily="18" charset="0"/>
              </a:rPr>
              <a:t>O princípio da indução é um axioma dos números naturais, e a imagem que todo mundo usa é a fileira de dominós. Se o primeiro cai, e se cada dominó que cai derruba o seguinte, então todos caem. Você não precisa empurrar um por um — e ainda bem, porque são infinitos.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Formalmente, são duas coisas. Primeiro, o caso base: verificar que a propriedade vale para o valor inicial. Segundo, o passo indutivo: mostrar que, se a propriedade vale para um n qualquer, então ela vale para n mais um.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Se você provar essas duas coisas, o axioma garante o resto.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Agora, duas armadilhas.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A primeira é o caso base. Ele parece burocrático — muita gente verifica de qualquer jeito e passa adiante. Mas sem o caso base, o passo indutivo sozinho não prova nada. É uma fileira de dominós perfeitamente montada em que ninguém empurrou o primeiro: nada cai. E não é sempre o um: se o teorema fala de n maior ou igual a três, o caso base é três.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A segunda é mais importante, e é o erro mais comum em prova. No passo indutivo, a hipótese de indução precisa ser usada. Se você provou P de n mais um sem em momento nenhum recorrer a P de n, alguma coisa está errada — ou a sua prova está incompleta, ou você acabou de encontrar uma prova direta e nem precisava de indução.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Então, ao terminar um passo indutivo, faz a pergunta: onde exatamente eu usei a hipótese? Se você não consegue apontar a linha, volta.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10C7A2-C360-4792-8313-C712B65B776B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18126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>
                <a:latin typeface="Georgia" panose="02040502050405020303" pitchFamily="18" charset="0"/>
              </a:rPr>
              <a:t>Vamos provar que sete divide dezessete elevado a n menos dez elevado a n, para todo n natural.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Caso base, n igual a um: dezessete menos dez é sete. Divisível por sete. Verificado.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Passo indutivo. A hipótese de indução é que dezessete elevado a n menos dez elevado a n é igual a sete k, para algum inteiro k. A gente quer mostrar a mesma coisa para n mais um.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Começa abrindo: dezessete elevado a n mais um menos dez elevado a n mais um é igual a dezessete vezes dezessete elevado a n, menos dez vezes dez elevado a n.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E agora vem o truque, que é o coração desta prova. A hipótese de indução sabe falar sobre um bloco específico: dezessete elevado a n menos dez elevado a n. Só que esse bloco não está ali. Então a gente fabrica ele.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Soma e subtrai dezessete vezes dez elevado a n. Isso não altera nada, porque você está somando zero. Mas agora dá para agrupar: os dois primeiros termos viram dezessete vezes o bloco que a gente queria, e os dois últimos viram dezessete vezes dez elevado a n menos dez vezes dez elevado a n, que é sete vezes dez elevado a n.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Então sobrou dezessete vezes o bloco, mais sete vezes dez elevado a n. Pela hipótese de indução, o bloco é sete k. Substitui: dezessete vezes sete k, mais sete vezes dez elevado a n. Põe o sete em evidência e você tem sete vezes, abre parênteses, dezessete k mais dez elevado a n.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É um múltiplo de sete. Está provado.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E repara onde a hipótese de indução foi usada: na penúltima linha, quando o bloco virou sete k. Se ela não tivesse entrado ali, não seria indução.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10C7A2-C360-4792-8313-C712B65B776B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67335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>
                <a:latin typeface="Georgia" panose="02040502050405020303" pitchFamily="18" charset="0"/>
              </a:rPr>
              <a:t>Vamos fechar o módulo com uma prova errada. De propósito — porque o erro dela é elegante e ensina mais do que mais um exemplo correto.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A Raquel quer provar que todas as pessoas de um grupo de n pessoas têm a mesma idade. O que obviamente é falso. Mas acompanha o argumento.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Caso base, n igual a um: num grupo de uma pessoa, todo mundo tem a mesma idade. Verdadeiro, trivialmente.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Passo indutivo. Pega um grupo de n mais um pessoas. Tira a última: sobram n pessoas, e pela hipótese de indução todas têm a mesma idade. Recoloca ela e tira a primeira: sobram n pessoas de novo, e de novo todas têm a mesma idade. Como os dois subgrupos se sobrepõem — tem gente que está nos dois —, essa gente serve de ponte, e o grupo inteiro tem a mesma idade.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Parece sólido. Cada passo parece justificado. E a conclusão é absurda. Então onde está o erro?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Está no passo de n igual a um para n igual a dois. O argumento inteiro depende de os dois subgrupos se sobreporem. Com três pessoas ou mais, eles se sobrepõem mesmo. Mas com exatamente duas pessoas, cada subgrupo tem uma pessoa só: a primeira num, a segunda no outro. A interseção é vazia. Não existe ponte. E sem a ponte, nada conecta a idade de uma com a da outra.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A fileira de dominós está montada corretamente do segundo em diante. Só que o primeiro nunca derruba o segundo — e por isso a cadeia inteira nunca começa.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A lição é concreta e vale para todo exercício de indução que você vai fazer: não confira só se o passo funciona para um n genérico e grande. Confira especificamente a primeira transição, do caso base para o seguinte. É ali que os argumentos falsos costumam quebrar, porque é ali que o caso genérico ainda não tem espaço para acontecer.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E com isso você tem as quatro técnicas. Prova direta, contraposição, contradição e indução. Daqui em diante é prática: pegar teoremas, olhar para o enunciado, apostar numa técnica e descobrir errando quando a aposta foi ruim. É assim mesmo que se aprende. Bom trabalho.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10C7A2-C360-4792-8313-C712B65B776B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2906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07E78E-D265-730C-0EA0-EAC4AD905B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537BD3B-9BAA-F969-30BC-06FE9BE408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FAA1D3-45E5-E450-82C4-3BE2D2482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D74F8-514F-41EB-9B3C-32492859324C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402C9EC-88B4-30EB-71EF-AC02CC4CD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B74F480-EF33-9ADB-434B-B0946BF53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0A71C-6AB9-42AC-9F66-AE026D1C47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9588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575712-9A06-B976-F7A1-21D669EFB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8532AAB-4A6B-2ACD-E8DF-17F3AFF67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D0004F-D19E-F3A0-2F47-EDCC179D7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D74F8-514F-41EB-9B3C-32492859324C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EFE2145-E269-37CF-9D45-873993284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6CC98A1-C5BE-848D-0327-1879B8F28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0A71C-6AB9-42AC-9F66-AE026D1C47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320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349C67-AEA8-F056-9C79-B0C52DDEA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AE40C99-969F-368D-3F34-993DDA130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7FA661-09A8-88ED-69F3-3991FC19B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D74F8-514F-41EB-9B3C-32492859324C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3E92D99-017D-9B5B-D94D-ED1F500B3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102CC3D-ADB3-BDB0-BBD0-E26D22C92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0A71C-6AB9-42AC-9F66-AE026D1C47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1699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7C8714-71FA-EE15-43FD-DC0E8C341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80A20BB-FF07-9106-2775-741480284E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1F7BE04-664F-91FF-D59E-686C675AE9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F11C9CB-B945-2D82-D1E4-1CAA5F3BA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D74F8-514F-41EB-9B3C-32492859324C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DD4ED7B-A8EB-BB38-4A80-A460F4E48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B4902B3-3882-58AB-2B9A-D3264C86F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0A71C-6AB9-42AC-9F66-AE026D1C47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4632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106A31-B193-DFB0-6AA7-8BB4D6D2D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FF9C359-6944-67EE-B9C6-FE08FAC509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0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E202240-9730-90D2-440F-28156D14D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0" y="2505077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199DCEE-5889-8445-D419-52996B950F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F910D2F-2AA7-4A4E-0E8A-4B9BC37AF1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7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1E35505-6D65-6019-97F2-88DF0C9EF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D74F8-514F-41EB-9B3C-32492859324C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3286F57-782C-A634-9A9D-08274D112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251FFB8-CAFE-EB2D-7CA7-DA6735714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0A71C-6AB9-42AC-9F66-AE026D1C47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8897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946207-BBA7-1869-0ED1-D7EDD55A9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C700C11-B2BF-D2AA-8B4A-D7194E4CF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D74F8-514F-41EB-9B3C-32492859324C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FEAB9A1-BA90-D891-F7D9-B3CC8706A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E360FA2-5713-CC25-928F-C4A2D2B84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0A71C-6AB9-42AC-9F66-AE026D1C47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7455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5DE0AF3-AA08-5005-B056-47E506EF5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D74F8-514F-41EB-9B3C-32492859324C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AE420C3-1016-A56F-5DE5-0C3DEFC13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5DF6A7A-7DED-C055-68F2-F8F92D05C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0A71C-6AB9-42AC-9F66-AE026D1C47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7979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3F944B-77E6-3A5E-CFB1-3259216FD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559683-EECE-6308-055B-74A8A0796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BF4B7AD-66F1-ED23-50B8-C236E7285A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298B863-51E3-8138-2292-16BE60CDE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D74F8-514F-41EB-9B3C-32492859324C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5FC0D82-1895-7AB3-E568-1A07DF88E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93A79B8-C52D-0F47-A53C-9C565D0BB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0A71C-6AB9-42AC-9F66-AE026D1C47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9052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4B2BB3-7FFA-2EC3-4797-011370A01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B180160-A665-BC97-DDE5-AE88609509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C622723-F2C7-52C7-3B9E-A0DC58125A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430B3EA-8F0A-3D37-1B8C-67EC3D110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D74F8-514F-41EB-9B3C-32492859324C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025DF1F-BE36-A407-7645-80E5EDB2A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D90AC08-4C09-910A-97F9-9825BCE18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0A71C-6AB9-42AC-9F66-AE026D1C47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5360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ADA012-F8F6-0CB7-1A89-22585F633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0066C10-F3F6-93C2-EBC7-91860E8212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751801B-BC99-9405-BF88-72B028697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D74F8-514F-41EB-9B3C-32492859324C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0193609-48D9-2A64-D848-28CB7260B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B05F51-C37F-2A35-8EB6-A8BF88C7D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0A71C-6AB9-42AC-9F66-AE026D1C47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1345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0308C1C-6F53-A1A3-AD41-6ECEDB3E97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7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272579C-1E8E-31DC-332A-DFA60502F3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7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CF7C8D7-2598-3EC2-59EC-74480E062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D74F8-514F-41EB-9B3C-32492859324C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5BA840-88C7-47C1-9DB5-9A6CD8C81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730679C-D94B-38AD-9049-437E9DCF9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0A71C-6AB9-42AC-9F66-AE026D1C47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0889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C97837E-4999-BFF5-D6A3-7765AD13F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3FD331D-7B1C-B61D-7F31-FA3A48BDB1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3540F63-D996-11C3-70CA-E23880171A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ED74F8-514F-41EB-9B3C-32492859324C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1833EE-36EF-279B-5745-86DC777912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520B09F-3BA3-68BF-8903-FCEEC9F0F6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D0A71C-6AB9-42AC-9F66-AE026D1C47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1695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092539B-BE66-27E1-C2D8-D165FB47A285}"/>
              </a:ext>
            </a:extLst>
          </p:cNvPr>
          <p:cNvSpPr txBox="1"/>
          <p:nvPr/>
        </p:nvSpPr>
        <p:spPr>
          <a:xfrm>
            <a:off x="812800" y="2362200"/>
            <a:ext cx="762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 b="1" spc="300">
                <a:solidFill>
                  <a:srgbClr val="E3B505"/>
                </a:solidFill>
                <a:latin typeface="Lora" pitchFamily="2" charset="0"/>
              </a:rPr>
              <a:t>AULA 05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412CC00-C27F-A19A-7172-E7D25A47D298}"/>
              </a:ext>
            </a:extLst>
          </p:cNvPr>
          <p:cNvSpPr txBox="1"/>
          <p:nvPr/>
        </p:nvSpPr>
        <p:spPr>
          <a:xfrm>
            <a:off x="812800" y="2717800"/>
            <a:ext cx="8382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5000"/>
              </a:lnSpc>
            </a:pPr>
            <a:r>
              <a:rPr lang="pt-BR" sz="4200">
                <a:solidFill>
                  <a:srgbClr val="FFFFFF"/>
                </a:solidFill>
                <a:latin typeface="Lora" pitchFamily="2" charset="0"/>
              </a:rPr>
              <a:t>Prova por indução matemática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B4DD442-CA54-243E-0DAC-BCC93EE3459B}"/>
              </a:ext>
            </a:extLst>
          </p:cNvPr>
          <p:cNvSpPr/>
          <p:nvPr/>
        </p:nvSpPr>
        <p:spPr>
          <a:xfrm>
            <a:off x="812800" y="3592731"/>
            <a:ext cx="914400" cy="38100"/>
          </a:xfrm>
          <a:prstGeom prst="rect">
            <a:avLst/>
          </a:prstGeom>
          <a:solidFill>
            <a:srgbClr val="E3B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F644611-F840-39ED-56A7-238EB0BA99E3}"/>
              </a:ext>
            </a:extLst>
          </p:cNvPr>
          <p:cNvSpPr txBox="1"/>
          <p:nvPr/>
        </p:nvSpPr>
        <p:spPr>
          <a:xfrm>
            <a:off x="812800" y="3846731"/>
            <a:ext cx="7874000" cy="25583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25000"/>
              </a:lnSpc>
            </a:pPr>
            <a:r>
              <a:rPr lang="pt-BR" sz="1400">
                <a:solidFill>
                  <a:srgbClr val="B9C6D8"/>
                </a:solidFill>
                <a:latin typeface="Spectral" pitchFamily="2" charset="0"/>
              </a:rPr>
              <a:t>Do caso base ao passo infinito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47767431-7C6D-3731-A04F-710972E9E71C}"/>
              </a:ext>
            </a:extLst>
          </p:cNvPr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9525">
            <a:solidFill>
              <a:srgbClr val="2A4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71043326-0444-64DF-46AB-2D5786E7E807}"/>
              </a:ext>
            </a:extLst>
          </p:cNvPr>
          <p:cNvSpPr txBox="1"/>
          <p:nvPr/>
        </p:nvSpPr>
        <p:spPr>
          <a:xfrm>
            <a:off x="812800" y="6426200"/>
            <a:ext cx="812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 spc="160">
                <a:solidFill>
                  <a:srgbClr val="7F94B4"/>
                </a:solidFill>
                <a:latin typeface="Lora" pitchFamily="2" charset="0"/>
              </a:rPr>
              <a:t>ESCOLA DE ECONOMIA DE SÃO PAULO · MÓDULO 2 · TÉCNICAS DE DEMONSTRAÇÃO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3CE4821-9951-6B77-CD74-858A8FDD759D}"/>
              </a:ext>
            </a:extLst>
          </p:cNvPr>
          <p:cNvSpPr txBox="1"/>
          <p:nvPr/>
        </p:nvSpPr>
        <p:spPr>
          <a:xfrm>
            <a:off x="9855200" y="6426200"/>
            <a:ext cx="152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endParaRPr lang="pt-BR" sz="800" spc="160">
              <a:solidFill>
                <a:srgbClr val="7F94B4"/>
              </a:solidFill>
              <a:latin typeface="Lor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3889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428ACB6-9DA2-46D1-2DBE-B2B6A51F9BCF}"/>
              </a:ext>
            </a:extLst>
          </p:cNvPr>
          <p:cNvSpPr txBox="1"/>
          <p:nvPr/>
        </p:nvSpPr>
        <p:spPr>
          <a:xfrm>
            <a:off x="812800" y="533400"/>
            <a:ext cx="889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 spc="240">
                <a:solidFill>
                  <a:srgbClr val="8A6A00"/>
                </a:solidFill>
                <a:latin typeface="Lora" pitchFamily="2" charset="0"/>
              </a:rPr>
              <a:t>AULA 05  ·  PROVA POR INDUÇÃO MATEMÁTICA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6BA9AE8-22D5-9EAF-E9D7-A45F5D25BB1B}"/>
              </a:ext>
            </a:extLst>
          </p:cNvPr>
          <p:cNvSpPr txBox="1"/>
          <p:nvPr/>
        </p:nvSpPr>
        <p:spPr>
          <a:xfrm>
            <a:off x="812800" y="776188"/>
            <a:ext cx="914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6000"/>
              </a:lnSpc>
            </a:pPr>
            <a:r>
              <a:rPr lang="pt-BR" sz="2800">
                <a:solidFill>
                  <a:srgbClr val="17365E"/>
                </a:solidFill>
                <a:latin typeface="Lora" pitchFamily="2" charset="0"/>
              </a:rPr>
              <a:t>O axioma de indução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A997299-E1AE-B708-2EB1-8AD992EDA746}"/>
              </a:ext>
            </a:extLst>
          </p:cNvPr>
          <p:cNvSpPr/>
          <p:nvPr/>
        </p:nvSpPr>
        <p:spPr>
          <a:xfrm>
            <a:off x="812800" y="1372175"/>
            <a:ext cx="914400" cy="31750"/>
          </a:xfrm>
          <a:prstGeom prst="rect">
            <a:avLst/>
          </a:prstGeom>
          <a:solidFill>
            <a:srgbClr val="E3B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71559EF-B518-1D0D-E234-94B12853F2CA}"/>
              </a:ext>
            </a:extLst>
          </p:cNvPr>
          <p:cNvSpPr/>
          <p:nvPr/>
        </p:nvSpPr>
        <p:spPr>
          <a:xfrm>
            <a:off x="812800" y="2616775"/>
            <a:ext cx="10566400" cy="829221"/>
          </a:xfrm>
          <a:prstGeom prst="rect">
            <a:avLst/>
          </a:prstGeom>
          <a:solidFill>
            <a:srgbClr val="F4F2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FA15BF7-EE21-B7E5-FB1B-DD1E61E0AF2A}"/>
              </a:ext>
            </a:extLst>
          </p:cNvPr>
          <p:cNvSpPr txBox="1"/>
          <p:nvPr/>
        </p:nvSpPr>
        <p:spPr>
          <a:xfrm>
            <a:off x="990600" y="2794575"/>
            <a:ext cx="102108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50" b="1" spc="220">
                <a:solidFill>
                  <a:srgbClr val="8A6A00"/>
                </a:solidFill>
                <a:latin typeface="Lora" pitchFamily="2" charset="0"/>
              </a:rPr>
              <a:t>PRINCÍPIO DA INDUÇÃO MATEMÁTICA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B46926F-5C7C-F977-F1B1-6075ACE55944}"/>
              </a:ext>
            </a:extLst>
          </p:cNvPr>
          <p:cNvSpPr txBox="1"/>
          <p:nvPr/>
        </p:nvSpPr>
        <p:spPr>
          <a:xfrm>
            <a:off x="990600" y="3029669"/>
            <a:ext cx="10210800" cy="2385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50">
                <a:solidFill>
                  <a:srgbClr val="101A2C"/>
                </a:solidFill>
                <a:latin typeface="Spectral" pitchFamily="2" charset="0"/>
              </a:rPr>
              <a:t>Seja P(n) um predicado sobre os naturais. Se P(1) é verdadeiro, e se para todo n vale P(n) → P(n+1), então P(n) é verdadeiro para todo n ∈ ℕ.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821CE66-E848-36B0-0511-ACBD0C890EE8}"/>
              </a:ext>
            </a:extLst>
          </p:cNvPr>
          <p:cNvSpPr txBox="1"/>
          <p:nvPr/>
        </p:nvSpPr>
        <p:spPr>
          <a:xfrm>
            <a:off x="812800" y="3699996"/>
            <a:ext cx="51181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5000"/>
              </a:lnSpc>
            </a:pPr>
            <a:r>
              <a:rPr lang="pt-BR" sz="950" b="1" spc="200">
                <a:solidFill>
                  <a:srgbClr val="8A6A00"/>
                </a:solidFill>
                <a:latin typeface="Lora" pitchFamily="2" charset="0"/>
              </a:rPr>
              <a:t>PASSO 1 — CASO BASE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504002F0-EE12-05FB-CF7E-DE0783BBADCC}"/>
              </a:ext>
            </a:extLst>
          </p:cNvPr>
          <p:cNvCxnSpPr/>
          <p:nvPr/>
        </p:nvCxnSpPr>
        <p:spPr>
          <a:xfrm>
            <a:off x="812800" y="3922390"/>
            <a:ext cx="5118100" cy="0"/>
          </a:xfrm>
          <a:prstGeom prst="line">
            <a:avLst/>
          </a:prstGeom>
          <a:ln w="19050">
            <a:solidFill>
              <a:srgbClr val="E3B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A469429-F937-1331-F111-8186F1B16E92}"/>
              </a:ext>
            </a:extLst>
          </p:cNvPr>
          <p:cNvSpPr txBox="1"/>
          <p:nvPr/>
        </p:nvSpPr>
        <p:spPr>
          <a:xfrm>
            <a:off x="812800" y="4036690"/>
            <a:ext cx="5118100" cy="22903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Verifique que P(1) é verdadeiro.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CE470E6-00D7-BD93-C40C-E4A6A25989A4}"/>
              </a:ext>
            </a:extLst>
          </p:cNvPr>
          <p:cNvSpPr txBox="1"/>
          <p:nvPr/>
        </p:nvSpPr>
        <p:spPr>
          <a:xfrm>
            <a:off x="812800" y="4341927"/>
            <a:ext cx="5118100" cy="22903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Às vezes o caso base é P(0) ou outro valor inicial.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8A0B536-54C1-39DB-54EE-A2AFC8BCC354}"/>
              </a:ext>
            </a:extLst>
          </p:cNvPr>
          <p:cNvSpPr txBox="1"/>
          <p:nvPr/>
        </p:nvSpPr>
        <p:spPr>
          <a:xfrm>
            <a:off x="6261100" y="3699996"/>
            <a:ext cx="51181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5000"/>
              </a:lnSpc>
            </a:pPr>
            <a:r>
              <a:rPr lang="pt-BR" sz="950" b="1" spc="200">
                <a:solidFill>
                  <a:srgbClr val="8A6A00"/>
                </a:solidFill>
                <a:latin typeface="Lora" pitchFamily="2" charset="0"/>
              </a:rPr>
              <a:t>PASSO 2 — PASSO INDUTIVO</a:t>
            </a:r>
          </a:p>
        </p:txBody>
      </p: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0A496C2A-98C4-EDFF-2E43-00068592B245}"/>
              </a:ext>
            </a:extLst>
          </p:cNvPr>
          <p:cNvCxnSpPr/>
          <p:nvPr/>
        </p:nvCxnSpPr>
        <p:spPr>
          <a:xfrm>
            <a:off x="6261100" y="3922390"/>
            <a:ext cx="5118100" cy="0"/>
          </a:xfrm>
          <a:prstGeom prst="line">
            <a:avLst/>
          </a:prstGeom>
          <a:ln w="19050">
            <a:solidFill>
              <a:srgbClr val="E3B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D4D552A-3142-8969-4822-2E557A758660}"/>
              </a:ext>
            </a:extLst>
          </p:cNvPr>
          <p:cNvSpPr txBox="1"/>
          <p:nvPr/>
        </p:nvSpPr>
        <p:spPr>
          <a:xfrm>
            <a:off x="6261100" y="4036690"/>
            <a:ext cx="5118100" cy="22903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Assuma P(n) — a hipótese de indução.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0068017-E3D3-C14E-8CEA-DEACDEAB2326}"/>
              </a:ext>
            </a:extLst>
          </p:cNvPr>
          <p:cNvSpPr txBox="1"/>
          <p:nvPr/>
        </p:nvSpPr>
        <p:spPr>
          <a:xfrm>
            <a:off x="6261100" y="4341927"/>
            <a:ext cx="5118100" cy="22903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Mostre que P(n+1) se segue.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01B0789-D266-50A6-7EC9-55878BF578A9}"/>
              </a:ext>
            </a:extLst>
          </p:cNvPr>
          <p:cNvSpPr txBox="1"/>
          <p:nvPr/>
        </p:nvSpPr>
        <p:spPr>
          <a:xfrm>
            <a:off x="6261100" y="4647164"/>
            <a:ext cx="5118100" cy="22903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A hipótese de indução tem de ser usada.</a:t>
            </a:r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04A78998-DAEE-FFC3-AA7D-E7735C12692F}"/>
              </a:ext>
            </a:extLst>
          </p:cNvPr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9525">
            <a:solidFill>
              <a:srgbClr val="E4E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73FADEF-A97C-2787-066B-280743C6D84F}"/>
              </a:ext>
            </a:extLst>
          </p:cNvPr>
          <p:cNvSpPr txBox="1"/>
          <p:nvPr/>
        </p:nvSpPr>
        <p:spPr>
          <a:xfrm>
            <a:off x="812800" y="6426200"/>
            <a:ext cx="812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ESCOLA DE ECONOMIA DE SÃO PAULO · MÓDULO 2 · TÉCNICAS DE DEMONSTRAÇÃO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760CE28F-429A-034C-CCDA-C0209610C0ED}"/>
              </a:ext>
            </a:extLst>
          </p:cNvPr>
          <p:cNvSpPr txBox="1"/>
          <p:nvPr/>
        </p:nvSpPr>
        <p:spPr>
          <a:xfrm>
            <a:off x="9855200" y="6426200"/>
            <a:ext cx="152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1 / 3</a:t>
            </a:r>
          </a:p>
        </p:txBody>
      </p:sp>
    </p:spTree>
    <p:extLst>
      <p:ext uri="{BB962C8B-B14F-4D97-AF65-F5344CB8AC3E}">
        <p14:creationId xmlns:p14="http://schemas.microsoft.com/office/powerpoint/2010/main" val="2272930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0FF8A6F-ED18-9CE3-0A47-DF4E34AEA938}"/>
              </a:ext>
            </a:extLst>
          </p:cNvPr>
          <p:cNvSpPr txBox="1"/>
          <p:nvPr/>
        </p:nvSpPr>
        <p:spPr>
          <a:xfrm>
            <a:off x="812800" y="533400"/>
            <a:ext cx="889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 spc="240">
                <a:solidFill>
                  <a:srgbClr val="8A6A00"/>
                </a:solidFill>
                <a:latin typeface="Lora" pitchFamily="2" charset="0"/>
              </a:rPr>
              <a:t>AULA 05  ·  PROVA POR INDUÇÃO MATEMÁTICA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E9EC797-B75C-F347-566D-D3994771B53C}"/>
              </a:ext>
            </a:extLst>
          </p:cNvPr>
          <p:cNvSpPr txBox="1"/>
          <p:nvPr/>
        </p:nvSpPr>
        <p:spPr>
          <a:xfrm>
            <a:off x="812800" y="776188"/>
            <a:ext cx="914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6000"/>
              </a:lnSpc>
            </a:pPr>
            <a:r>
              <a:rPr lang="pt-BR" sz="2800">
                <a:solidFill>
                  <a:srgbClr val="17365E"/>
                </a:solidFill>
                <a:latin typeface="Lora" pitchFamily="2" charset="0"/>
              </a:rPr>
              <a:t>Exemplo — 17ⁿ − 10ⁿ é divisível por 7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4FD1518-00F5-B99F-69E5-4A2BFB41E061}"/>
              </a:ext>
            </a:extLst>
          </p:cNvPr>
          <p:cNvSpPr/>
          <p:nvPr/>
        </p:nvSpPr>
        <p:spPr>
          <a:xfrm>
            <a:off x="812800" y="1372175"/>
            <a:ext cx="914400" cy="31750"/>
          </a:xfrm>
          <a:prstGeom prst="rect">
            <a:avLst/>
          </a:prstGeom>
          <a:solidFill>
            <a:srgbClr val="E3B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A9F8BF7-6DA7-87FF-9573-1F97B578314F}"/>
              </a:ext>
            </a:extLst>
          </p:cNvPr>
          <p:cNvSpPr/>
          <p:nvPr/>
        </p:nvSpPr>
        <p:spPr>
          <a:xfrm>
            <a:off x="812800" y="1968768"/>
            <a:ext cx="6604000" cy="829221"/>
          </a:xfrm>
          <a:prstGeom prst="rect">
            <a:avLst/>
          </a:prstGeom>
          <a:solidFill>
            <a:srgbClr val="F4F2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D1926E1-A509-E3CC-E83E-8FFD72352FED}"/>
              </a:ext>
            </a:extLst>
          </p:cNvPr>
          <p:cNvSpPr txBox="1"/>
          <p:nvPr/>
        </p:nvSpPr>
        <p:spPr>
          <a:xfrm>
            <a:off x="990600" y="2146568"/>
            <a:ext cx="62484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50" b="1" spc="220">
                <a:solidFill>
                  <a:srgbClr val="8A6A00"/>
                </a:solidFill>
                <a:latin typeface="Lora" pitchFamily="2" charset="0"/>
              </a:rPr>
              <a:t>TEOREMA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555F28A-7FEB-70AF-B18A-7DB6CF901CAD}"/>
              </a:ext>
            </a:extLst>
          </p:cNvPr>
          <p:cNvSpPr txBox="1"/>
          <p:nvPr/>
        </p:nvSpPr>
        <p:spPr>
          <a:xfrm>
            <a:off x="990600" y="2381662"/>
            <a:ext cx="6248400" cy="2385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50">
                <a:solidFill>
                  <a:srgbClr val="101A2C"/>
                </a:solidFill>
                <a:latin typeface="Spectral" pitchFamily="2" charset="0"/>
              </a:rPr>
              <a:t>Para todo n ∈ ℕ,  7 divide  17ⁿ − 10ⁿ.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659BB13-8B42-E864-2700-C695D2D9D621}"/>
              </a:ext>
            </a:extLst>
          </p:cNvPr>
          <p:cNvSpPr/>
          <p:nvPr/>
        </p:nvSpPr>
        <p:spPr>
          <a:xfrm>
            <a:off x="812800" y="3051989"/>
            <a:ext cx="6604000" cy="2828418"/>
          </a:xfrm>
          <a:prstGeom prst="rect">
            <a:avLst/>
          </a:prstGeom>
          <a:solidFill>
            <a:srgbClr val="F4F2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19EB937-F668-0742-3E19-2AF322DC18B5}"/>
              </a:ext>
            </a:extLst>
          </p:cNvPr>
          <p:cNvSpPr txBox="1"/>
          <p:nvPr/>
        </p:nvSpPr>
        <p:spPr>
          <a:xfrm>
            <a:off x="977900" y="3217089"/>
            <a:ext cx="62738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50" b="1" spc="220">
                <a:solidFill>
                  <a:srgbClr val="8A6A00"/>
                </a:solidFill>
                <a:latin typeface="Lora" pitchFamily="2" charset="0"/>
              </a:rPr>
              <a:t>PROVA (POR INDUÇÃO)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08247DC-6F4A-267C-CAF7-3ACE1EDBECB7}"/>
              </a:ext>
            </a:extLst>
          </p:cNvPr>
          <p:cNvSpPr txBox="1"/>
          <p:nvPr/>
        </p:nvSpPr>
        <p:spPr>
          <a:xfrm>
            <a:off x="977900" y="3464883"/>
            <a:ext cx="6273800" cy="225042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4000"/>
              </a:lnSpc>
            </a:pPr>
            <a:r>
              <a:rPr lang="pt-BR" sz="1000">
                <a:solidFill>
                  <a:srgbClr val="101A2C"/>
                </a:solidFill>
                <a:latin typeface="JetBrains Mono" panose="02000009000000000000" pitchFamily="49" charset="0"/>
              </a:rPr>
              <a:t>Base (n = 1):  17¹ − 10¹ = 7 = 7 × 1.  Divisível por 7.</a:t>
            </a:r>
          </a:p>
          <a:p>
            <a:pPr>
              <a:lnSpc>
                <a:spcPct val="134000"/>
              </a:lnSpc>
            </a:pPr>
            <a:endParaRPr lang="pt-BR" sz="1000">
              <a:solidFill>
                <a:srgbClr val="101A2C"/>
              </a:solidFill>
              <a:latin typeface="JetBrains Mono" panose="02000009000000000000" pitchFamily="49" charset="0"/>
            </a:endParaRPr>
          </a:p>
          <a:p>
            <a:pPr>
              <a:lnSpc>
                <a:spcPct val="134000"/>
              </a:lnSpc>
            </a:pPr>
            <a:r>
              <a:rPr lang="pt-BR" sz="1000">
                <a:solidFill>
                  <a:srgbClr val="101A2C"/>
                </a:solidFill>
                <a:latin typeface="JetBrains Mono" panose="02000009000000000000" pitchFamily="49" charset="0"/>
              </a:rPr>
              <a:t>Passo indutivo.  Hipótese: 17ⁿ − 10ⁿ = 7k para algum k ∈ ℤ.</a:t>
            </a:r>
          </a:p>
          <a:p>
            <a:pPr>
              <a:lnSpc>
                <a:spcPct val="134000"/>
              </a:lnSpc>
            </a:pPr>
            <a:endParaRPr lang="pt-BR" sz="1000">
              <a:solidFill>
                <a:srgbClr val="101A2C"/>
              </a:solidFill>
              <a:latin typeface="JetBrains Mono" panose="02000009000000000000" pitchFamily="49" charset="0"/>
            </a:endParaRPr>
          </a:p>
          <a:p>
            <a:pPr>
              <a:lnSpc>
                <a:spcPct val="134000"/>
              </a:lnSpc>
            </a:pPr>
            <a:r>
              <a:rPr lang="pt-BR" sz="1000">
                <a:solidFill>
                  <a:srgbClr val="101A2C"/>
                </a:solidFill>
                <a:latin typeface="JetBrains Mono" panose="02000009000000000000" pitchFamily="49" charset="0"/>
              </a:rPr>
              <a:t>17ⁿ⁺¹ − 10ⁿ⁺¹ = 17·17ⁿ − 10·10ⁿ</a:t>
            </a:r>
          </a:p>
          <a:p>
            <a:pPr>
              <a:lnSpc>
                <a:spcPct val="134000"/>
              </a:lnSpc>
            </a:pPr>
            <a:r>
              <a:rPr lang="pt-BR" sz="1000">
                <a:solidFill>
                  <a:srgbClr val="101A2C"/>
                </a:solidFill>
                <a:latin typeface="JetBrains Mono" panose="02000009000000000000" pitchFamily="49" charset="0"/>
              </a:rPr>
              <a:t>                       = 17·17ⁿ − 17·10ⁿ + 17·10ⁿ − 10·10ⁿ</a:t>
            </a:r>
          </a:p>
          <a:p>
            <a:pPr>
              <a:lnSpc>
                <a:spcPct val="134000"/>
              </a:lnSpc>
            </a:pPr>
            <a:r>
              <a:rPr lang="pt-BR" sz="1000">
                <a:solidFill>
                  <a:srgbClr val="101A2C"/>
                </a:solidFill>
                <a:latin typeface="JetBrains Mono" panose="02000009000000000000" pitchFamily="49" charset="0"/>
              </a:rPr>
              <a:t>                       = 17(17ⁿ − 10ⁿ) + 7·10ⁿ</a:t>
            </a:r>
          </a:p>
          <a:p>
            <a:pPr>
              <a:lnSpc>
                <a:spcPct val="134000"/>
              </a:lnSpc>
            </a:pPr>
            <a:r>
              <a:rPr lang="pt-BR" sz="1000">
                <a:solidFill>
                  <a:srgbClr val="101A2C"/>
                </a:solidFill>
                <a:latin typeface="JetBrains Mono" panose="02000009000000000000" pitchFamily="49" charset="0"/>
              </a:rPr>
              <a:t>                       = 17·7k + 7·10ⁿ</a:t>
            </a:r>
          </a:p>
          <a:p>
            <a:pPr>
              <a:lnSpc>
                <a:spcPct val="134000"/>
              </a:lnSpc>
            </a:pPr>
            <a:r>
              <a:rPr lang="pt-BR" sz="1000">
                <a:solidFill>
                  <a:srgbClr val="101A2C"/>
                </a:solidFill>
                <a:latin typeface="JetBrains Mono" panose="02000009000000000000" pitchFamily="49" charset="0"/>
              </a:rPr>
              <a:t>                       = 7(17k + 10ⁿ).</a:t>
            </a:r>
          </a:p>
          <a:p>
            <a:pPr>
              <a:lnSpc>
                <a:spcPct val="134000"/>
              </a:lnSpc>
            </a:pPr>
            <a:endParaRPr lang="pt-BR" sz="1000">
              <a:solidFill>
                <a:srgbClr val="101A2C"/>
              </a:solidFill>
              <a:latin typeface="JetBrains Mono" panose="02000009000000000000" pitchFamily="49" charset="0"/>
            </a:endParaRPr>
          </a:p>
          <a:p>
            <a:pPr>
              <a:lnSpc>
                <a:spcPct val="134000"/>
              </a:lnSpc>
            </a:pPr>
            <a:r>
              <a:rPr lang="pt-BR" sz="1000">
                <a:solidFill>
                  <a:srgbClr val="101A2C"/>
                </a:solidFill>
                <a:latin typeface="JetBrains Mono" panose="02000009000000000000" pitchFamily="49" charset="0"/>
              </a:rPr>
              <a:t>Logo 7 divide 17ⁿ⁺¹ − 10ⁿ⁺¹.  ∎</a:t>
            </a:r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56C653FB-9CDA-60F4-635A-6AFB403D2867}"/>
              </a:ext>
            </a:extLst>
          </p:cNvPr>
          <p:cNvCxnSpPr/>
          <p:nvPr/>
        </p:nvCxnSpPr>
        <p:spPr>
          <a:xfrm>
            <a:off x="7975600" y="1968768"/>
            <a:ext cx="3403600" cy="0"/>
          </a:xfrm>
          <a:prstGeom prst="line">
            <a:avLst/>
          </a:prstGeom>
          <a:ln w="15875">
            <a:solidFill>
              <a:srgbClr val="173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23E7BD4-1DDA-4E3D-C821-5522BB52FF82}"/>
              </a:ext>
            </a:extLst>
          </p:cNvPr>
          <p:cNvSpPr txBox="1"/>
          <p:nvPr/>
        </p:nvSpPr>
        <p:spPr>
          <a:xfrm>
            <a:off x="7975600" y="2095768"/>
            <a:ext cx="34036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50" b="1" spc="220">
                <a:solidFill>
                  <a:srgbClr val="8A6A00"/>
                </a:solidFill>
                <a:latin typeface="Lora" pitchFamily="2" charset="0"/>
              </a:rPr>
              <a:t>O TRUQUE DO PASSO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6F32381-E84B-6ACD-35E2-BEDBB5E99D72}"/>
              </a:ext>
            </a:extLst>
          </p:cNvPr>
          <p:cNvSpPr txBox="1"/>
          <p:nvPr/>
        </p:nvSpPr>
        <p:spPr>
          <a:xfrm>
            <a:off x="7975600" y="2330862"/>
            <a:ext cx="3403600" cy="74693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8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Somar e subtrair 17·10ⁿ não muda nada, e faz aparecer o bloco (17ⁿ − 10ⁿ) — exatamente o que a hipótese de indução sabe descrever.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281C57ED-8DAA-227A-3B20-FA0B74873F50}"/>
              </a:ext>
            </a:extLst>
          </p:cNvPr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9525">
            <a:solidFill>
              <a:srgbClr val="E4E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775AF33-5708-288E-12D3-9B38B3E2193D}"/>
              </a:ext>
            </a:extLst>
          </p:cNvPr>
          <p:cNvSpPr txBox="1"/>
          <p:nvPr/>
        </p:nvSpPr>
        <p:spPr>
          <a:xfrm>
            <a:off x="812800" y="6426200"/>
            <a:ext cx="812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ESCOLA DE ECONOMIA DE SÃO PAULO · MÓDULO 2 · TÉCNICAS DE DEMONSTRAÇÃO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AC0866D-B8A7-B95E-F177-7065A010D524}"/>
              </a:ext>
            </a:extLst>
          </p:cNvPr>
          <p:cNvSpPr txBox="1"/>
          <p:nvPr/>
        </p:nvSpPr>
        <p:spPr>
          <a:xfrm>
            <a:off x="9855200" y="6426200"/>
            <a:ext cx="152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2 / 3</a:t>
            </a:r>
          </a:p>
        </p:txBody>
      </p:sp>
    </p:spTree>
    <p:extLst>
      <p:ext uri="{BB962C8B-B14F-4D97-AF65-F5344CB8AC3E}">
        <p14:creationId xmlns:p14="http://schemas.microsoft.com/office/powerpoint/2010/main" val="1744242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B296249-9F9F-0076-E07E-CD283B7CBBF9}"/>
              </a:ext>
            </a:extLst>
          </p:cNvPr>
          <p:cNvSpPr txBox="1"/>
          <p:nvPr/>
        </p:nvSpPr>
        <p:spPr>
          <a:xfrm>
            <a:off x="812800" y="533400"/>
            <a:ext cx="889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 spc="240">
                <a:solidFill>
                  <a:srgbClr val="8A6A00"/>
                </a:solidFill>
                <a:latin typeface="Lora" pitchFamily="2" charset="0"/>
              </a:rPr>
              <a:t>AULA 05  ·  PROVA POR INDUÇÃO MATEMÁTICA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F1FB84E-ECD8-1F52-3D28-0389679E7463}"/>
              </a:ext>
            </a:extLst>
          </p:cNvPr>
          <p:cNvSpPr txBox="1"/>
          <p:nvPr/>
        </p:nvSpPr>
        <p:spPr>
          <a:xfrm>
            <a:off x="812800" y="776188"/>
            <a:ext cx="914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6000"/>
              </a:lnSpc>
            </a:pPr>
            <a:r>
              <a:rPr lang="pt-BR" sz="2800">
                <a:solidFill>
                  <a:srgbClr val="17365E"/>
                </a:solidFill>
                <a:latin typeface="Lora" pitchFamily="2" charset="0"/>
              </a:rPr>
              <a:t>Um erro clássico — o argumento de Raquel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F42B4F7-1967-3FE6-E61C-C81CA36BC3B3}"/>
              </a:ext>
            </a:extLst>
          </p:cNvPr>
          <p:cNvSpPr/>
          <p:nvPr/>
        </p:nvSpPr>
        <p:spPr>
          <a:xfrm>
            <a:off x="812800" y="1372175"/>
            <a:ext cx="914400" cy="31750"/>
          </a:xfrm>
          <a:prstGeom prst="rect">
            <a:avLst/>
          </a:prstGeom>
          <a:solidFill>
            <a:srgbClr val="E3B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070A4C6-21D3-2C64-30E9-5B8CFB622E82}"/>
              </a:ext>
            </a:extLst>
          </p:cNvPr>
          <p:cNvSpPr/>
          <p:nvPr/>
        </p:nvSpPr>
        <p:spPr>
          <a:xfrm>
            <a:off x="812800" y="2483652"/>
            <a:ext cx="6604000" cy="829221"/>
          </a:xfrm>
          <a:prstGeom prst="rect">
            <a:avLst/>
          </a:prstGeom>
          <a:solidFill>
            <a:srgbClr val="F4F2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5078C2B-9765-9B08-286C-C95692258531}"/>
              </a:ext>
            </a:extLst>
          </p:cNvPr>
          <p:cNvSpPr txBox="1"/>
          <p:nvPr/>
        </p:nvSpPr>
        <p:spPr>
          <a:xfrm>
            <a:off x="990600" y="2661452"/>
            <a:ext cx="62484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50" b="1" spc="220">
                <a:solidFill>
                  <a:srgbClr val="8A6A00"/>
                </a:solidFill>
                <a:latin typeface="Lora" pitchFamily="2" charset="0"/>
              </a:rPr>
              <a:t>A AFIRMAÇÃO (FALSA)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DF97EA4-3AF6-E596-A46A-240FBAFF7558}"/>
              </a:ext>
            </a:extLst>
          </p:cNvPr>
          <p:cNvSpPr txBox="1"/>
          <p:nvPr/>
        </p:nvSpPr>
        <p:spPr>
          <a:xfrm>
            <a:off x="990600" y="2896546"/>
            <a:ext cx="6248400" cy="2385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50">
                <a:solidFill>
                  <a:srgbClr val="101A2C"/>
                </a:solidFill>
                <a:latin typeface="Spectral" pitchFamily="2" charset="0"/>
              </a:rPr>
              <a:t>“Todas as pessoas num grupo de n pessoas têm a mesma idade.”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F0FC148-8251-B77B-4686-907896072C5B}"/>
              </a:ext>
            </a:extLst>
          </p:cNvPr>
          <p:cNvSpPr/>
          <p:nvPr/>
        </p:nvSpPr>
        <p:spPr>
          <a:xfrm>
            <a:off x="812800" y="3566874"/>
            <a:ext cx="6604000" cy="1798649"/>
          </a:xfrm>
          <a:prstGeom prst="rect">
            <a:avLst/>
          </a:prstGeom>
          <a:solidFill>
            <a:srgbClr val="F4F2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082D2FC-364C-E4FB-B16D-945F8130AF24}"/>
              </a:ext>
            </a:extLst>
          </p:cNvPr>
          <p:cNvSpPr txBox="1"/>
          <p:nvPr/>
        </p:nvSpPr>
        <p:spPr>
          <a:xfrm>
            <a:off x="977900" y="3731974"/>
            <a:ext cx="62738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50" b="1" spc="220">
                <a:solidFill>
                  <a:srgbClr val="8A6A00"/>
                </a:solidFill>
                <a:latin typeface="Lora" pitchFamily="2" charset="0"/>
              </a:rPr>
              <a:t>O ARGUMENTO INCORRETO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1D2BE73-FA7F-3ECB-1EAE-A992A326C13F}"/>
              </a:ext>
            </a:extLst>
          </p:cNvPr>
          <p:cNvSpPr txBox="1"/>
          <p:nvPr/>
        </p:nvSpPr>
        <p:spPr>
          <a:xfrm>
            <a:off x="977900" y="3979768"/>
            <a:ext cx="6273800" cy="1220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4000"/>
              </a:lnSpc>
            </a:pPr>
            <a:r>
              <a:rPr lang="pt-BR" sz="1000">
                <a:solidFill>
                  <a:srgbClr val="101A2C"/>
                </a:solidFill>
                <a:latin typeface="JetBrains Mono" panose="02000009000000000000" pitchFamily="49" charset="0"/>
              </a:rPr>
              <a:t>Base (n = 1): trivialmente verdadeiro.</a:t>
            </a:r>
          </a:p>
          <a:p>
            <a:pPr>
              <a:lnSpc>
                <a:spcPct val="134000"/>
              </a:lnSpc>
            </a:pPr>
            <a:endParaRPr lang="pt-BR" sz="1000">
              <a:solidFill>
                <a:srgbClr val="101A2C"/>
              </a:solidFill>
              <a:latin typeface="JetBrains Mono" panose="02000009000000000000" pitchFamily="49" charset="0"/>
            </a:endParaRPr>
          </a:p>
          <a:p>
            <a:pPr>
              <a:lnSpc>
                <a:spcPct val="134000"/>
              </a:lnSpc>
            </a:pPr>
            <a:r>
              <a:rPr lang="pt-BR" sz="1000">
                <a:solidFill>
                  <a:srgbClr val="101A2C"/>
                </a:solidFill>
                <a:latin typeface="JetBrains Mono" panose="02000009000000000000" pitchFamily="49" charset="0"/>
              </a:rPr>
              <a:t>Passo: tome n + 1 pessoas.</a:t>
            </a:r>
          </a:p>
          <a:p>
            <a:pPr>
              <a:lnSpc>
                <a:spcPct val="134000"/>
              </a:lnSpc>
            </a:pPr>
            <a:r>
              <a:rPr lang="pt-BR" sz="1000">
                <a:solidFill>
                  <a:srgbClr val="101A2C"/>
                </a:solidFill>
                <a:latin typeface="JetBrains Mono" panose="02000009000000000000" pitchFamily="49" charset="0"/>
              </a:rPr>
              <a:t>Retire a última — as n primeiras têm a mesma idade (hipótese de indução).</a:t>
            </a:r>
          </a:p>
          <a:p>
            <a:pPr>
              <a:lnSpc>
                <a:spcPct val="134000"/>
              </a:lnSpc>
            </a:pPr>
            <a:r>
              <a:rPr lang="pt-BR" sz="1000">
                <a:solidFill>
                  <a:srgbClr val="101A2C"/>
                </a:solidFill>
                <a:latin typeface="JetBrains Mono" panose="02000009000000000000" pitchFamily="49" charset="0"/>
              </a:rPr>
              <a:t>Retire a primeira — as n últimas têm a mesma idade (hipótese de indução).</a:t>
            </a:r>
          </a:p>
          <a:p>
            <a:pPr>
              <a:lnSpc>
                <a:spcPct val="134000"/>
              </a:lnSpc>
            </a:pPr>
            <a:r>
              <a:rPr lang="pt-BR" sz="1000">
                <a:solidFill>
                  <a:srgbClr val="101A2C"/>
                </a:solidFill>
                <a:latin typeface="JetBrains Mono" panose="02000009000000000000" pitchFamily="49" charset="0"/>
              </a:rPr>
              <a:t>Como os dois subgrupos se sobrepõem, todas as n + 1 têm a mesma idade.</a:t>
            </a:r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A2D5E1F3-76BC-208C-E9AB-96ED1323FCDC}"/>
              </a:ext>
            </a:extLst>
          </p:cNvPr>
          <p:cNvCxnSpPr/>
          <p:nvPr/>
        </p:nvCxnSpPr>
        <p:spPr>
          <a:xfrm>
            <a:off x="7975600" y="2483652"/>
            <a:ext cx="3403600" cy="0"/>
          </a:xfrm>
          <a:prstGeom prst="line">
            <a:avLst/>
          </a:prstGeom>
          <a:ln w="15875">
            <a:solidFill>
              <a:srgbClr val="173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E3567D5-C444-8115-579B-5133C3332922}"/>
              </a:ext>
            </a:extLst>
          </p:cNvPr>
          <p:cNvSpPr txBox="1"/>
          <p:nvPr/>
        </p:nvSpPr>
        <p:spPr>
          <a:xfrm>
            <a:off x="7975600" y="2610652"/>
            <a:ext cx="34036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50" b="1" spc="220">
                <a:solidFill>
                  <a:srgbClr val="8A6A00"/>
                </a:solidFill>
                <a:latin typeface="Lora" pitchFamily="2" charset="0"/>
              </a:rPr>
              <a:t>ONDE ESTÁ O ERRO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E308DFA-880F-3A4D-30B8-F090067F1268}"/>
              </a:ext>
            </a:extLst>
          </p:cNvPr>
          <p:cNvSpPr txBox="1"/>
          <p:nvPr/>
        </p:nvSpPr>
        <p:spPr>
          <a:xfrm>
            <a:off x="7975600" y="2845746"/>
            <a:ext cx="3403600" cy="15113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8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No passo de n = 1 para n = 2. Com duas pessoas, os dois subgrupos têm uma pessoa cada e a interseção é vazia — nada conecta as duas.</a:t>
            </a:r>
          </a:p>
          <a:p>
            <a:pPr>
              <a:lnSpc>
                <a:spcPct val="138000"/>
              </a:lnSpc>
            </a:pPr>
            <a:endParaRPr lang="pt-BR" sz="1200">
              <a:solidFill>
                <a:srgbClr val="3A4152"/>
              </a:solidFill>
              <a:latin typeface="Spectral" pitchFamily="2" charset="0"/>
            </a:endParaRPr>
          </a:p>
          <a:p>
            <a:pPr>
              <a:lnSpc>
                <a:spcPct val="138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Lição: verifique sempre o passo de n = 1 para n = 2, não apenas o caso geral.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4077EFEA-B9E3-7F9F-C0C7-0F301BFD5EA1}"/>
              </a:ext>
            </a:extLst>
          </p:cNvPr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9525">
            <a:solidFill>
              <a:srgbClr val="E4E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0B68CBB7-017A-5BE2-48CD-44F48E0C4CE0}"/>
              </a:ext>
            </a:extLst>
          </p:cNvPr>
          <p:cNvSpPr txBox="1"/>
          <p:nvPr/>
        </p:nvSpPr>
        <p:spPr>
          <a:xfrm>
            <a:off x="812800" y="6426200"/>
            <a:ext cx="812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ESCOLA DE ECONOMIA DE SÃO PAULO · MÓDULO 2 · TÉCNICAS DE DEMONSTRAÇÃO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579E392B-936F-52E0-0472-028F57EA89BE}"/>
              </a:ext>
            </a:extLst>
          </p:cNvPr>
          <p:cNvSpPr txBox="1"/>
          <p:nvPr/>
        </p:nvSpPr>
        <p:spPr>
          <a:xfrm>
            <a:off x="9855200" y="6426200"/>
            <a:ext cx="152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3 / 3</a:t>
            </a:r>
          </a:p>
        </p:txBody>
      </p:sp>
    </p:spTree>
    <p:extLst>
      <p:ext uri="{BB962C8B-B14F-4D97-AF65-F5344CB8AC3E}">
        <p14:creationId xmlns:p14="http://schemas.microsoft.com/office/powerpoint/2010/main" val="3961671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1620</Words>
  <Application>Microsoft Office PowerPoint</Application>
  <PresentationFormat>Widescreen</PresentationFormat>
  <Paragraphs>106</Paragraphs>
  <Slides>4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2" baseType="lpstr">
      <vt:lpstr>Aptos</vt:lpstr>
      <vt:lpstr>Aptos Display</vt:lpstr>
      <vt:lpstr>Arial</vt:lpstr>
      <vt:lpstr>Georgia</vt:lpstr>
      <vt:lpstr>JetBrains Mono</vt:lpstr>
      <vt:lpstr>Lora</vt:lpstr>
      <vt:lpstr>Spectral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Gabriela do Couto Fonseca</dc:creator>
  <cp:lastModifiedBy>Gabriela do Couto Fonseca</cp:lastModifiedBy>
  <cp:revision>1</cp:revision>
  <dcterms:created xsi:type="dcterms:W3CDTF">2026-09-23T16:28:12Z</dcterms:created>
  <dcterms:modified xsi:type="dcterms:W3CDTF">2026-09-23T16:28:39Z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4f7750d-9cdf-4ba7-80aa-2c6ffdc35229_Enabled">
    <vt:lpwstr>true</vt:lpwstr>
  </property>
  <property fmtid="{D5CDD505-2E9C-101B-9397-08002B2CF9AE}" pid="3" name="MSIP_Label_84f7750d-9cdf-4ba7-80aa-2c6ffdc35229_SetDate">
    <vt:lpwstr>2026-09-23T16:28:12Z</vt:lpwstr>
  </property>
  <property fmtid="{D5CDD505-2E9C-101B-9397-08002B2CF9AE}" pid="4" name="MSIP_Label_84f7750d-9cdf-4ba7-80aa-2c6ffdc35229_Method">
    <vt:lpwstr>Standard</vt:lpwstr>
  </property>
  <property fmtid="{D5CDD505-2E9C-101B-9397-08002B2CF9AE}" pid="5" name="MSIP_Label_84f7750d-9cdf-4ba7-80aa-2c6ffdc35229_Name">
    <vt:lpwstr>Nível - 1</vt:lpwstr>
  </property>
  <property fmtid="{D5CDD505-2E9C-101B-9397-08002B2CF9AE}" pid="6" name="MSIP_Label_84f7750d-9cdf-4ba7-80aa-2c6ffdc35229_SiteId">
    <vt:lpwstr>79f6b639-ab12-4280-8077-bdbeef869b33</vt:lpwstr>
  </property>
  <property fmtid="{D5CDD505-2E9C-101B-9397-08002B2CF9AE}" pid="7" name="MSIP_Label_84f7750d-9cdf-4ba7-80aa-2c6ffdc35229_ActionId">
    <vt:lpwstr>7590cd47-bb62-4c80-9164-3f7faad1332a</vt:lpwstr>
  </property>
  <property fmtid="{D5CDD505-2E9C-101B-9397-08002B2CF9AE}" pid="8" name="MSIP_Label_84f7750d-9cdf-4ba7-80aa-2c6ffdc35229_ContentBits">
    <vt:lpwstr>0</vt:lpwstr>
  </property>
  <property fmtid="{D5CDD505-2E9C-101B-9397-08002B2CF9AE}" pid="9" name="MSIP_Label_84f7750d-9cdf-4ba7-80aa-2c6ffdc35229_Tag">
    <vt:lpwstr>10, 3, 0, 1</vt:lpwstr>
  </property>
</Properties>
</file>