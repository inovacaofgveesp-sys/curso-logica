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pt-BR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briela do Couto Fonseca" userId="f73f3f1e-5e1c-47a9-aa2d-ab4ab106ce0b" providerId="ADAL" clId="{36832870-9FEF-437A-81DC-AEE05E3FC80B}"/>
    <pc:docChg chg="custSel modSld">
      <pc:chgData name="Gabriela do Couto Fonseca" userId="f73f3f1e-5e1c-47a9-aa2d-ab4ab106ce0b" providerId="ADAL" clId="{36832870-9FEF-437A-81DC-AEE05E3FC80B}" dt="2026-09-23T16:28:30.341" v="11" actId="947"/>
      <pc:docMkLst>
        <pc:docMk/>
      </pc:docMkLst>
      <pc:sldChg chg="modNotes">
        <pc:chgData name="Gabriela do Couto Fonseca" userId="f73f3f1e-5e1c-47a9-aa2d-ab4ab106ce0b" providerId="ADAL" clId="{36832870-9FEF-437A-81DC-AEE05E3FC80B}" dt="2026-09-23T16:28:29.905" v="2" actId="947"/>
        <pc:sldMkLst>
          <pc:docMk/>
          <pc:sldMk cId="591634745" sldId="256"/>
        </pc:sldMkLst>
      </pc:sldChg>
      <pc:sldChg chg="modNotes">
        <pc:chgData name="Gabriela do Couto Fonseca" userId="f73f3f1e-5e1c-47a9-aa2d-ab4ab106ce0b" providerId="ADAL" clId="{36832870-9FEF-437A-81DC-AEE05E3FC80B}" dt="2026-09-23T16:28:29.991" v="5" actId="947"/>
        <pc:sldMkLst>
          <pc:docMk/>
          <pc:sldMk cId="644092925" sldId="257"/>
        </pc:sldMkLst>
      </pc:sldChg>
      <pc:sldChg chg="modNotes">
        <pc:chgData name="Gabriela do Couto Fonseca" userId="f73f3f1e-5e1c-47a9-aa2d-ab4ab106ce0b" providerId="ADAL" clId="{36832870-9FEF-437A-81DC-AEE05E3FC80B}" dt="2026-09-23T16:28:30.111" v="8" actId="947"/>
        <pc:sldMkLst>
          <pc:docMk/>
          <pc:sldMk cId="1399964118" sldId="258"/>
        </pc:sldMkLst>
      </pc:sldChg>
      <pc:sldChg chg="modNotes">
        <pc:chgData name="Gabriela do Couto Fonseca" userId="f73f3f1e-5e1c-47a9-aa2d-ab4ab106ce0b" providerId="ADAL" clId="{36832870-9FEF-437A-81DC-AEE05E3FC80B}" dt="2026-09-23T16:28:30.341" v="11" actId="947"/>
        <pc:sldMkLst>
          <pc:docMk/>
          <pc:sldMk cId="831717846" sldId="25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BCA588-4AA8-405F-84AC-7ED6EF4ABD95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B177E5-873F-48B8-B33B-2B4A3E1619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3451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>
                <a:latin typeface="Georgia" panose="02040502050405020303" pitchFamily="18" charset="0"/>
              </a:rPr>
              <a:t>Aqui a gente muda de patamar. Tudo o que vimos até agora trata proposições como blocos fechados: verdadeiro ou falso, ponto. Só que as afirmações matemáticas de verdade quase sempre falam sobre coleções inteiras de objetos — todo número par, algum preço de equilíbrio. Para isso precisamos de duas ferramentas novas. E, no fim desta aula, elas vão te entregar a definição de limite.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B177E5-873F-48B8-B33B-2B4A3E161949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18284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>
                <a:latin typeface="Georgia" panose="02040502050405020303" pitchFamily="18" charset="0"/>
              </a:rPr>
              <a:t>O quantificador universal lê-se para todo. A afirmação para todo x em A vale P de x diz que a propriedade P se aplica a todos os elementos daquele conjunto, sem exceção nenhuma.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E aqui existe uma assimetria que vale a pena internalizar, porque ela governa o resto do curso.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Para provar uma afirmação universal, verificar casos não serve para nada. Você pode testar mil números e não terá provado coisa alguma sobre o milésimo primeiro. É preciso um argumento que funcione para um elemento genérico — um x qualquer, sobre o qual você não supôs nada além de pertencer ao conjunto.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Mas para derrubar uma afirmação universal, basta um único contraexemplo. Um.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Olha os dois exemplos. Para todo x real, x ao quadrado é maior ou igual a zero: verdadeiro, e para provar isso você precisa de um argumento geral sobre o que acontece quando se multiplica um número por ele mesmo. Já para todo x real, x é positivo: falso, e para mostrar isso basta apontar menos um. Não precisa de teoria, não precisa de argumento. Um número.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Essa assimetria explica uma coisa curiosa da prática econômica. Derrubar uma teoria que afirma algo universal costuma ser barato: um caso bem documentado que não se encaixa. Sustentar essa mesma teoria é caro, porque exige mostrar que o mecanismo vale em geral, e não só nos casos que você olhou. Não é injustiça com quem propõe teorias — é a estrutura lógica da afirmação.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B177E5-873F-48B8-B33B-2B4A3E161949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38853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>
                <a:latin typeface="Georgia" panose="02040502050405020303" pitchFamily="18" charset="0"/>
              </a:rPr>
              <a:t>O quantificador existencial lê-se existe, e ele inverte exatamente a assimetria da aula anterior.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Para provar que existe algum x com a propriedade P, basta exibir um. Um exemplo concreto e acabou a discussão. Já para provar que não existe nenhum, você precisa varrer o conjunto inteiro e mostrar que a propriedade falha em todo lugar — que é o trabalho caro.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E é justamente por isso que os dois quantificadores vivem trocando de lugar quando a gente nega.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Olha a tabela. Negar para todo x vale P produz existe um x onde P falha. Faz sentido: derrubar um universal é exibir um contraexemplo, e exibir um contraexemplo é uma afirmação existencial.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E negar existe um x com a propriedade P produz para todo x, P falha. Também faz sentido: dizer que não existe é afirmar algo sobre todos.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Esse par de regras é uma das coisas mais úteis do módulo inteiro, porque toda prova por contradição começa exatamente aqui — você pega a afirmação que quer provar e nega. Se ela tem quantificador, é essa tabela que diz o que a negação virou.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Um exemplo econômico de cada lado. Para todo consumidor racional, a utilidade marginal é decrescente é uma afirmação universal: um consumidor bem documentado que se comporte de outro jeito já a coloca em xeque. Existe uma alocação eficiente no sentido de Pareto é existencial: exibir uma alocação específica resolve.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E o detalhe que separa quem entendeu de quem decorou: a ordem dos quantificadores importa. Muito. Isso fica evidente no próximo slide.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B177E5-873F-48B8-B33B-2B4A3E161949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07750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>
                <a:latin typeface="Georgia" panose="02040502050405020303" pitchFamily="18" charset="0"/>
              </a:rPr>
              <a:t>Agora o slide que justifica a aula inteira.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Esta é a definição formal de limite. Quando você encontrá-la pela primeira vez em cálculo, ela vai parecer um amontoado de símbolos gregos. Mas agora você tem as peças, então vamos ler devagar.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O limite de f de x, quando x tende a a, é igual a L significa: para todo épsilon maior que zero, existe delta maior que zero, tal que, se a distância entre x e a for menor que delta e diferente de zero, então a distância entre f de x e L é menor que épsilon.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Repara na estrutura. Um para todo, depois um existe, e no fim uma implicação. Nada além do que a gente viu nas últimas aulas.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E em português corrente a definição vira um diálogo. Você me desafia: quero f de x a menos de um centésimo de L. Eu respondo: então fique a menos de tal distância de a. Você insiste: quero a menos de um milionésimo. Eu respondo com uma distância menor ainda. Dizer que o limite é L é dizer que eu consigo responder a qualquer desafio seu, por mais exigente que seja.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E agora o motivo pelo qual eu insisti na ordem dos quantificadores. Na definição, o para todo épsilon vem antes do existe delta. Isso significa que o delta pode depender do épsilon — para cada desafio, uma resposta diferente. Se você invertesse a ordem, estaria exigindo um único delta que funcionasse para todos os épsilons ao mesmo tempo. É uma afirmação muito mais forte, e quase sempre falsa.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Mesmos símbolos, ordem diferente, significado completamente diferente. É por isso que a gente aprende lógica antes de cálculo, e não depois.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B177E5-873F-48B8-B33B-2B4A3E161949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23698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193F90-2334-7723-CFEB-F057DBA4B8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2D4208E-E193-20A9-288D-CEB4B1F81E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EFBB7DA-672F-9D76-9D35-D37BEC319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B24E7-9E9F-432A-B394-45F3736252AE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CEF3BC3-00D7-3472-C653-574FFB70D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AEA48EF-3CD2-7C36-94F8-BC478F937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A8491-DD44-4213-88B0-1B3774CCB3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6341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86D64E-AA81-7160-2B97-FC6983F57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ED52735-945B-E1DC-4B1B-CE0C2F27A1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98EF061-4A35-638B-C73C-2DF0B036C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B24E7-9E9F-432A-B394-45F3736252AE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A7F2CBB-886A-014B-9FA1-175BB238A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6D1CBBF-CC11-8461-5A58-23FE3F08B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A8491-DD44-4213-88B0-1B3774CCB3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2090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FEBA91-1CD3-B903-7A37-E87070ACD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9FAEB55-783C-16E4-264D-08FBDBE4A4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B0B7E1E-0EE2-46CD-4D39-AA1F69AAB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B24E7-9E9F-432A-B394-45F3736252AE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0F8E942-544F-5D56-4701-0316E304A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0653053-83A0-C3BC-18F2-55CF0F956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A8491-DD44-4213-88B0-1B3774CCB3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0003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5C7E9A-6D8B-18B8-67DC-B6EFA6A1B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D6DF2DB-FB9E-EBFE-77F8-27CE7AB6C1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4422B0F-E0A3-713C-9E9B-EF6FA3D4F2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18B3003-4AF4-D17B-60EA-9E548AF7A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B24E7-9E9F-432A-B394-45F3736252AE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BCD9EAA-7BB1-E2E3-9A14-253EC0B22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EE83F01-91C5-017E-5A28-7E4B4ED54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A8491-DD44-4213-88B0-1B3774CCB3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6605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45887B-FAAD-66E1-85BE-F3DC6364A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3A70497-EA11-B674-CEC2-24870CD799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90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BC366E1-0E91-4856-0F26-D258E65E93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90" y="2505077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0751750-7D0F-9111-2DA9-BEB6C33AF7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2872DB6-17C4-4CB0-6F1F-B917542DF4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7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0914DC7-5743-DE9D-167D-542B3EB86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B24E7-9E9F-432A-B394-45F3736252AE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EBED470-3ABB-8D87-A254-24C05DE33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C806EF7-2A9A-9C3A-CB18-6C094465E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A8491-DD44-4213-88B0-1B3774CCB3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575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C645BF-2838-6D70-3CD4-800796B7F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7F0B5DA-6234-183A-BC6E-43D108C06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B24E7-9E9F-432A-B394-45F3736252AE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3C09973-6697-FE8B-2180-633496282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D2FC516-B968-EB0D-2BEA-7487FC3E5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A8491-DD44-4213-88B0-1B3774CCB3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7108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88EF532-E689-8BC4-1569-4742625E3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B24E7-9E9F-432A-B394-45F3736252AE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7360C80-98DB-FF88-CB72-E28291E4F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3CEF7D0-010A-34FB-356B-A137571C3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A8491-DD44-4213-88B0-1B3774CCB3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4856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FCF5FF-1AA7-D748-047A-2FFC41A8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E6D4F1B-B7B5-98A8-CD32-B31948F4C1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8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0BBD69B-FB82-50B5-D977-0CF9AAC4C3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2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7BFAFC2-A8A6-E4D8-BC5C-AED1B1D25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B24E7-9E9F-432A-B394-45F3736252AE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FD3C2D9-DF79-3725-7195-AA4625BF2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703B6F4-DBB4-6F67-D8AA-F24076A25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A8491-DD44-4213-88B0-1B3774CCB3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0585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4D0BD6-48A1-3E49-603A-E873A9C29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582B0A5-D11F-CFED-8E33-52F4CB2FAF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8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56D06EA-F70C-4D6F-E11C-541CAD883E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2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4246B2A-881B-1FA1-25B7-85AC750F9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B24E7-9E9F-432A-B394-45F3736252AE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4899867-37CB-6A51-3D7E-268EBDF53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A6150CA-EDC9-5CA3-B09F-A51686E56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A8491-DD44-4213-88B0-1B3774CCB3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96080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CD2148-25C9-EE7A-1140-085A8BD40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B113B1A-FD2B-970F-6273-5DB05D462C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18FDC73-DB6C-7B9D-0BA5-6156FF458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B24E7-9E9F-432A-B394-45F3736252AE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47319FE-4F7A-167A-497C-E356ED2F7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17AF412-ACAE-928E-0E02-EB50B262B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A8491-DD44-4213-88B0-1B3774CCB3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93013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7AD3565-E6E6-D4BC-0E1F-5E192F27C2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7"/>
            <a:ext cx="2628900" cy="581183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D6F2AD4-88F6-D6FE-3488-65C18D8E8F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7"/>
            <a:ext cx="7734300" cy="581183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5E3DC68-CCAE-1297-4887-FB708C7EA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B24E7-9E9F-432A-B394-45F3736252AE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68629B8-EE7D-B99C-4BC2-2FB249175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557C408-D64E-9C1C-C287-5DEDA101B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A8491-DD44-4213-88B0-1B3774CCB3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567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63FED89-7FE6-8531-CB9E-084086D5F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2DFEC5-51ED-49AB-64B6-6F93B8566D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D9EE68E-EEAE-F196-221E-925F0B68F6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CB24E7-9E9F-432A-B394-45F3736252AE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01749FC-85AB-2983-73C7-B9457323CD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6E70F02-6DBE-7C21-16DA-3C2FDC7327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BA8491-DD44-4213-88B0-1B3774CCB3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01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6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EC232F0-316E-102B-1708-43F6F2485664}"/>
              </a:ext>
            </a:extLst>
          </p:cNvPr>
          <p:cNvSpPr txBox="1"/>
          <p:nvPr/>
        </p:nvSpPr>
        <p:spPr>
          <a:xfrm>
            <a:off x="812800" y="2362200"/>
            <a:ext cx="762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 b="1" spc="300">
                <a:solidFill>
                  <a:srgbClr val="E3B505"/>
                </a:solidFill>
                <a:latin typeface="Lora" pitchFamily="2" charset="0"/>
              </a:rPr>
              <a:t>AULA 06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E0987DC-7699-4903-F6C5-9EB0FFCE7511}"/>
              </a:ext>
            </a:extLst>
          </p:cNvPr>
          <p:cNvSpPr txBox="1"/>
          <p:nvPr/>
        </p:nvSpPr>
        <p:spPr>
          <a:xfrm>
            <a:off x="812800" y="2717800"/>
            <a:ext cx="8382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5000"/>
              </a:lnSpc>
            </a:pPr>
            <a:r>
              <a:rPr lang="pt-BR" sz="4200">
                <a:solidFill>
                  <a:srgbClr val="FFFFFF"/>
                </a:solidFill>
                <a:latin typeface="Lora" pitchFamily="2" charset="0"/>
              </a:rPr>
              <a:t>Para todo e existe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64FE7F7-6123-7881-E25E-E1166716A0CB}"/>
              </a:ext>
            </a:extLst>
          </p:cNvPr>
          <p:cNvSpPr/>
          <p:nvPr/>
        </p:nvSpPr>
        <p:spPr>
          <a:xfrm>
            <a:off x="812800" y="3592731"/>
            <a:ext cx="914400" cy="38100"/>
          </a:xfrm>
          <a:prstGeom prst="rect">
            <a:avLst/>
          </a:prstGeom>
          <a:solidFill>
            <a:srgbClr val="E3B50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AA12660-D278-2814-6A03-225DA755927C}"/>
              </a:ext>
            </a:extLst>
          </p:cNvPr>
          <p:cNvSpPr txBox="1"/>
          <p:nvPr/>
        </p:nvSpPr>
        <p:spPr>
          <a:xfrm>
            <a:off x="812800" y="3846731"/>
            <a:ext cx="7874000" cy="25583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25000"/>
              </a:lnSpc>
            </a:pPr>
            <a:r>
              <a:rPr lang="pt-BR" sz="1400">
                <a:solidFill>
                  <a:srgbClr val="B9C6D8"/>
                </a:solidFill>
                <a:latin typeface="Spectral" pitchFamily="2" charset="0"/>
              </a:rPr>
              <a:t>Os quantificadores ∀ e ∃</a:t>
            </a:r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917F8583-D425-E5AC-5B6A-00C2ED202492}"/>
              </a:ext>
            </a:extLst>
          </p:cNvPr>
          <p:cNvCxnSpPr/>
          <p:nvPr/>
        </p:nvCxnSpPr>
        <p:spPr>
          <a:xfrm>
            <a:off x="812800" y="6324600"/>
            <a:ext cx="10566400" cy="0"/>
          </a:xfrm>
          <a:prstGeom prst="line">
            <a:avLst/>
          </a:prstGeom>
          <a:ln w="9525">
            <a:solidFill>
              <a:srgbClr val="2A4A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B5CC7809-E8E4-B4A2-F7F4-E50F6D26D175}"/>
              </a:ext>
            </a:extLst>
          </p:cNvPr>
          <p:cNvSpPr txBox="1"/>
          <p:nvPr/>
        </p:nvSpPr>
        <p:spPr>
          <a:xfrm>
            <a:off x="812800" y="6426200"/>
            <a:ext cx="8128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 spc="160">
                <a:solidFill>
                  <a:srgbClr val="7F94B4"/>
                </a:solidFill>
                <a:latin typeface="Lora" pitchFamily="2" charset="0"/>
              </a:rPr>
              <a:t>ESCOLA DE ECONOMIA DE SÃO PAULO · MÓDULO 1 · LÓGICA E LINGUAGEM MATEMÁTICA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607ED0A-F08B-14B1-24E2-61EE0BE5A5ED}"/>
              </a:ext>
            </a:extLst>
          </p:cNvPr>
          <p:cNvSpPr txBox="1"/>
          <p:nvPr/>
        </p:nvSpPr>
        <p:spPr>
          <a:xfrm>
            <a:off x="9855200" y="6426200"/>
            <a:ext cx="1524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endParaRPr lang="pt-BR" sz="800" spc="160">
              <a:solidFill>
                <a:srgbClr val="7F94B4"/>
              </a:solidFill>
              <a:latin typeface="Lor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16347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161DA3F-BFBF-C037-5E00-29D132570D53}"/>
              </a:ext>
            </a:extLst>
          </p:cNvPr>
          <p:cNvSpPr txBox="1"/>
          <p:nvPr/>
        </p:nvSpPr>
        <p:spPr>
          <a:xfrm>
            <a:off x="812800" y="533400"/>
            <a:ext cx="889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 spc="240">
                <a:solidFill>
                  <a:srgbClr val="8A6A00"/>
                </a:solidFill>
                <a:latin typeface="Lora" pitchFamily="2" charset="0"/>
              </a:rPr>
              <a:t>AULA 06  ·  PARA TODO E EXISTE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FBFE836-5523-46F9-7D92-62E3A408924E}"/>
              </a:ext>
            </a:extLst>
          </p:cNvPr>
          <p:cNvSpPr txBox="1"/>
          <p:nvPr/>
        </p:nvSpPr>
        <p:spPr>
          <a:xfrm>
            <a:off x="812800" y="776188"/>
            <a:ext cx="914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6000"/>
              </a:lnSpc>
            </a:pPr>
            <a:r>
              <a:rPr lang="pt-BR" sz="2800">
                <a:solidFill>
                  <a:srgbClr val="17365E"/>
                </a:solidFill>
                <a:latin typeface="Lora" pitchFamily="2" charset="0"/>
              </a:rPr>
              <a:t>Quantificador universal — ∀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D02C78B7-144C-1C9E-C02C-90769A776F77}"/>
              </a:ext>
            </a:extLst>
          </p:cNvPr>
          <p:cNvSpPr/>
          <p:nvPr/>
        </p:nvSpPr>
        <p:spPr>
          <a:xfrm>
            <a:off x="812800" y="1372175"/>
            <a:ext cx="914400" cy="31750"/>
          </a:xfrm>
          <a:prstGeom prst="rect">
            <a:avLst/>
          </a:prstGeom>
          <a:solidFill>
            <a:srgbClr val="E3B50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1D042D23-0AFE-385F-0762-7CAD37493720}"/>
              </a:ext>
            </a:extLst>
          </p:cNvPr>
          <p:cNvSpPr/>
          <p:nvPr/>
        </p:nvSpPr>
        <p:spPr>
          <a:xfrm>
            <a:off x="812800" y="2540959"/>
            <a:ext cx="10566400" cy="1337052"/>
          </a:xfrm>
          <a:prstGeom prst="rect">
            <a:avLst/>
          </a:prstGeom>
          <a:solidFill>
            <a:srgbClr val="F4F2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94CDD8C-7B99-F42B-175C-475202121D85}"/>
              </a:ext>
            </a:extLst>
          </p:cNvPr>
          <p:cNvSpPr txBox="1"/>
          <p:nvPr/>
        </p:nvSpPr>
        <p:spPr>
          <a:xfrm>
            <a:off x="990600" y="2718759"/>
            <a:ext cx="102108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50" b="1" spc="220">
                <a:solidFill>
                  <a:srgbClr val="8A6A00"/>
                </a:solidFill>
                <a:latin typeface="Lora" pitchFamily="2" charset="0"/>
              </a:rPr>
              <a:t>PARA TODO  ∀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34C8FD2-49B5-76BB-D847-2FFC5800E4A6}"/>
              </a:ext>
            </a:extLst>
          </p:cNvPr>
          <p:cNvSpPr txBox="1"/>
          <p:nvPr/>
        </p:nvSpPr>
        <p:spPr>
          <a:xfrm>
            <a:off x="990600" y="2953853"/>
            <a:ext cx="10210800" cy="74635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2000"/>
              </a:lnSpc>
            </a:pPr>
            <a:r>
              <a:rPr lang="pt-BR" sz="1250">
                <a:solidFill>
                  <a:srgbClr val="101A2C"/>
                </a:solidFill>
                <a:latin typeface="Spectral" pitchFamily="2" charset="0"/>
              </a:rPr>
              <a:t>∀x ∈ A, P(x) — “para todo x em A, P(x) é verdadeiro”.</a:t>
            </a:r>
          </a:p>
          <a:p>
            <a:pPr>
              <a:lnSpc>
                <a:spcPct val="132000"/>
              </a:lnSpc>
            </a:pPr>
            <a:r>
              <a:rPr lang="pt-BR" sz="1250">
                <a:solidFill>
                  <a:srgbClr val="101A2C"/>
                </a:solidFill>
                <a:latin typeface="Spectral" pitchFamily="2" charset="0"/>
              </a:rPr>
              <a:t>Para ser verdadeira, P(x) deve valer para TODOS os elementos de A.</a:t>
            </a:r>
          </a:p>
          <a:p>
            <a:pPr>
              <a:lnSpc>
                <a:spcPct val="132000"/>
              </a:lnSpc>
            </a:pPr>
            <a:r>
              <a:rPr lang="pt-BR" sz="1250">
                <a:solidFill>
                  <a:srgbClr val="101A2C"/>
                </a:solidFill>
                <a:latin typeface="Spectral" pitchFamily="2" charset="0"/>
              </a:rPr>
              <a:t>Para falsificá-la, basta UM contraexemplo.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0B1696E-2D09-EE91-C6BF-1D07357AF57A}"/>
              </a:ext>
            </a:extLst>
          </p:cNvPr>
          <p:cNvSpPr txBox="1"/>
          <p:nvPr/>
        </p:nvSpPr>
        <p:spPr>
          <a:xfrm>
            <a:off x="812800" y="4132011"/>
            <a:ext cx="51181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5000"/>
              </a:lnSpc>
            </a:pPr>
            <a:r>
              <a:rPr lang="pt-BR" sz="950" b="1" spc="200">
                <a:solidFill>
                  <a:srgbClr val="8A6A00"/>
                </a:solidFill>
                <a:latin typeface="Lora" pitchFamily="2" charset="0"/>
              </a:rPr>
              <a:t>EXEMPLO VERDADEIRO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2522295C-F539-A7B1-8F79-9C6953805E55}"/>
              </a:ext>
            </a:extLst>
          </p:cNvPr>
          <p:cNvCxnSpPr/>
          <p:nvPr/>
        </p:nvCxnSpPr>
        <p:spPr>
          <a:xfrm>
            <a:off x="812800" y="4354405"/>
            <a:ext cx="5118100" cy="0"/>
          </a:xfrm>
          <a:prstGeom prst="line">
            <a:avLst/>
          </a:prstGeom>
          <a:ln w="19050">
            <a:solidFill>
              <a:srgbClr val="E3B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2284FC5-17F2-E82B-CDBE-78FCAAC15F35}"/>
              </a:ext>
            </a:extLst>
          </p:cNvPr>
          <p:cNvSpPr txBox="1"/>
          <p:nvPr/>
        </p:nvSpPr>
        <p:spPr>
          <a:xfrm>
            <a:off x="812800" y="4468705"/>
            <a:ext cx="5118100" cy="22903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2000"/>
              </a:lnSpc>
            </a:pPr>
            <a:r>
              <a:rPr lang="pt-BR" sz="1200">
                <a:solidFill>
                  <a:srgbClr val="3A4152"/>
                </a:solidFill>
                <a:latin typeface="Spectral" pitchFamily="2" charset="0"/>
              </a:rPr>
              <a:t>∀x ∈ ℝ,  x² ≥ 0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F68ECDC8-CA21-BD7C-47FC-3AA2C16FB738}"/>
              </a:ext>
            </a:extLst>
          </p:cNvPr>
          <p:cNvSpPr txBox="1"/>
          <p:nvPr/>
        </p:nvSpPr>
        <p:spPr>
          <a:xfrm>
            <a:off x="812800" y="4773942"/>
            <a:ext cx="5118100" cy="22903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2000"/>
              </a:lnSpc>
            </a:pPr>
            <a:r>
              <a:rPr lang="pt-BR" sz="1200">
                <a:solidFill>
                  <a:srgbClr val="3A4152"/>
                </a:solidFill>
                <a:latin typeface="Spectral" pitchFamily="2" charset="0"/>
              </a:rPr>
              <a:t>Todo quadrado real é não-negativo.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004D2DE1-9172-7513-65EA-318B6FB6FDA6}"/>
              </a:ext>
            </a:extLst>
          </p:cNvPr>
          <p:cNvSpPr txBox="1"/>
          <p:nvPr/>
        </p:nvSpPr>
        <p:spPr>
          <a:xfrm>
            <a:off x="6261100" y="4132011"/>
            <a:ext cx="51181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5000"/>
              </a:lnSpc>
            </a:pPr>
            <a:r>
              <a:rPr lang="pt-BR" sz="950" b="1" spc="200">
                <a:solidFill>
                  <a:srgbClr val="8A6A00"/>
                </a:solidFill>
                <a:latin typeface="Lora" pitchFamily="2" charset="0"/>
              </a:rPr>
              <a:t>EXEMPLO FALSO</a:t>
            </a:r>
          </a:p>
        </p:txBody>
      </p: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B256BCF2-CE93-BE08-860C-9DDF3108E7F7}"/>
              </a:ext>
            </a:extLst>
          </p:cNvPr>
          <p:cNvCxnSpPr/>
          <p:nvPr/>
        </p:nvCxnSpPr>
        <p:spPr>
          <a:xfrm>
            <a:off x="6261100" y="4354405"/>
            <a:ext cx="5118100" cy="0"/>
          </a:xfrm>
          <a:prstGeom prst="line">
            <a:avLst/>
          </a:prstGeom>
          <a:ln w="19050">
            <a:solidFill>
              <a:srgbClr val="E3B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7C9B466E-BDEB-03C7-64A6-18D65009B98F}"/>
              </a:ext>
            </a:extLst>
          </p:cNvPr>
          <p:cNvSpPr txBox="1"/>
          <p:nvPr/>
        </p:nvSpPr>
        <p:spPr>
          <a:xfrm>
            <a:off x="6261100" y="4468705"/>
            <a:ext cx="5118100" cy="22903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2000"/>
              </a:lnSpc>
            </a:pPr>
            <a:r>
              <a:rPr lang="pt-BR" sz="1200">
                <a:solidFill>
                  <a:srgbClr val="3A4152"/>
                </a:solidFill>
                <a:latin typeface="Spectral" pitchFamily="2" charset="0"/>
              </a:rPr>
              <a:t>∀x ∈ ℝ,  x &gt; 0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AFEFC4EC-32E3-F34E-9977-F1301882BAEC}"/>
              </a:ext>
            </a:extLst>
          </p:cNvPr>
          <p:cNvSpPr txBox="1"/>
          <p:nvPr/>
        </p:nvSpPr>
        <p:spPr>
          <a:xfrm>
            <a:off x="6261100" y="4773942"/>
            <a:ext cx="5118100" cy="22903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2000"/>
              </a:lnSpc>
            </a:pPr>
            <a:r>
              <a:rPr lang="pt-BR" sz="1200">
                <a:solidFill>
                  <a:srgbClr val="3A4152"/>
                </a:solidFill>
                <a:latin typeface="Spectral" pitchFamily="2" charset="0"/>
              </a:rPr>
              <a:t>Contraexemplo: x = −1.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89BAC2F4-7D27-70E9-FD40-ED0C176599E9}"/>
              </a:ext>
            </a:extLst>
          </p:cNvPr>
          <p:cNvSpPr txBox="1"/>
          <p:nvPr/>
        </p:nvSpPr>
        <p:spPr>
          <a:xfrm>
            <a:off x="6261100" y="5079179"/>
            <a:ext cx="5118100" cy="22903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2000"/>
              </a:lnSpc>
            </a:pPr>
            <a:r>
              <a:rPr lang="pt-BR" sz="1200">
                <a:solidFill>
                  <a:srgbClr val="3A4152"/>
                </a:solidFill>
                <a:latin typeface="Spectral" pitchFamily="2" charset="0"/>
              </a:rPr>
              <a:t>Um só já basta.</a:t>
            </a:r>
          </a:p>
        </p:txBody>
      </p: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A1D8E4F0-4ED6-8012-2B60-288496929891}"/>
              </a:ext>
            </a:extLst>
          </p:cNvPr>
          <p:cNvCxnSpPr/>
          <p:nvPr/>
        </p:nvCxnSpPr>
        <p:spPr>
          <a:xfrm>
            <a:off x="812800" y="6324600"/>
            <a:ext cx="10566400" cy="0"/>
          </a:xfrm>
          <a:prstGeom prst="line">
            <a:avLst/>
          </a:prstGeom>
          <a:ln w="9525">
            <a:solidFill>
              <a:srgbClr val="E4E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7BEC1C10-A10E-6376-84C7-B29AA43CEA67}"/>
              </a:ext>
            </a:extLst>
          </p:cNvPr>
          <p:cNvSpPr txBox="1"/>
          <p:nvPr/>
        </p:nvSpPr>
        <p:spPr>
          <a:xfrm>
            <a:off x="812800" y="6426200"/>
            <a:ext cx="8128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 spc="160">
                <a:solidFill>
                  <a:srgbClr val="9A988F"/>
                </a:solidFill>
                <a:latin typeface="Lora" pitchFamily="2" charset="0"/>
              </a:rPr>
              <a:t>ESCOLA DE ECONOMIA DE SÃO PAULO · MÓDULO 1 · LÓGICA E LINGUAGEM MATEMÁTICA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F724BFC2-9D49-ADCC-DF7B-AE2B986C8B2B}"/>
              </a:ext>
            </a:extLst>
          </p:cNvPr>
          <p:cNvSpPr txBox="1"/>
          <p:nvPr/>
        </p:nvSpPr>
        <p:spPr>
          <a:xfrm>
            <a:off x="9855200" y="6426200"/>
            <a:ext cx="1524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pt-BR" sz="800" spc="160">
                <a:solidFill>
                  <a:srgbClr val="9A988F"/>
                </a:solidFill>
                <a:latin typeface="Lora" pitchFamily="2" charset="0"/>
              </a:rPr>
              <a:t>1 / 3</a:t>
            </a:r>
          </a:p>
        </p:txBody>
      </p:sp>
    </p:spTree>
    <p:extLst>
      <p:ext uri="{BB962C8B-B14F-4D97-AF65-F5344CB8AC3E}">
        <p14:creationId xmlns:p14="http://schemas.microsoft.com/office/powerpoint/2010/main" val="6440929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9A42EA7-8AC6-E103-662D-95980B4760B1}"/>
              </a:ext>
            </a:extLst>
          </p:cNvPr>
          <p:cNvSpPr txBox="1"/>
          <p:nvPr/>
        </p:nvSpPr>
        <p:spPr>
          <a:xfrm>
            <a:off x="812800" y="533400"/>
            <a:ext cx="889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 spc="240">
                <a:solidFill>
                  <a:srgbClr val="8A6A00"/>
                </a:solidFill>
                <a:latin typeface="Lora" pitchFamily="2" charset="0"/>
              </a:rPr>
              <a:t>AULA 06  ·  PARA TODO E EXISTE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3AED9CA-6224-E14F-9DB0-924934F7542F}"/>
              </a:ext>
            </a:extLst>
          </p:cNvPr>
          <p:cNvSpPr txBox="1"/>
          <p:nvPr/>
        </p:nvSpPr>
        <p:spPr>
          <a:xfrm>
            <a:off x="812800" y="776188"/>
            <a:ext cx="914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6000"/>
              </a:lnSpc>
            </a:pPr>
            <a:r>
              <a:rPr lang="pt-BR" sz="2800">
                <a:solidFill>
                  <a:srgbClr val="17365E"/>
                </a:solidFill>
                <a:latin typeface="Lora" pitchFamily="2" charset="0"/>
              </a:rPr>
              <a:t>Quantificador existencial — ∃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4F17564-181C-EF47-349F-2AA3D4DEEBA8}"/>
              </a:ext>
            </a:extLst>
          </p:cNvPr>
          <p:cNvSpPr/>
          <p:nvPr/>
        </p:nvSpPr>
        <p:spPr>
          <a:xfrm>
            <a:off x="812800" y="1372175"/>
            <a:ext cx="914400" cy="31750"/>
          </a:xfrm>
          <a:prstGeom prst="rect">
            <a:avLst/>
          </a:prstGeom>
          <a:solidFill>
            <a:srgbClr val="E3B50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AE25716-BE15-BA29-CB01-8DF7F8F04765}"/>
              </a:ext>
            </a:extLst>
          </p:cNvPr>
          <p:cNvSpPr/>
          <p:nvPr/>
        </p:nvSpPr>
        <p:spPr>
          <a:xfrm>
            <a:off x="812800" y="2616775"/>
            <a:ext cx="6604000" cy="1337052"/>
          </a:xfrm>
          <a:prstGeom prst="rect">
            <a:avLst/>
          </a:prstGeom>
          <a:solidFill>
            <a:srgbClr val="F4F2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423FC35-27F1-FD0E-308A-9CC349182D9A}"/>
              </a:ext>
            </a:extLst>
          </p:cNvPr>
          <p:cNvSpPr txBox="1"/>
          <p:nvPr/>
        </p:nvSpPr>
        <p:spPr>
          <a:xfrm>
            <a:off x="990600" y="2794575"/>
            <a:ext cx="62484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50" b="1" spc="220">
                <a:solidFill>
                  <a:srgbClr val="8A6A00"/>
                </a:solidFill>
                <a:latin typeface="Lora" pitchFamily="2" charset="0"/>
              </a:rPr>
              <a:t>EXISTE  ∃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F3C187B-EEF2-E324-CB6F-059273BF6D5F}"/>
              </a:ext>
            </a:extLst>
          </p:cNvPr>
          <p:cNvSpPr txBox="1"/>
          <p:nvPr/>
        </p:nvSpPr>
        <p:spPr>
          <a:xfrm>
            <a:off x="990600" y="3029669"/>
            <a:ext cx="6248400" cy="74635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2000"/>
              </a:lnSpc>
            </a:pPr>
            <a:r>
              <a:rPr lang="pt-BR" sz="1250">
                <a:solidFill>
                  <a:srgbClr val="101A2C"/>
                </a:solidFill>
                <a:latin typeface="Spectral" pitchFamily="2" charset="0"/>
              </a:rPr>
              <a:t>∃x ∈ A, P(x) — “existe ao menos um x em A tal que P(x) é verdadeiro”.</a:t>
            </a:r>
          </a:p>
          <a:p>
            <a:pPr>
              <a:lnSpc>
                <a:spcPct val="132000"/>
              </a:lnSpc>
            </a:pPr>
            <a:r>
              <a:rPr lang="pt-BR" sz="1250">
                <a:solidFill>
                  <a:srgbClr val="101A2C"/>
                </a:solidFill>
                <a:latin typeface="Spectral" pitchFamily="2" charset="0"/>
              </a:rPr>
              <a:t>Para provar: basta exibir UM exemplo.</a:t>
            </a:r>
          </a:p>
          <a:p>
            <a:pPr>
              <a:lnSpc>
                <a:spcPct val="132000"/>
              </a:lnSpc>
            </a:pPr>
            <a:r>
              <a:rPr lang="pt-BR" sz="1250">
                <a:solidFill>
                  <a:srgbClr val="101A2C"/>
                </a:solidFill>
                <a:latin typeface="Spectral" pitchFamily="2" charset="0"/>
              </a:rPr>
              <a:t>Para falsificar: é preciso mostrar que P(x) falha para TODOS os x.</a:t>
            </a:r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22432F09-45B1-BE52-E402-986972949E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4158233"/>
              </p:ext>
            </p:extLst>
          </p:nvPr>
        </p:nvGraphicFramePr>
        <p:xfrm>
          <a:off x="812800" y="4207827"/>
          <a:ext cx="6604000" cy="863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302000">
                  <a:extLst>
                    <a:ext uri="{9D8B030D-6E8A-4147-A177-3AD203B41FA5}">
                      <a16:colId xmlns:a16="http://schemas.microsoft.com/office/drawing/2014/main" val="499172153"/>
                    </a:ext>
                  </a:extLst>
                </a:gridCol>
                <a:gridCol w="3302000">
                  <a:extLst>
                    <a:ext uri="{9D8B030D-6E8A-4147-A177-3AD203B41FA5}">
                      <a16:colId xmlns:a16="http://schemas.microsoft.com/office/drawing/2014/main" val="315927160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algn="l"/>
                      <a:r>
                        <a:rPr lang="pt-BR" sz="900" b="1" spc="180">
                          <a:solidFill>
                            <a:srgbClr val="17365E"/>
                          </a:solidFill>
                          <a:latin typeface="Lora" pitchFamily="2" charset="0"/>
                        </a:rPr>
                        <a:t>PROPOSIÇÃO</a:t>
                      </a:r>
                    </a:p>
                  </a:txBody>
                  <a:tcPr marL="50800" marR="50800" marT="25400" marB="25400" anchor="ctr">
                    <a:lnB w="22225">
                      <a:solidFill>
                        <a:srgbClr val="17365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900" b="1" spc="180">
                          <a:solidFill>
                            <a:srgbClr val="17365E"/>
                          </a:solidFill>
                          <a:latin typeface="Lora" pitchFamily="2" charset="0"/>
                        </a:rPr>
                        <a:t>NEGAÇÃO</a:t>
                      </a:r>
                    </a:p>
                  </a:txBody>
                  <a:tcPr marL="50800" marR="50800" marT="25400" marB="25400" anchor="ctr">
                    <a:lnB w="22225">
                      <a:solidFill>
                        <a:srgbClr val="17365E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883184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lang="pt-BR" sz="1250" b="0">
                          <a:solidFill>
                            <a:srgbClr val="5C6270"/>
                          </a:solidFill>
                          <a:latin typeface="Spectral" pitchFamily="2" charset="0"/>
                        </a:rPr>
                        <a:t>∀x ∈ A, P(x)</a:t>
                      </a:r>
                    </a:p>
                  </a:txBody>
                  <a:tcPr marL="50800" marR="50800" marT="25400" marB="25400" anchor="ctr">
                    <a:lnT w="22225">
                      <a:solidFill>
                        <a:srgbClr val="17365E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250" b="0">
                          <a:solidFill>
                            <a:srgbClr val="5C6270"/>
                          </a:solidFill>
                          <a:latin typeface="Spectral" pitchFamily="2" charset="0"/>
                        </a:rPr>
                        <a:t>∃x ∈ A, ¬P(x)</a:t>
                      </a:r>
                    </a:p>
                  </a:txBody>
                  <a:tcPr marL="50800" marR="50800" marT="25400" marB="25400" anchor="ctr">
                    <a:lnT w="22225">
                      <a:solidFill>
                        <a:srgbClr val="17365E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121166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lang="pt-BR" sz="1250" b="0">
                          <a:solidFill>
                            <a:srgbClr val="5C6270"/>
                          </a:solidFill>
                          <a:latin typeface="Spectral" pitchFamily="2" charset="0"/>
                        </a:rPr>
                        <a:t>∃x ∈ A, P(x)</a:t>
                      </a:r>
                    </a:p>
                  </a:txBody>
                  <a:tcPr marL="50800" marR="50800" marT="25400" marB="25400" anchor="ctr">
                    <a:lnT w="9525">
                      <a:solidFill>
                        <a:srgbClr val="E4E2DA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250" b="0">
                          <a:solidFill>
                            <a:srgbClr val="5C6270"/>
                          </a:solidFill>
                          <a:latin typeface="Spectral" pitchFamily="2" charset="0"/>
                        </a:rPr>
                        <a:t>∀x ∈ A, ¬P(x)</a:t>
                      </a:r>
                    </a:p>
                  </a:txBody>
                  <a:tcPr marL="50800" marR="50800" marT="25400" marB="25400" anchor="ctr">
                    <a:lnT w="9525">
                      <a:solidFill>
                        <a:srgbClr val="E4E2DA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1041284"/>
                  </a:ext>
                </a:extLst>
              </a:tr>
            </a:tbl>
          </a:graphicData>
        </a:graphic>
      </p:graphicFrame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98C0B7E4-FA20-E9D3-0EE2-71AA0B997BCC}"/>
              </a:ext>
            </a:extLst>
          </p:cNvPr>
          <p:cNvCxnSpPr/>
          <p:nvPr/>
        </p:nvCxnSpPr>
        <p:spPr>
          <a:xfrm>
            <a:off x="7975600" y="2616775"/>
            <a:ext cx="3403600" cy="0"/>
          </a:xfrm>
          <a:prstGeom prst="line">
            <a:avLst/>
          </a:prstGeom>
          <a:ln w="15875">
            <a:solidFill>
              <a:srgbClr val="1736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ABFC0B2-E8C6-216A-2B32-F11AB02F2C42}"/>
              </a:ext>
            </a:extLst>
          </p:cNvPr>
          <p:cNvSpPr txBox="1"/>
          <p:nvPr/>
        </p:nvSpPr>
        <p:spPr>
          <a:xfrm>
            <a:off x="7975600" y="2743775"/>
            <a:ext cx="34036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50" b="1" spc="220">
                <a:solidFill>
                  <a:srgbClr val="8A6A00"/>
                </a:solidFill>
                <a:latin typeface="Lora" pitchFamily="2" charset="0"/>
              </a:rPr>
              <a:t>EM ECONOMIA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7716EF95-05AD-DFAB-F286-93B5619736BB}"/>
              </a:ext>
            </a:extLst>
          </p:cNvPr>
          <p:cNvSpPr txBox="1"/>
          <p:nvPr/>
        </p:nvSpPr>
        <p:spPr>
          <a:xfrm>
            <a:off x="7975600" y="2978869"/>
            <a:ext cx="3403600" cy="100174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8000"/>
              </a:lnSpc>
            </a:pPr>
            <a:r>
              <a:rPr lang="pt-BR" sz="1200">
                <a:solidFill>
                  <a:srgbClr val="3A4152"/>
                </a:solidFill>
                <a:latin typeface="Spectral" pitchFamily="2" charset="0"/>
              </a:rPr>
              <a:t>“Para todo consumidor racional, a utilidade marginal é decrescente” usa ∀.</a:t>
            </a:r>
          </a:p>
          <a:p>
            <a:pPr>
              <a:lnSpc>
                <a:spcPct val="138000"/>
              </a:lnSpc>
            </a:pPr>
            <a:endParaRPr lang="pt-BR" sz="1200">
              <a:solidFill>
                <a:srgbClr val="3A4152"/>
              </a:solidFill>
              <a:latin typeface="Spectral" pitchFamily="2" charset="0"/>
            </a:endParaRPr>
          </a:p>
          <a:p>
            <a:pPr>
              <a:lnSpc>
                <a:spcPct val="138000"/>
              </a:lnSpc>
            </a:pPr>
            <a:r>
              <a:rPr lang="pt-BR" sz="1200">
                <a:solidFill>
                  <a:srgbClr val="3A4152"/>
                </a:solidFill>
                <a:latin typeface="Spectral" pitchFamily="2" charset="0"/>
              </a:rPr>
              <a:t>“Existe uma alocação Pareto-eficiente” usa ∃.</a:t>
            </a:r>
          </a:p>
        </p:txBody>
      </p: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C739B1D0-F20A-2679-218E-4A335DAFAEDC}"/>
              </a:ext>
            </a:extLst>
          </p:cNvPr>
          <p:cNvCxnSpPr/>
          <p:nvPr/>
        </p:nvCxnSpPr>
        <p:spPr>
          <a:xfrm>
            <a:off x="812800" y="6324600"/>
            <a:ext cx="10566400" cy="0"/>
          </a:xfrm>
          <a:prstGeom prst="line">
            <a:avLst/>
          </a:prstGeom>
          <a:ln w="9525">
            <a:solidFill>
              <a:srgbClr val="E4E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12B8B91C-1E4D-BF45-062F-14F6770C98F6}"/>
              </a:ext>
            </a:extLst>
          </p:cNvPr>
          <p:cNvSpPr txBox="1"/>
          <p:nvPr/>
        </p:nvSpPr>
        <p:spPr>
          <a:xfrm>
            <a:off x="812800" y="6426200"/>
            <a:ext cx="8128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 spc="160">
                <a:solidFill>
                  <a:srgbClr val="9A988F"/>
                </a:solidFill>
                <a:latin typeface="Lora" pitchFamily="2" charset="0"/>
              </a:rPr>
              <a:t>ESCOLA DE ECONOMIA DE SÃO PAULO · MÓDULO 1 · LÓGICA E LINGUAGEM MATEMÁTICA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DE9309EE-04C7-53F8-673C-30CBC679DB60}"/>
              </a:ext>
            </a:extLst>
          </p:cNvPr>
          <p:cNvSpPr txBox="1"/>
          <p:nvPr/>
        </p:nvSpPr>
        <p:spPr>
          <a:xfrm>
            <a:off x="9855200" y="6426200"/>
            <a:ext cx="1524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pt-BR" sz="800" spc="160">
                <a:solidFill>
                  <a:srgbClr val="9A988F"/>
                </a:solidFill>
                <a:latin typeface="Lora" pitchFamily="2" charset="0"/>
              </a:rPr>
              <a:t>2 / 3</a:t>
            </a:r>
          </a:p>
        </p:txBody>
      </p:sp>
    </p:spTree>
    <p:extLst>
      <p:ext uri="{BB962C8B-B14F-4D97-AF65-F5344CB8AC3E}">
        <p14:creationId xmlns:p14="http://schemas.microsoft.com/office/powerpoint/2010/main" val="13999641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CACF8C1-5238-7D68-C28E-58107E94CB49}"/>
              </a:ext>
            </a:extLst>
          </p:cNvPr>
          <p:cNvSpPr txBox="1"/>
          <p:nvPr/>
        </p:nvSpPr>
        <p:spPr>
          <a:xfrm>
            <a:off x="812800" y="533400"/>
            <a:ext cx="889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 spc="240">
                <a:solidFill>
                  <a:srgbClr val="8A6A00"/>
                </a:solidFill>
                <a:latin typeface="Lora" pitchFamily="2" charset="0"/>
              </a:rPr>
              <a:t>AULA 06  ·  PARA TODO E EXISTE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04CB909-7DBB-C796-BC4F-6677BE688994}"/>
              </a:ext>
            </a:extLst>
          </p:cNvPr>
          <p:cNvSpPr txBox="1"/>
          <p:nvPr/>
        </p:nvSpPr>
        <p:spPr>
          <a:xfrm>
            <a:off x="812800" y="776188"/>
            <a:ext cx="914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6000"/>
              </a:lnSpc>
            </a:pPr>
            <a:r>
              <a:rPr lang="pt-BR" sz="2800">
                <a:solidFill>
                  <a:srgbClr val="17365E"/>
                </a:solidFill>
                <a:latin typeface="Lora" pitchFamily="2" charset="0"/>
              </a:rPr>
              <a:t>Quantificadores na definição de limite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55B4C4C-64B9-8BA5-1D10-A4677F72BB72}"/>
              </a:ext>
            </a:extLst>
          </p:cNvPr>
          <p:cNvSpPr/>
          <p:nvPr/>
        </p:nvSpPr>
        <p:spPr>
          <a:xfrm>
            <a:off x="812800" y="1372175"/>
            <a:ext cx="914400" cy="31750"/>
          </a:xfrm>
          <a:prstGeom prst="rect">
            <a:avLst/>
          </a:prstGeom>
          <a:solidFill>
            <a:srgbClr val="E3B50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D8BD133-1016-CCB7-E744-7E983DBA3227}"/>
              </a:ext>
            </a:extLst>
          </p:cNvPr>
          <p:cNvSpPr txBox="1"/>
          <p:nvPr/>
        </p:nvSpPr>
        <p:spPr>
          <a:xfrm>
            <a:off x="812800" y="2616775"/>
            <a:ext cx="6604000" cy="24718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8000"/>
              </a:lnSpc>
            </a:pPr>
            <a:r>
              <a:rPr lang="pt-BR" sz="1250">
                <a:solidFill>
                  <a:srgbClr val="3A4152"/>
                </a:solidFill>
                <a:latin typeface="Spectral" pitchFamily="2" charset="0"/>
              </a:rPr>
              <a:t>A lógica dos quantificadores é o que dá precisão à definição de limite:</a:t>
            </a:r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47475A86-73CD-F93E-6838-25178E39F6A3}"/>
              </a:ext>
            </a:extLst>
          </p:cNvPr>
          <p:cNvCxnSpPr/>
          <p:nvPr/>
        </p:nvCxnSpPr>
        <p:spPr>
          <a:xfrm>
            <a:off x="812800" y="3117959"/>
            <a:ext cx="6604000" cy="0"/>
          </a:xfrm>
          <a:prstGeom prst="line">
            <a:avLst/>
          </a:prstGeom>
          <a:ln w="15875">
            <a:solidFill>
              <a:srgbClr val="1736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7AD210B9-82FC-7C8B-9A44-5B4CE0722791}"/>
              </a:ext>
            </a:extLst>
          </p:cNvPr>
          <p:cNvSpPr txBox="1"/>
          <p:nvPr/>
        </p:nvSpPr>
        <p:spPr>
          <a:xfrm>
            <a:off x="812800" y="3283059"/>
            <a:ext cx="6604000" cy="30085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pt-BR" sz="1700">
                <a:solidFill>
                  <a:srgbClr val="17365E"/>
                </a:solidFill>
                <a:latin typeface="Spectral" pitchFamily="2" charset="0"/>
              </a:rPr>
              <a:t>lim f(x) = L   ⟺   ∀</a:t>
            </a:r>
            <a:r>
              <a:rPr lang="el-GR" sz="1700">
                <a:solidFill>
                  <a:srgbClr val="17365E"/>
                </a:solidFill>
              </a:rPr>
              <a:t>ε &gt; 0,  ∃δ &gt; 0  :  0 &lt; |</a:t>
            </a:r>
            <a:r>
              <a:rPr lang="pt-BR" sz="1700">
                <a:solidFill>
                  <a:srgbClr val="17365E"/>
                </a:solidFill>
                <a:latin typeface="Spectral" pitchFamily="2" charset="0"/>
              </a:rPr>
              <a:t>x − a| &lt; </a:t>
            </a:r>
            <a:r>
              <a:rPr lang="el-GR" sz="1700">
                <a:solidFill>
                  <a:srgbClr val="17365E"/>
                </a:solidFill>
              </a:rPr>
              <a:t>δ  →  |</a:t>
            </a:r>
            <a:r>
              <a:rPr lang="pt-BR" sz="1700">
                <a:solidFill>
                  <a:srgbClr val="17365E"/>
                </a:solidFill>
                <a:latin typeface="Spectral" pitchFamily="2" charset="0"/>
              </a:rPr>
              <a:t>f(x) − L| &lt; </a:t>
            </a:r>
            <a:r>
              <a:rPr lang="el-GR" sz="1700">
                <a:solidFill>
                  <a:srgbClr val="17365E"/>
                </a:solidFill>
              </a:rPr>
              <a:t>ε</a:t>
            </a:r>
            <a:endParaRPr lang="pt-BR" sz="1700">
              <a:solidFill>
                <a:srgbClr val="17365E"/>
              </a:solidFill>
              <a:latin typeface="Spectral" pitchFamily="2" charset="0"/>
            </a:endParaRPr>
          </a:p>
        </p:txBody>
      </p: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999682F2-5382-B0CB-755E-E688E094C55B}"/>
              </a:ext>
            </a:extLst>
          </p:cNvPr>
          <p:cNvCxnSpPr/>
          <p:nvPr/>
        </p:nvCxnSpPr>
        <p:spPr>
          <a:xfrm>
            <a:off x="812800" y="3749011"/>
            <a:ext cx="6604000" cy="0"/>
          </a:xfrm>
          <a:prstGeom prst="line">
            <a:avLst/>
          </a:prstGeom>
          <a:ln w="15875">
            <a:solidFill>
              <a:srgbClr val="1736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aixaDeTexto 8">
            <a:extLst>
              <a:ext uri="{FF2B5EF4-FFF2-40B4-BE49-F238E27FC236}">
                <a16:creationId xmlns:a16="http://schemas.microsoft.com/office/drawing/2014/main" id="{BCE39CDE-7DFD-876D-02D8-FA81A64E4475}"/>
              </a:ext>
            </a:extLst>
          </p:cNvPr>
          <p:cNvSpPr txBox="1"/>
          <p:nvPr/>
        </p:nvSpPr>
        <p:spPr>
          <a:xfrm>
            <a:off x="812800" y="4003011"/>
            <a:ext cx="6604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50" b="1" spc="220">
                <a:solidFill>
                  <a:srgbClr val="8A6A00"/>
                </a:solidFill>
                <a:latin typeface="Lora" pitchFamily="2" charset="0"/>
              </a:rPr>
              <a:t>TRADUZINDO PEDAÇO POR PEDAÇO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CF55980D-E6BD-21A0-0F97-0344F7F7A07C}"/>
              </a:ext>
            </a:extLst>
          </p:cNvPr>
          <p:cNvSpPr/>
          <p:nvPr/>
        </p:nvSpPr>
        <p:spPr>
          <a:xfrm>
            <a:off x="812800" y="4333355"/>
            <a:ext cx="50800" cy="50800"/>
          </a:xfrm>
          <a:prstGeom prst="rect">
            <a:avLst/>
          </a:prstGeom>
          <a:solidFill>
            <a:srgbClr val="E3B50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F2FD166-282D-53CC-62D6-8E72A612FEAC}"/>
              </a:ext>
            </a:extLst>
          </p:cNvPr>
          <p:cNvSpPr txBox="1"/>
          <p:nvPr/>
        </p:nvSpPr>
        <p:spPr>
          <a:xfrm>
            <a:off x="990600" y="4263505"/>
            <a:ext cx="6426200" cy="24141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4000"/>
              </a:lnSpc>
            </a:pPr>
            <a:r>
              <a:rPr lang="pt-BR" sz="1250">
                <a:solidFill>
                  <a:srgbClr val="3A4152"/>
                </a:solidFill>
                <a:latin typeface="Spectral" pitchFamily="2" charset="0"/>
              </a:rPr>
              <a:t>∀ε &gt; 0 — “para qualquer margem de erro que você me der...”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FB742683-78D2-D620-2FED-3AF016AD396B}"/>
              </a:ext>
            </a:extLst>
          </p:cNvPr>
          <p:cNvSpPr/>
          <p:nvPr/>
        </p:nvSpPr>
        <p:spPr>
          <a:xfrm>
            <a:off x="812800" y="4689068"/>
            <a:ext cx="50800" cy="50800"/>
          </a:xfrm>
          <a:prstGeom prst="rect">
            <a:avLst/>
          </a:prstGeom>
          <a:solidFill>
            <a:srgbClr val="E3B50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28955238-CA0F-D271-D8AE-7D74FA8F3DF2}"/>
              </a:ext>
            </a:extLst>
          </p:cNvPr>
          <p:cNvSpPr txBox="1"/>
          <p:nvPr/>
        </p:nvSpPr>
        <p:spPr>
          <a:xfrm>
            <a:off x="990600" y="4619218"/>
            <a:ext cx="6426200" cy="24141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4000"/>
              </a:lnSpc>
            </a:pPr>
            <a:r>
              <a:rPr lang="pt-BR" sz="1250">
                <a:solidFill>
                  <a:srgbClr val="3A4152"/>
                </a:solidFill>
                <a:latin typeface="Spectral" pitchFamily="2" charset="0"/>
              </a:rPr>
              <a:t>∃δ &gt; 0 — “...eu consigo encontrar uma vizinhança...”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E2F90E03-9668-CE3A-32EC-85F687DF3B0F}"/>
              </a:ext>
            </a:extLst>
          </p:cNvPr>
          <p:cNvSpPr/>
          <p:nvPr/>
        </p:nvSpPr>
        <p:spPr>
          <a:xfrm>
            <a:off x="812800" y="5044781"/>
            <a:ext cx="50800" cy="50800"/>
          </a:xfrm>
          <a:prstGeom prst="rect">
            <a:avLst/>
          </a:prstGeom>
          <a:solidFill>
            <a:srgbClr val="E3B50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1DA9C861-3464-DE85-6D83-B72B01F377A7}"/>
              </a:ext>
            </a:extLst>
          </p:cNvPr>
          <p:cNvSpPr txBox="1"/>
          <p:nvPr/>
        </p:nvSpPr>
        <p:spPr>
          <a:xfrm>
            <a:off x="990600" y="4974931"/>
            <a:ext cx="6426200" cy="24141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4000"/>
              </a:lnSpc>
            </a:pPr>
            <a:r>
              <a:rPr lang="pt-BR" sz="1250">
                <a:solidFill>
                  <a:srgbClr val="3A4152"/>
                </a:solidFill>
                <a:latin typeface="Spectral" pitchFamily="2" charset="0"/>
              </a:rPr>
              <a:t>→ — “...que garante f(x) dentro da margem.”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E11C03B7-6BB7-5CFB-6456-549D0263FC84}"/>
              </a:ext>
            </a:extLst>
          </p:cNvPr>
          <p:cNvCxnSpPr/>
          <p:nvPr/>
        </p:nvCxnSpPr>
        <p:spPr>
          <a:xfrm>
            <a:off x="7975600" y="2616775"/>
            <a:ext cx="3403600" cy="0"/>
          </a:xfrm>
          <a:prstGeom prst="line">
            <a:avLst/>
          </a:prstGeom>
          <a:ln w="15875">
            <a:solidFill>
              <a:srgbClr val="1736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BE8383BE-8C90-3BF4-5113-D91D84C1DCF9}"/>
              </a:ext>
            </a:extLst>
          </p:cNvPr>
          <p:cNvSpPr txBox="1"/>
          <p:nvPr/>
        </p:nvSpPr>
        <p:spPr>
          <a:xfrm>
            <a:off x="7975600" y="2743775"/>
            <a:ext cx="34036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50" b="1" spc="220">
                <a:solidFill>
                  <a:srgbClr val="8A6A00"/>
                </a:solidFill>
                <a:latin typeface="Lora" pitchFamily="2" charset="0"/>
              </a:rPr>
              <a:t>A ORDEM IMPORTA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ED65471C-5970-3131-40EA-7030A05FF88B}"/>
              </a:ext>
            </a:extLst>
          </p:cNvPr>
          <p:cNvSpPr txBox="1"/>
          <p:nvPr/>
        </p:nvSpPr>
        <p:spPr>
          <a:xfrm>
            <a:off x="7975600" y="2978869"/>
            <a:ext cx="3403600" cy="74693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8000"/>
              </a:lnSpc>
            </a:pPr>
            <a:r>
              <a:rPr lang="pt-BR" sz="1200">
                <a:solidFill>
                  <a:srgbClr val="3A4152"/>
                </a:solidFill>
                <a:latin typeface="Spectral" pitchFamily="2" charset="0"/>
              </a:rPr>
              <a:t>Trocar ∀ε ∃δ por ∃δ ∀ε exigiria um único δ que funcionasse para toda margem de erro — uma afirmação muito mais forte, e quase sempre falsa.</a:t>
            </a:r>
          </a:p>
        </p:txBody>
      </p: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15485F34-D7E9-D405-57AB-8F919E181C64}"/>
              </a:ext>
            </a:extLst>
          </p:cNvPr>
          <p:cNvCxnSpPr/>
          <p:nvPr/>
        </p:nvCxnSpPr>
        <p:spPr>
          <a:xfrm>
            <a:off x="812800" y="6324600"/>
            <a:ext cx="10566400" cy="0"/>
          </a:xfrm>
          <a:prstGeom prst="line">
            <a:avLst/>
          </a:prstGeom>
          <a:ln w="9525">
            <a:solidFill>
              <a:srgbClr val="E4E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99B60CA7-1CEE-719D-855F-0F7B10F40791}"/>
              </a:ext>
            </a:extLst>
          </p:cNvPr>
          <p:cNvSpPr txBox="1"/>
          <p:nvPr/>
        </p:nvSpPr>
        <p:spPr>
          <a:xfrm>
            <a:off x="812800" y="6426200"/>
            <a:ext cx="8128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 spc="160">
                <a:solidFill>
                  <a:srgbClr val="9A988F"/>
                </a:solidFill>
                <a:latin typeface="Lora" pitchFamily="2" charset="0"/>
              </a:rPr>
              <a:t>ESCOLA DE ECONOMIA DE SÃO PAULO · MÓDULO 1 · LÓGICA E LINGUAGEM MATEMÁTICA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96AD109E-65BC-898A-6A9A-8E094C0BF387}"/>
              </a:ext>
            </a:extLst>
          </p:cNvPr>
          <p:cNvSpPr txBox="1"/>
          <p:nvPr/>
        </p:nvSpPr>
        <p:spPr>
          <a:xfrm>
            <a:off x="9855200" y="6426200"/>
            <a:ext cx="1524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pt-BR" sz="800" spc="160">
                <a:solidFill>
                  <a:srgbClr val="9A988F"/>
                </a:solidFill>
                <a:latin typeface="Lora" pitchFamily="2" charset="0"/>
              </a:rPr>
              <a:t>3 / 3</a:t>
            </a:r>
          </a:p>
        </p:txBody>
      </p:sp>
    </p:spTree>
    <p:extLst>
      <p:ext uri="{BB962C8B-B14F-4D97-AF65-F5344CB8AC3E}">
        <p14:creationId xmlns:p14="http://schemas.microsoft.com/office/powerpoint/2010/main" val="83171784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1416</Words>
  <Application>Microsoft Office PowerPoint</Application>
  <PresentationFormat>Widescreen</PresentationFormat>
  <Paragraphs>93</Paragraphs>
  <Slides>4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11" baseType="lpstr">
      <vt:lpstr>Aptos</vt:lpstr>
      <vt:lpstr>Aptos Display</vt:lpstr>
      <vt:lpstr>Arial</vt:lpstr>
      <vt:lpstr>Georgia</vt:lpstr>
      <vt:lpstr>Lora</vt:lpstr>
      <vt:lpstr>Spectral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Gabriela do Couto Fonseca</dc:creator>
  <cp:lastModifiedBy>Gabriela do Couto Fonseca</cp:lastModifiedBy>
  <cp:revision>1</cp:revision>
  <dcterms:created xsi:type="dcterms:W3CDTF">2026-09-23T16:27:47Z</dcterms:created>
  <dcterms:modified xsi:type="dcterms:W3CDTF">2026-09-23T16:28:30Z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4f7750d-9cdf-4ba7-80aa-2c6ffdc35229_Enabled">
    <vt:lpwstr>true</vt:lpwstr>
  </property>
  <property fmtid="{D5CDD505-2E9C-101B-9397-08002B2CF9AE}" pid="3" name="MSIP_Label_84f7750d-9cdf-4ba7-80aa-2c6ffdc35229_SetDate">
    <vt:lpwstr>2026-09-23T16:27:47Z</vt:lpwstr>
  </property>
  <property fmtid="{D5CDD505-2E9C-101B-9397-08002B2CF9AE}" pid="4" name="MSIP_Label_84f7750d-9cdf-4ba7-80aa-2c6ffdc35229_Method">
    <vt:lpwstr>Standard</vt:lpwstr>
  </property>
  <property fmtid="{D5CDD505-2E9C-101B-9397-08002B2CF9AE}" pid="5" name="MSIP_Label_84f7750d-9cdf-4ba7-80aa-2c6ffdc35229_Name">
    <vt:lpwstr>Nível - 1</vt:lpwstr>
  </property>
  <property fmtid="{D5CDD505-2E9C-101B-9397-08002B2CF9AE}" pid="6" name="MSIP_Label_84f7750d-9cdf-4ba7-80aa-2c6ffdc35229_SiteId">
    <vt:lpwstr>79f6b639-ab12-4280-8077-bdbeef869b33</vt:lpwstr>
  </property>
  <property fmtid="{D5CDD505-2E9C-101B-9397-08002B2CF9AE}" pid="7" name="MSIP_Label_84f7750d-9cdf-4ba7-80aa-2c6ffdc35229_ActionId">
    <vt:lpwstr>9536327e-9c78-42fb-aaf0-74b5b2be5357</vt:lpwstr>
  </property>
  <property fmtid="{D5CDD505-2E9C-101B-9397-08002B2CF9AE}" pid="8" name="MSIP_Label_84f7750d-9cdf-4ba7-80aa-2c6ffdc35229_ContentBits">
    <vt:lpwstr>0</vt:lpwstr>
  </property>
  <property fmtid="{D5CDD505-2E9C-101B-9397-08002B2CF9AE}" pid="9" name="MSIP_Label_84f7750d-9cdf-4ba7-80aa-2c6ffdc35229_Tag">
    <vt:lpwstr>10, 3, 0, 1</vt:lpwstr>
  </property>
</Properties>
</file>