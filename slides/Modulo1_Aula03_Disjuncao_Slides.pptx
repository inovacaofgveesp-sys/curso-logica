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25.735" v="8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25.611" v="2" actId="947"/>
        <pc:sldMkLst>
          <pc:docMk/>
          <pc:sldMk cId="3950806979" sldId="256"/>
        </pc:sldMkLst>
      </pc:sldChg>
      <pc:sldChg chg="modNotes">
        <pc:chgData name="Gabriela do Couto Fonseca" userId="f73f3f1e-5e1c-47a9-aa2d-ab4ab106ce0b" providerId="ADAL" clId="{36832870-9FEF-437A-81DC-AEE05E3FC80B}" dt="2026-09-23T16:28:25.660" v="5" actId="947"/>
        <pc:sldMkLst>
          <pc:docMk/>
          <pc:sldMk cId="3227685381" sldId="257"/>
        </pc:sldMkLst>
      </pc:sldChg>
      <pc:sldChg chg="modNotes">
        <pc:chgData name="Gabriela do Couto Fonseca" userId="f73f3f1e-5e1c-47a9-aa2d-ab4ab106ce0b" providerId="ADAL" clId="{36832870-9FEF-437A-81DC-AEE05E3FC80B}" dt="2026-09-23T16:28:25.735" v="8" actId="947"/>
        <pc:sldMkLst>
          <pc:docMk/>
          <pc:sldMk cId="1080935034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51549-049E-4FD7-8679-E7F6148B7202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75CA4-38BF-4A40-8B8B-BDB1482C0A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83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Agora o ou. À primeira vista é o irmão gêmeo do e, e metade da aula é realmente simples. A outra metade é uma armadilha de linguagem que derruba muita gente, então vale prestar atenção até o fim.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75CA4-38BF-4A40-8B8B-BDB1482C0A7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823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disjunção é o nosso ou. P ou Q é verdadeira quando pelo menos uma das duas for verdadeira. Só existe um jeito de ela ser falsa: as duas falharem ao mesmo tempo.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Na tabela isso aparece invertido em relação à conjunção. Lá, só a primeira linha dava verdadeiro. Aqui, só a última dá falso. As três primeiras são todas verdadeiras, porque em cada uma delas pelo menos uma das proposições se sustenta.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já aproveito para registrar a segunda metade da lei que vimos na aula passada. Se negar um e produz um ou, o caminho de volta também vale: negar um ou produz um 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Pensa assim. Se eu afirmo que ou a inflação caiu, ou o desemprego caiu, e você me diz que isso é falso, o que você está dizendo? Que nenhum dos dois caiu. Não sobrou possibilidade: para derrubar um ou, você precisa derrubar as duas partes. A inflação não caiu e o desemprego não caiu.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Essa é a Segunda Lei de De Morgan. Junto com a primeira, elas formam um par que você vai usar toda vez que precisar negar uma condição composta — e isso acontece o tempo todo em demonstração. A prova das duas vem na Aula 07.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75CA4-38BF-4A40-8B8B-BDB1482C0A7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820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Agora a armadilha. Em português, a palavra ou faz dois trabalhos diferentes, e a gente troca um pelo outro sem perceber.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Quando alguém diz que amanhã vai fazer sol ou chuva, ninguém fica indignado se fizer os dois — sol de manhã, chuva à tarde. Esse é o ou inclusivo: pelo menos uma, possivelmente as duas.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Mas quando alguém diz ou você vai ao cinema, ou fica em casa, a leitura natural é que são alternativas que se excluem. Você faz uma coisa ou a outra, não as duas. Esse é o ou exclusivo, que em matemática tem símbolo próprio e costuma aparecer com o nome de ou exclusivo.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regra que você precisa levar desta aula é curta: em matemática, o ou é sempre inclusivo. Sempre. Quando um enunciado quiser o exclusivo, ele vai dizer isso explicitamente, com um ou exatamente um ou com a construção ou isto, ou aquilo, mas não ambos.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isso não é preciosismo. Pensa numa política pública que atenda famílias com renda abaixo de um certo valor ou com filhos em idade escolar. Se o ou é inclusivo, quem satisfaz os dois critérios está incluído — e provavelmente é exatamente quem mais precisa. Se você ler como exclusivo, deixa essas famílias de fora. O mesmo texto, duas leituras, políticas diferentes.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Por isso a matemática fixou um sentido só. É menos elegante que o português, e é muito mais seguro.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75CA4-38BF-4A40-8B8B-BDB1482C0A7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328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39A22-F3D1-30AC-1A40-8A79E770B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A2E1A7-23DC-C69D-0DC6-BEE6B37BA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B122E4-0E98-196E-D1EA-B6096D416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AC713F-AD04-CA46-5163-C8D7611D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C6B270-4251-7EE8-82F1-B46AAD53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11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EF1AB-9B26-B03E-7A7E-09164F11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2E5184-ED52-1C07-CC76-87455F0F1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B9EF93-1E75-98D0-919E-AFDF7FBA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7351D3-9DB4-FABC-DC95-1F23C91CC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1B68A-0A6C-544C-7640-9AA60A6C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32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49695-CF3D-DBBD-212D-9FE2C7B8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48F88F-55E7-E2E3-3CD1-6834F53F4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642934-A2AD-DA3E-FA95-3438CCDF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838FED-AA75-C0FE-0FC6-E9582236E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FC9851-7979-3965-431D-09E536DA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45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E195D-FBD5-55E3-ABC7-FF99C4DA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94C562-F054-BBB0-D2A6-35EE23EAF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752D6D-732F-4F8A-6449-791979522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107EF4-D618-D635-A978-A314307C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9F6ACE-8679-B95A-B118-054845B7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5AA494-FC84-BEDB-2441-035DC9AD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63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BC957-4D53-AF58-2112-AD66D8A0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55AB24-0C2B-F10A-4A74-B0A7A579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FE7FF3-CA52-3293-BE7D-2E7E943A3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56517C-8017-D2D3-099D-970F0FE6E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CDCA7E-7BAF-A2E9-3351-D067D4E26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18AC49-BFAD-4840-FA6C-10764CEC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A6060C-0431-8F22-1239-E4D2BA63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761705-3AF2-1CFA-F40C-DF00700D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06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CA523-1D48-2E36-3D2A-E250D810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A4280FA-2386-7533-040D-BA4A4CBD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C6C21AF-9A9A-34E2-D406-AA056541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D4E537-0495-65E6-74E8-FC57F166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70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EABD43-DADC-6E38-FF2E-9C666911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948B48-22C2-4EC2-3E34-38466491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D989A2-ED5B-DDD7-0EAD-7D5D5BBA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12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8F14A-2C56-AE80-E0DE-789641BA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3E291E-4369-1C5B-D8C4-AEADCB54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B7997D-A02D-8023-4A01-CE1BF59C4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FBFE18-FBD5-F363-1668-84571F97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55D511-1C47-3AF5-DC11-D645F823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B7A8B7-F308-BAA7-8285-E2DE7024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71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74543-95FE-EC54-22FD-9C8D820FD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034FE2-F1D3-A298-11D1-BCB5BEC43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28F30D-FE13-CA05-5D33-192E055BD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F65D7C-08B2-0ADD-2ABB-2A24EE22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15AF3F-0816-EB4A-85A4-D712EC47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13455A-DB8A-C485-8197-4BAD0426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87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BB753-8671-3BC4-06B6-931570BF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490BA0-D9E1-5C60-8A2F-92EF1D45A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4C8EE0-BE96-4230-F478-1EC73442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5E1A9-A1B0-9228-EE8C-1B0D4BF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86B6C2-8ACA-102B-E3BE-D8D45F8F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69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11A11A-0374-EA01-F6A4-0508F0CF0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848536-4739-9687-3C77-047A01512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B00C4D-AB26-FC45-C9BE-02DFEA0F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02E882-5338-CB3E-6C5E-81B2AF24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74A227-30AA-6D11-3C27-2ADAA78E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85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B39960F-C151-2D1E-A0AD-7E26BBB3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5A54F8-24BE-E39B-16FA-23E5A4016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399DDE-9AE7-9202-DABB-353DF081C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DB10F-F319-43FA-92CA-BB1BB8AF77C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7B8D33-95C2-5B46-8770-B1B94ECC9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135459-4A07-F841-A4D1-2DC18B00C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C1754-43D0-455E-9B6E-3B5FFE4F69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4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543632A-E813-770C-4B05-E9E823F5CBE7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071718-E07A-E9F1-C6E9-5D7339DAE567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Disjunção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156901-FDA0-3474-D496-F35926F29533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46C936-5F49-DC3C-ABFF-E7372F1EFA69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O conectivo ∨ — o “ou”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568AB23-D18E-53F9-CFDD-ECFF4C9055BC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8006C0-4CED-581A-AC76-3CE1A0B6D8A3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9ECD308-7AC8-1E73-8786-5C1FCF00A2A0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0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E99E5A6-6CEA-3D3C-9999-03A64807D245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03  ·  DISJUNÇÃO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ABB00C-DE6E-9B44-A326-2BCD51894DC8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Disjunção — P ∨ Q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003ED5A-8984-26A2-BBD0-AC0623337121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BEC40DD-7475-454C-AD9C-2BF4C4D598B3}"/>
              </a:ext>
            </a:extLst>
          </p:cNvPr>
          <p:cNvSpPr/>
          <p:nvPr/>
        </p:nvSpPr>
        <p:spPr>
          <a:xfrm>
            <a:off x="812800" y="2519419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25B660-CAEC-8ED5-7634-F3D0666CEFAF}"/>
              </a:ext>
            </a:extLst>
          </p:cNvPr>
          <p:cNvSpPr txBox="1"/>
          <p:nvPr/>
        </p:nvSpPr>
        <p:spPr>
          <a:xfrm>
            <a:off x="990600" y="2697219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DISJUNÇÃO  P ∨ 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9E5402-7F17-E424-A14F-80A92240E756}"/>
              </a:ext>
            </a:extLst>
          </p:cNvPr>
          <p:cNvSpPr txBox="1"/>
          <p:nvPr/>
        </p:nvSpPr>
        <p:spPr>
          <a:xfrm>
            <a:off x="990600" y="2932313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 ∨ Q (“P ou Q”) é verdadeira quando ao menos uma das proposições é verdadeira. Falsa somente quando as duas são falsas.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A22780C-2223-69BA-940D-11BF7C221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465450"/>
              </p:ext>
            </p:extLst>
          </p:nvPr>
        </p:nvGraphicFramePr>
        <p:xfrm>
          <a:off x="812800" y="3856556"/>
          <a:ext cx="6604000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655646819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434134368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210039851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 ∨ 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07208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3019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5498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4892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494254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A3C1797-9CC7-382A-1E85-7D627A400EB3}"/>
              </a:ext>
            </a:extLst>
          </p:cNvPr>
          <p:cNvCxnSpPr/>
          <p:nvPr/>
        </p:nvCxnSpPr>
        <p:spPr>
          <a:xfrm>
            <a:off x="7975600" y="2519419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059B22-7759-D206-AA2A-2CBC522F4323}"/>
              </a:ext>
            </a:extLst>
          </p:cNvPr>
          <p:cNvSpPr txBox="1"/>
          <p:nvPr/>
        </p:nvSpPr>
        <p:spPr>
          <a:xfrm>
            <a:off x="7975600" y="2684519"/>
            <a:ext cx="34036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¬(P ∨ Q)  ≡  ¬P ∧ ¬Q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95AD72F7-D37E-9371-D7FB-74F4AD2D98A2}"/>
              </a:ext>
            </a:extLst>
          </p:cNvPr>
          <p:cNvCxnSpPr/>
          <p:nvPr/>
        </p:nvCxnSpPr>
        <p:spPr>
          <a:xfrm>
            <a:off x="7975600" y="3150471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26994A-04FA-1FA8-DA5C-32D3479281FC}"/>
              </a:ext>
            </a:extLst>
          </p:cNvPr>
          <p:cNvSpPr txBox="1"/>
          <p:nvPr/>
        </p:nvSpPr>
        <p:spPr>
          <a:xfrm>
            <a:off x="7975600" y="3429871"/>
            <a:ext cx="3403600" cy="512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Segunda Lei de De Morgan: negar um “ou” produz um “e”. Prova na Aula 07.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0C1524C-B3DC-0FDA-3B05-E681BC6A8E0F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38B3C9-1501-C201-47F5-06244E9409C6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F6C9179-AAD2-02A4-4E80-47DEAB278245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322768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BF19D4E-5309-9B0E-4065-8C2115E6CFA8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03  ·  DISJUNÇÃO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13C951-3F4A-08EE-33BC-C27AE343A8BD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Disjunção inclusiva e exclusiva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B421EC-AEA2-ADA6-FA55-C6D8C932505E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3062DD-8185-1197-E9E3-F900843CE5C5}"/>
              </a:ext>
            </a:extLst>
          </p:cNvPr>
          <p:cNvSpPr txBox="1"/>
          <p:nvPr/>
        </p:nvSpPr>
        <p:spPr>
          <a:xfrm>
            <a:off x="812800" y="2616775"/>
            <a:ext cx="3136900" cy="2999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∨  INCLUSIVA — O PADRÃO DA MATEMÁTICA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36A3697-CBBF-4574-C18F-89F6485FCA59}"/>
              </a:ext>
            </a:extLst>
          </p:cNvPr>
          <p:cNvCxnSpPr/>
          <p:nvPr/>
        </p:nvCxnSpPr>
        <p:spPr>
          <a:xfrm>
            <a:off x="812800" y="299292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4FF7886-F7D9-4E69-C13F-521F91AF8010}"/>
              </a:ext>
            </a:extLst>
          </p:cNvPr>
          <p:cNvSpPr txBox="1"/>
          <p:nvPr/>
        </p:nvSpPr>
        <p:spPr>
          <a:xfrm>
            <a:off x="812800" y="310722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“Fará sol ou chuva amanhã”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4F4A3F-8C66-6AD4-814F-BDA2EF58197D}"/>
              </a:ext>
            </a:extLst>
          </p:cNvPr>
          <p:cNvSpPr txBox="1"/>
          <p:nvPr/>
        </p:nvSpPr>
        <p:spPr>
          <a:xfrm>
            <a:off x="812800" y="341246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Pode ser os dois ao mesmo tempo.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9D213E4-2179-B3C5-DEAC-7EE50FA80BF2}"/>
              </a:ext>
            </a:extLst>
          </p:cNvPr>
          <p:cNvSpPr txBox="1"/>
          <p:nvPr/>
        </p:nvSpPr>
        <p:spPr>
          <a:xfrm>
            <a:off x="812800" y="371770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Verdadeira se ao menos uma for verdadeira.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098C4D-C79B-4038-442B-8BBC24E0DDC6}"/>
              </a:ext>
            </a:extLst>
          </p:cNvPr>
          <p:cNvSpPr txBox="1"/>
          <p:nvPr/>
        </p:nvSpPr>
        <p:spPr>
          <a:xfrm>
            <a:off x="4279900" y="261677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⊕  EXCLUSIVA — O “OU... OU”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477BD05-DE8D-9822-0900-E091EBD88024}"/>
              </a:ext>
            </a:extLst>
          </p:cNvPr>
          <p:cNvCxnSpPr/>
          <p:nvPr/>
        </p:nvCxnSpPr>
        <p:spPr>
          <a:xfrm>
            <a:off x="4279900" y="283916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AFF79A9-4553-311A-C945-06148BF9BD48}"/>
              </a:ext>
            </a:extLst>
          </p:cNvPr>
          <p:cNvSpPr txBox="1"/>
          <p:nvPr/>
        </p:nvSpPr>
        <p:spPr>
          <a:xfrm>
            <a:off x="4279900" y="295346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“Ou você vai ao cinema, ou fica em casa”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009DDB0-BC81-5C45-8041-9B4A6E30F659}"/>
              </a:ext>
            </a:extLst>
          </p:cNvPr>
          <p:cNvSpPr txBox="1"/>
          <p:nvPr/>
        </p:nvSpPr>
        <p:spPr>
          <a:xfrm>
            <a:off x="4279900" y="325870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Exatamente uma das duas.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7D148CE-5B7F-0209-9912-745A415BAF92}"/>
              </a:ext>
            </a:extLst>
          </p:cNvPr>
          <p:cNvSpPr txBox="1"/>
          <p:nvPr/>
        </p:nvSpPr>
        <p:spPr>
          <a:xfrm>
            <a:off x="4279900" y="356394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Equivale a (P ∨ Q) ∧ ¬(P ∧ Q).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5CDAF14-59CB-69EC-0EE5-6F1EB569030B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5BC1B08-710A-45F5-7984-AE34FE0F4C97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REGRA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2AE499B-D4B3-7DDF-6667-144C606744EC}"/>
              </a:ext>
            </a:extLst>
          </p:cNvPr>
          <p:cNvSpPr txBox="1"/>
          <p:nvPr/>
        </p:nvSpPr>
        <p:spPr>
          <a:xfrm>
            <a:off x="7975600" y="2978869"/>
            <a:ext cx="3403600" cy="492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Em matemática, ∨ é sempre inclusivo, salvo indicação explícita em contrário.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AB2FF2B-F404-0C39-076E-EEBECB0A4039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6C5E9A8-A78C-5408-C736-E1119DEC9B3E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E07C67A-2DD6-EB32-1CB2-A92F6CF0F2E5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080935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Microsoft Office PowerPoint</Application>
  <PresentationFormat>Widescreen</PresentationFormat>
  <Paragraphs>65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2026-09-23T16:27:33Z</dcterms:created>
  <dcterms:modified xsi:type="dcterms:W3CDTF">2026-09-23T16:28:25Z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2026-09-23T16:27:33Z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ce699607-db55-46ff-9b74-396de7396336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