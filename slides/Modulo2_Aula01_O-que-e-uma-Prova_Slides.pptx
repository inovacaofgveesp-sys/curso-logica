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34.478" v="14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33.921" v="2" actId="947"/>
        <pc:sldMkLst>
          <pc:docMk/>
          <pc:sldMk cId="2744513784" sldId="256"/>
        </pc:sldMkLst>
      </pc:sldChg>
      <pc:sldChg chg="modNotes">
        <pc:chgData name="Gabriela do Couto Fonseca" userId="f73f3f1e-5e1c-47a9-aa2d-ab4ab106ce0b" providerId="ADAL" clId="{36832870-9FEF-437A-81DC-AEE05E3FC80B}" dt="2026-09-23T16:28:34.153" v="5" actId="947"/>
        <pc:sldMkLst>
          <pc:docMk/>
          <pc:sldMk cId="1323822747" sldId="257"/>
        </pc:sldMkLst>
      </pc:sldChg>
      <pc:sldChg chg="modNotes">
        <pc:chgData name="Gabriela do Couto Fonseca" userId="f73f3f1e-5e1c-47a9-aa2d-ab4ab106ce0b" providerId="ADAL" clId="{36832870-9FEF-437A-81DC-AEE05E3FC80B}" dt="2026-09-23T16:28:34.264" v="8" actId="947"/>
        <pc:sldMkLst>
          <pc:docMk/>
          <pc:sldMk cId="1564731229" sldId="258"/>
        </pc:sldMkLst>
      </pc:sldChg>
      <pc:sldChg chg="modNotes">
        <pc:chgData name="Gabriela do Couto Fonseca" userId="f73f3f1e-5e1c-47a9-aa2d-ab4ab106ce0b" providerId="ADAL" clId="{36832870-9FEF-437A-81DC-AEE05E3FC80B}" dt="2026-09-23T16:28:34.426" v="11" actId="947"/>
        <pc:sldMkLst>
          <pc:docMk/>
          <pc:sldMk cId="3869308626" sldId="259"/>
        </pc:sldMkLst>
      </pc:sldChg>
      <pc:sldChg chg="modNotes">
        <pc:chgData name="Gabriela do Couto Fonseca" userId="f73f3f1e-5e1c-47a9-aa2d-ab4ab106ce0b" providerId="ADAL" clId="{36832870-9FEF-437A-81DC-AEE05E3FC80B}" dt="2026-09-23T16:28:34.478" v="14" actId="947"/>
        <pc:sldMkLst>
          <pc:docMk/>
          <pc:sldMk cId="1219445063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3D0A83-8A9E-4CFA-B7C8-B583A278F13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79134-52D1-479D-BC4D-E631EE6AD9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8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De volta. No módulo anterior a gente montou a linguagem: proposições, conectivos, quantificadores. Foi um investimento sem retorno imediato — vocabulário novo, símbolo novo, e nenhum problema resolvido até o fim.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Este módulo é onde o investimento rende. São cinco aulas, e a pergunta que guia todas elas é: o que significa, exatamente, dizer que algo está demonstrado?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gente começa entendendo o que é uma prova e qual é a peça que sustenta qualquer demonstração. Depois percorre as quatro técnicas que cobrem praticamente tudo o que você vai encontrar: prova direta, contraposição, contradição e indução. Cada uma tem um perfil próprio, e boa parte da dificuldade em demonstração não é executar a técnica — é escolher a certa.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 aviso: este módulo é mais lento que o primeiro. Prova matemática não se aprende assistindo, se aprende tentando. Então quando aparecer uma demonstração na tela, vale pausar e tentar o passo seguinte antes de eu falar. Vamos começar.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79134-52D1-479D-BC4D-E631EE6AD96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95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Antes de qualquer técnica, a pergunta de base. O que é uma prova? E, principalmente: por que ela é necessária, se a afirmação parece obviamente verdadeira?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79134-52D1-479D-BC4D-E631EE6AD96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364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Uma prova é uma sequência finita de afirmações em que cada passo é justificado — por um axioma, por uma hipótese, ou por algo que já foi estabelecido antes na própria prova. E ela termina na conclusão que a gente queria.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palavra que faz o trabalho aí é justificado. Não basta a afirmação ser verdadeira; ela precisa vir de algum lugar. Verificar casos não é prova. Achar óbvio não é prova. Funcionar nos exemplos que eu testei não é prova.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Toda essa cadeia precisa começar em algum lugar, e esse lugar são os axiomas: verdades que a gente aceita sem demonstrar, porque em algum ponto é preciso parar de perguntar por quê. Os axiomas de Peano, que definem os números naturais, são o exemplo padrão. Eles não são verdades óbvias do universo — são as regras do jogo que a gente escolheu jogar.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Depois vêm as hipóteses, que são as premissas específicas daquele teorema. Elas correspondem ao P de P implica Q. E a conclusão é o Q. A prova é o caminho entre os dois.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Uma observação que ajuda a entender por que economistas aprendem isso. Um modelo econômico tem exatamente essa estrutura. As hipóteses de comportamento são as premissas, o resultado é a conclusão, e a derivação é a prova. Quando alguém critica um modelo, quase sempre está criticando as hipóteses — o que é legítimo e importante. Mas repara que isso é diferente de apontar um erro na derivação. Uma prova pode estar impecável e partir de hipóteses que não descrevem nada do mundo real. Separar essas duas críticas é metade de uma boa discussão em economia.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79134-52D1-479D-BC4D-E631EE6AD96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248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Se toda prova é uma cadeia de passos justificados, vale perguntar qual é a peça que permite dar um passo. Ela tem nome: modus ponens.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regra diz o seguinte. Se você sabe que P implica Q, e sabe que P é verdadeiro, então você pode concluir Q. Só isso.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Parece óbvio ao ponto de ser inútil. Não é. É exatamente isso que legitima cada linha de uma demonstração. Você chega com um fato, aplica um resultado já provado que tem forma de implicação, e sai com um fato novo. Repete.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exemplo na tela: você tem o teorema de que se n é par, então n ao quadrado é par. E tem o fato de que seis é par. Modus ponens entrega que trinta e seis é par. Você não precisou calcular trinta e seis, nem verificar a paridade dele. O resultado veio da estrutura.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na prática as coisas se encadeiam. P implica Q, Q implica R, e você sabe que P vale. Então vale Q, e aí vale R. Essa cadeia é literalmente o que a gente vai chamar de prova direta na próxima aula.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 cuidado importante, porque é o erro mais frequente. Modus ponens funciona numa direção só. Saber que P implica Q e saber que Q é verdadeiro não permite concluir P. Isso é a recíproca, e a gente viu no Módulo 1 que ela é uma afirmação diferente. Em termos concretos: se a taxa de juros sobe, o investimento cai. O investimento caiu. Logo a taxa subiu? Não. O investimento pode ter caído por outro motivo qualquer. Esse erro tem nome — afirmação do consequente — e ele aparece em análise econômica com uma frequência desconfortável.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79134-52D1-479D-BC4D-E631EE6AD96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2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São quatro técnicas, e elas dão conta de quase tudo que você vai encontrar nos próximos semestres.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primeira é a prova direta: você assume P e caminha até Q. É a mais natural e deve ser sempre a primeira tentativa.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segunda é a contraposição, que você já conhece do Módulo 1. Em vez de provar P implica Q, você prova não Q implica não P. Como as duas formas são equivalentes, provar uma é provar a outra — e às vezes uma é muito mais fácil.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terceira é a contradição. Você assume que P vale e que Q não vale, ao mesmo tempo, e mostra que isso leva a uma impossibilidade lógica. Como o impossível não acontece, a suposição estava errada.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quarta é a indução matemática, que é a especialista: serve para provar afirmações sobre todos os números naturais.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aqui vai a coisa mais útil deste slide. As quatro são igualmente válidas do ponto de vista lógico, mas não são igualmente convenientes para um teorema específico. Escolher a técnica errada não te leva a uma conclusão errada — te leva a um beco sem saída, gastando meia hora antes de perceber.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Então a habilidade que este módulo quer construir não é só executar cada técnica. É olhar para um enunciado e ter um palpite razoável de por onde começar. Nas próximas aulas, a cada técnica, eu vou marcar explicitamente quais sinais no enunciado sugerem tentá-la.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79134-52D1-479D-BC4D-E631EE6AD96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33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6F7E9-987D-B919-9471-D23650172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CEECAF-FEF1-E727-21FC-1B7AC359C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E2B846-CB73-DDAF-B4F3-B4BF7CC6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B9BB97-6F3B-2844-2011-5AF07E30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BDC087-D67E-81D4-6A5D-0E84DBD5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613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B3FA1-729A-908B-5025-5976C3EF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913378-DA1F-D302-F307-7222F215C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A6B1CE-E86C-7105-5F3B-859F9792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1ADA58-F796-8192-B4E4-EE0E78BA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EB425E-E50F-7C42-9FD1-1AE4B83A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32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489A6-978D-7FCB-FC40-2B5BCA1C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307FEE-85D2-30C0-78BC-0C3E3B57B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54B69-0F83-F749-5B40-73A1DE4B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14DA95-7ABC-4F9C-5DFF-13F20E95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C2882E-7847-F69C-E05C-DF22A06A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75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7702E-9C77-F745-9D6F-2B636494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B26A7-AC07-F8E2-2F0F-6EF5D522D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161E72-B807-DFFF-E0C7-7BB70CB67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FFAB65-569C-596C-2D73-6DFDFC2B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AC5BD2-CA2C-C566-4EFC-31FA70DF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58356F-894C-EBB5-850D-66C69C31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72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1DBA4-D5A4-F04A-D90B-F1F244BB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C5E3F1-559C-086F-1A16-7E1C55841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8C41F0-7733-D64A-092F-5CDDC1B25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347244-C02A-19D5-2C47-E2354181C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F5358B-8B8F-67FA-73ED-D1F2CFAD6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0F383D7-BAFC-4119-1D7C-B3D91EC0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07CFDA-A296-30EB-8BEF-30673CE4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54ECB2-9F95-8D7A-04CD-11641731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73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71A8D-FCD5-E363-94A9-10B0F6F1C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E961A6-6395-BE80-6C6F-D89172D3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D4D3A8-704F-C5E4-9BD6-726CE98B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15A34E-63C2-BA97-9AB7-40514231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18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AF9320-C2FE-FB96-02E8-F1B557D3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419DA6-A0C6-3E04-32CB-FC435D04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8DEC10-31FF-9A0A-053F-BD4D0819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37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E4528-BA80-3DEC-1592-662FC61D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31AD34-2DA0-808C-9DD7-8C4D5C91B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C52473-01A6-BD29-C042-E9F110E23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298026-23CD-9057-4E9C-85480C9C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943446-E09D-B3FD-B2BA-9A52DF59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8594DF-CB44-D1C9-2B6F-4033EAD6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43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08B50-B411-F4C0-3284-405BE594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D99D03-5A43-83F4-34F5-892D9C376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896C57-60F0-54C9-4F6A-B0FDEA07E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8FBE11-6FFC-C746-A964-4ED92CC3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05490D-326B-4FFC-ADB7-ADE3228E6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119135-05BB-0279-A29C-7163D29A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674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F1D17-6E77-FEFA-1A2B-5E4B744E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B31E24-8611-7AD4-3A99-8026F4C0F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C31D5-BE28-7783-B2D6-8182DF0A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66CD8D-7060-16EB-FC26-20B553E5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3CA649-4DA4-EA11-3D4B-A43121BB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2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E9787A-61FB-8312-D655-42554391D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047E4C-3D20-174D-D66C-BB5FC3C3A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5C958E-B47F-403C-4073-B6655EF8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562EC6-38F4-CB60-A90B-9871A098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86AC68-9EFE-FBFB-A144-00383F85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17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62E10B-1CF8-6517-A77B-5E33B24F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63EC3F-952F-65DE-1FAF-A9472D9E2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55E7CA-9972-1039-CE29-B6B58E21D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B2B015-A710-4A54-9682-9CEB32B04BB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6DBED6-B7C3-D5B6-BED8-1B535C941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8D3F44-83B8-C566-CD80-5E4D221C7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57C40-3E0E-4DA6-B1EF-E5D8CBCCC9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856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31062A-89CA-5FE9-6A93-A13D5FADAA19}"/>
              </a:ext>
            </a:extLst>
          </p:cNvPr>
          <p:cNvSpPr txBox="1"/>
          <p:nvPr/>
        </p:nvSpPr>
        <p:spPr>
          <a:xfrm>
            <a:off x="812800" y="2235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8A6A00"/>
                </a:solidFill>
                <a:latin typeface="Lora" pitchFamily="2" charset="0"/>
              </a:rPr>
              <a:t>MÓDULO 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931CFD-FF97-716B-4EBB-23BEDACB5EBF}"/>
              </a:ext>
            </a:extLst>
          </p:cNvPr>
          <p:cNvSpPr txBox="1"/>
          <p:nvPr/>
        </p:nvSpPr>
        <p:spPr>
          <a:xfrm>
            <a:off x="812800" y="2590800"/>
            <a:ext cx="838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4000"/>
              </a:lnSpc>
            </a:pPr>
            <a:r>
              <a:rPr lang="pt-BR" sz="4600">
                <a:solidFill>
                  <a:srgbClr val="17365E"/>
                </a:solidFill>
                <a:latin typeface="Lora" pitchFamily="2" charset="0"/>
              </a:rPr>
              <a:t>Técnicas de Demonstração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D93097-0FC0-0F11-AAA9-2AD88086FFDA}"/>
              </a:ext>
            </a:extLst>
          </p:cNvPr>
          <p:cNvSpPr/>
          <p:nvPr/>
        </p:nvSpPr>
        <p:spPr>
          <a:xfrm>
            <a:off x="812800" y="3552686"/>
            <a:ext cx="11176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4B1178C-01C8-90D4-0166-8641D709B493}"/>
              </a:ext>
            </a:extLst>
          </p:cNvPr>
          <p:cNvSpPr txBox="1"/>
          <p:nvPr/>
        </p:nvSpPr>
        <p:spPr>
          <a:xfrm>
            <a:off x="812800" y="3832086"/>
            <a:ext cx="7620000" cy="2741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500">
                <a:solidFill>
                  <a:srgbClr val="5C6270"/>
                </a:solidFill>
                <a:latin typeface="Spectral" pitchFamily="2" charset="0"/>
              </a:rPr>
              <a:t>Cinco aulas · Material de apoio de Matemática I e II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F035633-841C-74A2-AD9B-BD91B7322CF4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3631DA-B1C5-34C4-820D-36FB60DE8E40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BE501D-8BE8-0CCB-7A9A-1DE6D0034218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9A988F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513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B418847-C4BA-2099-5476-FBAE3D74FE1F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83519F-A7F0-B6A5-CA07-045FF649D7CC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O que é uma prova?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C96F65-8993-1E7F-EF77-7C7532791FDF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12200D-7E38-0DFA-1F4F-45124E36CA52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Axiomas, inferências e a estrutura do argumento matemático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1F5693E-F156-0FF5-13D6-DC1F247B38DA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93DF76-ED50-AAB6-EE0E-FBA148758C72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ED7CBF-B826-3BC8-734F-5155F84A0C8A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82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5A19069-A766-3E6C-0B3A-9A6F2325C26F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01  ·  O QUE É UMA PROVA?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6EB3F2-A136-3A41-8C7C-B70EE2A9849B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Estrutura de uma prova matemática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6AB92EE-D964-B60E-31B3-13E3659AA5EF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77EC66B-4A3A-31F1-7D58-74DA2F3DC051}"/>
              </a:ext>
            </a:extLst>
          </p:cNvPr>
          <p:cNvSpPr/>
          <p:nvPr/>
        </p:nvSpPr>
        <p:spPr>
          <a:xfrm>
            <a:off x="812800" y="2616775"/>
            <a:ext cx="105664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A92E56-D9EA-65ED-00F5-236FD8D02D23}"/>
              </a:ext>
            </a:extLst>
          </p:cNvPr>
          <p:cNvSpPr txBox="1"/>
          <p:nvPr/>
        </p:nvSpPr>
        <p:spPr>
          <a:xfrm>
            <a:off x="990600" y="2794575"/>
            <a:ext cx="10210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DEFINIÇÃO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503154B-46E2-7FCA-EA46-BD0E86D1C592}"/>
              </a:ext>
            </a:extLst>
          </p:cNvPr>
          <p:cNvSpPr txBox="1"/>
          <p:nvPr/>
        </p:nvSpPr>
        <p:spPr>
          <a:xfrm>
            <a:off x="990600" y="3029669"/>
            <a:ext cx="10210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Uma prova é uma sequência finita de afirmações, cada uma justificada por axiomas, hipóteses ou afirmações anteriores, que conduz à conclusão desejada.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9846AD-140D-534F-72E6-1BA0519D0DBE}"/>
              </a:ext>
            </a:extLst>
          </p:cNvPr>
          <p:cNvSpPr txBox="1"/>
          <p:nvPr/>
        </p:nvSpPr>
        <p:spPr>
          <a:xfrm>
            <a:off x="812800" y="3953912"/>
            <a:ext cx="5118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AXIOMAS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E3099FA-7261-C757-C801-F944563C8DD4}"/>
              </a:ext>
            </a:extLst>
          </p:cNvPr>
          <p:cNvCxnSpPr/>
          <p:nvPr/>
        </p:nvCxnSpPr>
        <p:spPr>
          <a:xfrm>
            <a:off x="812800" y="4176306"/>
            <a:ext cx="51181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313376F-B3C9-4CED-4DBE-232D15DE4B18}"/>
              </a:ext>
            </a:extLst>
          </p:cNvPr>
          <p:cNvSpPr txBox="1"/>
          <p:nvPr/>
        </p:nvSpPr>
        <p:spPr>
          <a:xfrm>
            <a:off x="812800" y="4290606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Verdades aceitas sem demonstração.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A34FBF-CAFA-C18F-F7DC-F3DCABCF38C1}"/>
              </a:ext>
            </a:extLst>
          </p:cNvPr>
          <p:cNvSpPr txBox="1"/>
          <p:nvPr/>
        </p:nvSpPr>
        <p:spPr>
          <a:xfrm>
            <a:off x="812800" y="4595843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base sobre a qual a matemática é construída.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AED576C-B054-7991-F2B5-051968224A1A}"/>
              </a:ext>
            </a:extLst>
          </p:cNvPr>
          <p:cNvSpPr txBox="1"/>
          <p:nvPr/>
        </p:nvSpPr>
        <p:spPr>
          <a:xfrm>
            <a:off x="812800" y="4901080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Exemplos: axiomas de Peano, axiomas de conjuntos.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8831C24-4124-3852-E60E-4E0A975E7CA7}"/>
              </a:ext>
            </a:extLst>
          </p:cNvPr>
          <p:cNvSpPr txBox="1"/>
          <p:nvPr/>
        </p:nvSpPr>
        <p:spPr>
          <a:xfrm>
            <a:off x="6261100" y="3953912"/>
            <a:ext cx="5118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HIPÓTESES E CONCLUSÃO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FE133924-B9ED-D63A-D098-AAE358D4D9FC}"/>
              </a:ext>
            </a:extLst>
          </p:cNvPr>
          <p:cNvCxnSpPr/>
          <p:nvPr/>
        </p:nvCxnSpPr>
        <p:spPr>
          <a:xfrm>
            <a:off x="6261100" y="4176306"/>
            <a:ext cx="51181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2788BB6-3AB4-FDF2-9995-E45B0E5E887C}"/>
              </a:ext>
            </a:extLst>
          </p:cNvPr>
          <p:cNvSpPr txBox="1"/>
          <p:nvPr/>
        </p:nvSpPr>
        <p:spPr>
          <a:xfrm>
            <a:off x="6261100" y="4290606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Hipóteses: o que assumimos como verdadeiro — o P de P → Q.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CBD8258-C2F8-6232-ED87-0D3406253F2C}"/>
              </a:ext>
            </a:extLst>
          </p:cNvPr>
          <p:cNvSpPr txBox="1"/>
          <p:nvPr/>
        </p:nvSpPr>
        <p:spPr>
          <a:xfrm>
            <a:off x="6261100" y="4595843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Conclusão: o que queremos demonstrar — o Q.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D7E26B-B840-9714-3D84-B934D9F0B015}"/>
              </a:ext>
            </a:extLst>
          </p:cNvPr>
          <p:cNvSpPr txBox="1"/>
          <p:nvPr/>
        </p:nvSpPr>
        <p:spPr>
          <a:xfrm>
            <a:off x="6261100" y="4901080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prova é o caminho de P até Q.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CBEC819-0241-BB8C-D75C-C7B4C69D3171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689D1C4-80F7-374E-4FD2-D7E5ED3555B2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145598-526C-97B6-ACD7-DCDE10F132D8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56473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4D6DF9-03BC-78B1-0D78-E6AC04EF92B1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01  ·  O QUE É UMA PROVA?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70EB7A-0A20-B10F-9C7B-0D4AF0299D1F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Modus ponens — a regra central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75BBE4E-1D67-2B85-C148-7AD4E768C814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7DA813-A82E-D568-282D-A903AF1A3B87}"/>
              </a:ext>
            </a:extLst>
          </p:cNvPr>
          <p:cNvSpPr txBox="1"/>
          <p:nvPr/>
        </p:nvSpPr>
        <p:spPr>
          <a:xfrm>
            <a:off x="812800" y="2616775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Toda prova matemática se apoia, em algum ponto, no modus ponens: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04E8EE4-949C-009F-ADC1-81D58134C0A9}"/>
              </a:ext>
            </a:extLst>
          </p:cNvPr>
          <p:cNvCxnSpPr/>
          <p:nvPr/>
        </p:nvCxnSpPr>
        <p:spPr>
          <a:xfrm>
            <a:off x="812800" y="3117959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3C2937-A15E-45DD-1DA9-9035F00DBB59}"/>
              </a:ext>
            </a:extLst>
          </p:cNvPr>
          <p:cNvSpPr txBox="1"/>
          <p:nvPr/>
        </p:nvSpPr>
        <p:spPr>
          <a:xfrm>
            <a:off x="812800" y="3283059"/>
            <a:ext cx="66040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((P → Q) ∧ P)  →  Q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A885FF5-3EEC-AA32-8247-DFE69DF6EF79}"/>
              </a:ext>
            </a:extLst>
          </p:cNvPr>
          <p:cNvCxnSpPr/>
          <p:nvPr/>
        </p:nvCxnSpPr>
        <p:spPr>
          <a:xfrm>
            <a:off x="812800" y="3749011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8EB8D784-7851-325E-A20B-631616A819BB}"/>
              </a:ext>
            </a:extLst>
          </p:cNvPr>
          <p:cNvSpPr/>
          <p:nvPr/>
        </p:nvSpPr>
        <p:spPr>
          <a:xfrm>
            <a:off x="812800" y="4003011"/>
            <a:ext cx="6604000" cy="1178736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E9C7F51-06BC-2DC0-7E47-4342EC1329F5}"/>
              </a:ext>
            </a:extLst>
          </p:cNvPr>
          <p:cNvSpPr txBox="1"/>
          <p:nvPr/>
        </p:nvSpPr>
        <p:spPr>
          <a:xfrm>
            <a:off x="977900" y="4168111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EXEMPLO CONCRETO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A1225A7-EDC2-44F2-7B85-1F927DEC2606}"/>
              </a:ext>
            </a:extLst>
          </p:cNvPr>
          <p:cNvSpPr txBox="1"/>
          <p:nvPr/>
        </p:nvSpPr>
        <p:spPr>
          <a:xfrm>
            <a:off x="977900" y="4415905"/>
            <a:ext cx="6273800" cy="6007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P₁:  “Se n é par, então n² é par.”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P₂:  “n = 6 é par.”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∴    “6² = 36 é par.”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FCEB7A0-18EE-64BC-6A1F-34E942D9AB18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09AF2FE-6103-F54C-A024-62643D32A229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NA PRÁTICA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BA8335-FE9B-485D-DDA7-53CE8F6C650D}"/>
              </a:ext>
            </a:extLst>
          </p:cNvPr>
          <p:cNvSpPr txBox="1"/>
          <p:nvPr/>
        </p:nvSpPr>
        <p:spPr>
          <a:xfrm>
            <a:off x="7975600" y="2978869"/>
            <a:ext cx="3403600" cy="12565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Uma prova encadeia várias aplicações da regra: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 → Q,  Q → R,  P  ⊢  R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Essa é exatamente a estrutura da prova direta.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362D982-6FB3-1D42-D13E-550C9F7DF61E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3D2745-5E00-CFF0-93A3-2B6500C3E8DE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4504488-15FC-E55F-439E-23C6FE4CC970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386930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52DA2D-C5C2-B6D9-BB71-A69BD2C8BB3A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01  ·  O QUE É UMA PROVA?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92E5DA-3722-928B-3002-B78ECB3600A9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As quatro técnicas de prova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666C30-C400-9C30-78E7-FE49CD0B4BE9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9645685-D798-858A-4B23-966BDB0A9607}"/>
              </a:ext>
            </a:extLst>
          </p:cNvPr>
          <p:cNvSpPr txBox="1"/>
          <p:nvPr/>
        </p:nvSpPr>
        <p:spPr>
          <a:xfrm>
            <a:off x="812800" y="2616775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Todo teorema P → Q pode ser atacado por, pelo menos, quatro estratégias: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7BEDCF-121C-F1DE-72E0-B3CB3782E1E3}"/>
              </a:ext>
            </a:extLst>
          </p:cNvPr>
          <p:cNvSpPr/>
          <p:nvPr/>
        </p:nvSpPr>
        <p:spPr>
          <a:xfrm>
            <a:off x="812800" y="3187809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BEBAE5-E162-1D68-3AD0-1798AC99FB31}"/>
              </a:ext>
            </a:extLst>
          </p:cNvPr>
          <p:cNvSpPr txBox="1"/>
          <p:nvPr/>
        </p:nvSpPr>
        <p:spPr>
          <a:xfrm>
            <a:off x="990600" y="3117959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01 · Prova direta — assume P e deduz Q passo a passo.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BAD0389-76C0-B727-F8E3-B05FCA9BD118}"/>
              </a:ext>
            </a:extLst>
          </p:cNvPr>
          <p:cNvSpPr/>
          <p:nvPr/>
        </p:nvSpPr>
        <p:spPr>
          <a:xfrm>
            <a:off x="812800" y="3543522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6D70D9-AF15-EE6A-5FE5-D17F0E5D0A4D}"/>
              </a:ext>
            </a:extLst>
          </p:cNvPr>
          <p:cNvSpPr txBox="1"/>
          <p:nvPr/>
        </p:nvSpPr>
        <p:spPr>
          <a:xfrm>
            <a:off x="990600" y="3473672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02 · Contraposição — prova ¬Q → ¬P, que é equivalente.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4E1F003-4CBD-EE9D-67AB-7C53588F81D6}"/>
              </a:ext>
            </a:extLst>
          </p:cNvPr>
          <p:cNvSpPr/>
          <p:nvPr/>
        </p:nvSpPr>
        <p:spPr>
          <a:xfrm>
            <a:off x="812800" y="3899235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E92E5A-220F-34C2-59AB-E2ED52F05E2B}"/>
              </a:ext>
            </a:extLst>
          </p:cNvPr>
          <p:cNvSpPr txBox="1"/>
          <p:nvPr/>
        </p:nvSpPr>
        <p:spPr>
          <a:xfrm>
            <a:off x="990600" y="3829385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03 · Contradição — assume P ∧ ¬Q e chega a uma impossibilidade.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B0EE561-9FC3-D1B6-3DE8-A70A563D08F6}"/>
              </a:ext>
            </a:extLst>
          </p:cNvPr>
          <p:cNvSpPr/>
          <p:nvPr/>
        </p:nvSpPr>
        <p:spPr>
          <a:xfrm>
            <a:off x="812800" y="4254948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EA255FE-2325-2761-04C8-C44397F068CE}"/>
              </a:ext>
            </a:extLst>
          </p:cNvPr>
          <p:cNvSpPr txBox="1"/>
          <p:nvPr/>
        </p:nvSpPr>
        <p:spPr>
          <a:xfrm>
            <a:off x="990600" y="4185098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04 · Indução matemática — prova P(1) e depois P(n) → P(n+1).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0A86B9-585B-14F3-341C-F1A383CD17EB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ED9FDBB-8F10-F312-7063-0D034A717479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ESCOLHER É PARTE DO TRABALHO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54EEB0-9510-111B-57E5-4F65F854A438}"/>
              </a:ext>
            </a:extLst>
          </p:cNvPr>
          <p:cNvSpPr txBox="1"/>
          <p:nvPr/>
        </p:nvSpPr>
        <p:spPr>
          <a:xfrm>
            <a:off x="7975600" y="2978869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As quatro são igualmente válidas. Elas não são igualmente convenientes para um dado teorema — e reconhecer qual tentar primeiro é o que a prática ensina.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AC6A2EB-E0EF-B139-B12E-3718AF589B3A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5EFEE5-C260-DD67-7905-C3F95219176C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51BD10D-E0D8-3AE1-8817-342CC02A1079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219445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1571</Words>
  <Application>Microsoft Office PowerPoint</Application>
  <PresentationFormat>Widescreen</PresentationFormat>
  <Paragraphs>95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JetBrains Mono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2026-09-23T16:27:57Z</dcterms:created>
  <dcterms:modified xsi:type="dcterms:W3CDTF">2026-09-23T16:28:34Z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2026-09-23T16:27:57Z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1c15908c-e7c6-4c2a-8b06-ac4b33f58607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